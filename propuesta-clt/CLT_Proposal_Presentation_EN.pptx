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charts/chart3.xml" ContentType="application/vnd.openxmlformats-officedocument.drawingml.chart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slideMasters/slideMaster29.xml" ContentType="application/vnd.openxmlformats-officedocument.presentationml.slideMaster+xml"/>
  <Override PartName="/ppt/slides/slide29.xml" ContentType="application/vnd.openxmlformats-officedocument.presentationml.slide+xml"/>
  <Override PartName="/ppt/charts/chart4.xml" ContentType="application/vnd.openxmlformats-officedocument.drawingml.chart+xml"/>
  <Override PartName="/ppt/slideMasters/slideMaster30.xml" ContentType="application/vnd.openxmlformats-officedocument.presentationml.slideMaster+xml"/>
  <Override PartName="/ppt/slides/slide30.xml" ContentType="application/vnd.openxmlformats-officedocument.presentationml.slide+xml"/>
  <Override PartName="/ppt/slideMasters/slideMaster31.xml" ContentType="application/vnd.openxmlformats-officedocument.presentationml.slideMaster+xml"/>
  <Override PartName="/ppt/slides/slide31.xml" ContentType="application/vnd.openxmlformats-officedocument.presentationml.slide+xml"/>
  <Override PartName="/ppt/slideMasters/slideMaster32.xml" ContentType="application/vnd.openxmlformats-officedocument.presentationml.slideMaster+xml"/>
  <Override PartName="/ppt/slides/slide32.xml" ContentType="application/vnd.openxmlformats-officedocument.presentationml.slide+xml"/>
  <Override PartName="/ppt/slideMasters/slideMaster33.xml" ContentType="application/vnd.openxmlformats-officedocument.presentationml.slideMaster+xml"/>
  <Override PartName="/ppt/slides/slide33.xml" ContentType="application/vnd.openxmlformats-officedocument.presentationml.slide+xml"/>
  <Override PartName="/ppt/slideMasters/slideMaster34.xml" ContentType="application/vnd.openxmlformats-officedocument.presentationml.slideMaster+xml"/>
  <Override PartName="/ppt/slides/slide34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</p:sldIdLst>
  <p:notesMasterIdLst>
    <p:notesMasterId r:id="rId36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Opening" id="{391e0414-7884-2464-1d61-c060abd3fb3b}">
          <p14:sldIdLst>
            <p14:sldId id="256"/>
            <p14:sldId id="257"/>
          </p14:sldIdLst>
        </p14:section>
        <p14:section name="The manufacturer" id="{dfdfd700-4457-a25f-b1e9-bf136265bee0}">
          <p14:sldIdLst>
            <p14:sldId id="258"/>
            <p14:sldId id="259"/>
            <p14:sldId id="260"/>
            <p14:sldId id="261"/>
            <p14:sldId id="262"/>
            <p14:sldId id="263"/>
            <p14:sldId id="264"/>
          </p14:sldIdLst>
        </p14:section>
        <p14:section name="The Mexican market" id="{1111fb1f-1606-df73-1d10-c7cf88aac23e}">
          <p14:sldIdLst>
            <p14:sldId id="265"/>
            <p14:sldId id="266"/>
            <p14:sldId id="267"/>
            <p14:sldId id="268"/>
            <p14:sldId id="269"/>
            <p14:sldId id="270"/>
            <p14:sldId id="271"/>
            <p14:sldId id="272"/>
            <p14:sldId id="273"/>
            <p14:sldId id="274"/>
            <p14:sldId id="275"/>
          </p14:sldIdLst>
        </p14:section>
        <p14:section name="Why TID · VSP · CEB" id="{f7d2411e-01c6-1199-ff1d-3eab397b479d}">
          <p14:sldIdLst>
            <p14:sldId id="276"/>
            <p14:sldId id="277"/>
            <p14:sldId id="278"/>
            <p14:sldId id="279"/>
          </p14:sldIdLst>
        </p14:section>
        <p14:section name="Plan and investment" id="{7c4128b7-8f79-73e0-521f-4895f313d3b0}">
          <p14:sldIdLst>
            <p14:sldId id="280"/>
            <p14:sldId id="281"/>
            <p14:sldId id="282"/>
            <p14:sldId id="283"/>
            <p14:sldId id="284"/>
          </p14:sldIdLst>
        </p14:section>
        <p14:section name="The proposal" id="{9ccfddd4-df3d-2f1c-70f2-0e1f82c5cc0c}">
          <p14:sldIdLst>
            <p14:sldId id="285"/>
            <p14:sldId id="286"/>
            <p14:sldId id="287"/>
            <p14:sldId id="288"/>
            <p14:sldId id="289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slide" Target="slides/slide30.xml"/><Relationship Id="rId32" Type="http://schemas.openxmlformats.org/officeDocument/2006/relationships/slide" Target="slides/slide31.xml"/><Relationship Id="rId33" Type="http://schemas.openxmlformats.org/officeDocument/2006/relationships/slide" Target="slides/slide32.xml"/><Relationship Id="rId34" Type="http://schemas.openxmlformats.org/officeDocument/2006/relationships/slide" Target="slides/slide33.xml"/><Relationship Id="rId35" Type="http://schemas.openxmlformats.org/officeDocument/2006/relationships/slide" Target="slides/slide34.xml"/><Relationship Id="rId36" Type="http://schemas.openxmlformats.org/officeDocument/2006/relationships/notesMaster" Target="notesMasters/notesMaster1.xml"/><Relationship Id="rId37" Type="http://schemas.openxmlformats.org/officeDocument/2006/relationships/presProps" Target="presProps.xml"/><Relationship Id="rId38" Type="http://schemas.openxmlformats.org/officeDocument/2006/relationships/viewProps" Target="viewProps.xml"/><Relationship Id="rId39" Type="http://schemas.openxmlformats.org/officeDocument/2006/relationships/theme" Target="theme/theme1.xml"/><Relationship Id="rId40" Type="http://schemas.openxmlformats.org/officeDocument/2006/relationships/tableStyles" Target="tableStyles.xml"/></Relationships>
</file>

<file path=ppt/charts/_rels/chart3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3.xlsx"/></Relationships>
</file>

<file path=ppt/charts/_rels/chart4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4.xlsx"/></Relationships>
</file>

<file path=ppt/charts/chart3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300" b="0" i="0" u="none" strike="noStrike">
                <a:solidFill>
                  <a:srgbClr val="1B1F3B"/>
                </a:solidFill>
                <a:latin typeface="+mn-lt"/>
              </a:defRPr>
            </a:pPr>
            <a:r>
              <a:rPr sz="1300" b="0" i="0" u="none" strike="noStrike">
                <a:solidFill>
                  <a:srgbClr val="1B1F3B"/>
                </a:solidFill>
                <a:latin typeface="+mn-lt"/>
              </a:rPr>
              <a:t>2025 revenue by line</a:t>
            </a:r>
          </a:p>
        </c:rich>
      </c:tx>
      <c:layout/>
      <c:overlay val="0"/>
    </c:title>
    <c:autoTitleDeleted val="0"/>
    <c:plotArea>
      <c:layout/>
      <c:doughnutChart>
        <c:varyColors val="1"/>
        <c:ser>
          <c:idx val="0"/>
          <c:order val="0"/>
          <c:tx>
            <c:strRef>
              <c:f>Sheet1!$B$1</c:f>
              <c:strCache>
                <c:ptCount val="1"/>
                <c:pt idx="0">
                  <c:v>2025 revenue by line</c:v>
                </c:pt>
              </c:strCache>
            </c:strRef>
          </c:tx>
          <c:spPr>
            <a:solidFill>
              <a:schemeClr val="accent1"/>
            </a:solidFill>
            <a:ln w="9525" cap="flat">
              <a:solidFill>
                <a:srgbClr val="F9F9F9"/>
              </a:solidFill>
              <a:prstDash val="solid"/>
              <a:round/>
            </a:ln>
            <a:effectLst/>
          </c:spPr>
          <c:dPt>
            <c:idx val="0"/>
            <c:bubble3D val="0"/>
            <c:spPr>
              <a:solidFill>
                <a:srgbClr val="C2185B"/>
              </a:solidFill>
              <a:effectLst/>
            </c:spPr>
          </c:dPt>
          <c:dPt>
            <c:idx val="1"/>
            <c:bubble3D val="0"/>
            <c:spPr>
              <a:solidFill>
                <a:srgbClr val="0089C2"/>
              </a:solidFill>
              <a:effectLst/>
            </c:spPr>
          </c:dPt>
          <c:dPt>
            <c:idx val="2"/>
            <c:bubble3D val="0"/>
            <c:spPr>
              <a:solidFill>
                <a:srgbClr val="7A8299"/>
              </a:solidFill>
              <a:effectLst/>
            </c:spPr>
          </c:dPt>
          <c:dPt>
            <c:idx val="3"/>
            <c:bubble3D val="0"/>
            <c:spPr>
              <a:solidFill>
                <a:srgbClr val="F2B705"/>
              </a:solidFill>
              <a:effectLst/>
            </c:spPr>
          </c:dPt>
          <c:dPt>
            <c:idx val="4"/>
            <c:bubble3D val="0"/>
            <c:spPr>
              <a:solidFill>
                <a:srgbClr val="CFD6E4"/>
              </a:solidFill>
              <a:effectLst/>
            </c:spPr>
          </c:dPt>
          <c:dLbls>
            <c:dLbl>
              <c:idx val="0"/>
              <c:numFmt formatCode="0%" sourceLinked="0"/>
              <c:spPr/>
              <c:txPr>
                <a:bodyPr/>
                <a:lstStyle/>
                <a:p>
                  <a:pPr>
                    <a:defRPr sz="1000" b="0" i="0" u="none" strike="noStrike">
                      <a:solidFill>
                        <a:srgbClr val="FFFFFF"/>
                      </a:solidFill>
                      <a:latin typeface="+mn-lt"/>
                    </a:defRPr>
                  </a:pPr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</c:dLbl>
            <c:dLbl>
              <c:idx val="1"/>
              <c:numFmt formatCode="0%" sourceLinked="0"/>
              <c:spPr/>
              <c:txPr>
                <a:bodyPr/>
                <a:lstStyle/>
                <a:p>
                  <a:pPr>
                    <a:defRPr sz="1000" b="0" i="0" u="none" strike="noStrike">
                      <a:solidFill>
                        <a:srgbClr val="FFFFFF"/>
                      </a:solidFill>
                      <a:latin typeface="+mn-lt"/>
                    </a:defRPr>
                  </a:pPr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</c:dLbl>
            <c:dLbl>
              <c:idx val="2"/>
              <c:numFmt formatCode="0%" sourceLinked="0"/>
              <c:spPr/>
              <c:txPr>
                <a:bodyPr/>
                <a:lstStyle/>
                <a:p>
                  <a:pPr>
                    <a:defRPr sz="1000" b="0" i="0" u="none" strike="noStrike">
                      <a:solidFill>
                        <a:srgbClr val="FFFFFF"/>
                      </a:solidFill>
                      <a:latin typeface="+mn-lt"/>
                    </a:defRPr>
                  </a:pPr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</c:dLbl>
            <c:dLbl>
              <c:idx val="3"/>
              <c:numFmt formatCode="0%" sourceLinked="0"/>
              <c:spPr/>
              <c:txPr>
                <a:bodyPr/>
                <a:lstStyle/>
                <a:p>
                  <a:pPr>
                    <a:defRPr sz="1000" b="0" i="0" u="none" strike="noStrike">
                      <a:solidFill>
                        <a:srgbClr val="FFFFFF"/>
                      </a:solidFill>
                      <a:latin typeface="+mn-lt"/>
                    </a:defRPr>
                  </a:pPr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</c:dLbl>
            <c:dLbl>
              <c:idx val="4"/>
              <c:numFmt formatCode="0%" sourceLinked="0"/>
              <c:spPr/>
              <c:txPr>
                <a:bodyPr/>
                <a:lstStyle/>
                <a:p>
                  <a:pPr>
                    <a:defRPr sz="1000" b="0" i="0" u="none" strike="noStrike">
                      <a:solidFill>
                        <a:srgbClr val="FFFFFF"/>
                      </a:solidFill>
                      <a:latin typeface="+mn-lt"/>
                    </a:defRPr>
                  </a:pPr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</c:dLbl>
            <c:numFmt formatCode="0%" sourceLinked="0"/>
            <c:txPr>
              <a:bodyPr/>
              <a:lstStyle/>
              <a:p>
                <a:pPr>
                  <a:defRPr sz="1800" b="0" i="0" u="none" strike="noStrik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1"/>
            <c:showSerName val="0"/>
            <c:showPercent val="1"/>
            <c:showBubbleSize val="0"/>
            <c:showLeaderLines val="0"/>
          </c:dLbls>
          <c:cat>
            <c:strRef>
              <c:f>Sheet1!$A$2:$A$6</c:f>
              <c:strCache>
                <c:ptCount val="5"/>
                <c:pt idx="0">
                  <c:v>Water-based pastes</c:v>
                </c:pt>
                <c:pt idx="1">
                  <c:v>Silicones</c:v>
                </c:pt>
                <c:pt idx="2">
                  <c:v>Resins</c:v>
                </c:pt>
                <c:pt idx="3">
                  <c:v>Equipment</c:v>
                </c:pt>
                <c:pt idx="4">
                  <c:v>Other</c:v>
                </c:pt>
              </c:strCache>
            </c:strRef>
          </c:cat>
          <c:val>
            <c:numRef>
              <c:f>Sheet1!$B$2:$B$6</c:f>
              <c:numCache>
                <c:ptCount val="5"/>
                <c:pt idx="0">
                  <c:v>53.6</c:v>
                </c:pt>
                <c:pt idx="1">
                  <c:v>20.7</c:v>
                </c:pt>
                <c:pt idx="2">
                  <c:v>8.1</c:v>
                </c:pt>
                <c:pt idx="3">
                  <c:v>6.5</c:v>
                </c:pt>
                <c:pt idx="4">
                  <c:v>11.1</c:v>
                </c:pt>
              </c:numCache>
            </c:numRef>
          </c:val>
        </c:ser>
        <c:firstSliceAng val="0"/>
        <c:holeSize val="55"/>
      </c:doughnutChart>
      <c:spPr>
        <a:noFill/>
        <a:ln>
          <a:noFill/>
        </a:ln>
        <a:effectLst/>
      </c:spPr>
    </c:plotArea>
    <c:legend>
      <c:legendPos val="r"/>
      <c:overlay val="0"/>
      <c:txPr>
        <a:bodyPr/>
        <a:lstStyle/>
        <a:p>
          <a:pPr>
            <a:defRPr sz="1000">
              <a:latin typeface="+mn-lt"/>
              <a:cs typeface="+mn-lt"/>
            </a:defRPr>
          </a:pPr>
          <a:endParaRPr lang="en-US"/>
        </a:p>
      </c:txPr>
    </c:legend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4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300" b="0" i="0" u="none" strike="noStrike">
                <a:solidFill>
                  <a:srgbClr val="1B1F3B"/>
                </a:solidFill>
                <a:latin typeface="+mn-lt"/>
              </a:defRPr>
            </a:pPr>
            <a:r>
              <a:rPr sz="1300" b="0" i="0" u="none" strike="noStrike">
                <a:solidFill>
                  <a:srgbClr val="1B1F3B"/>
                </a:solidFill>
                <a:latin typeface="+mn-lt"/>
              </a:rPr>
              <a:t>Gross margin (US$ thousands)</a:t>
            </a:r>
          </a:p>
        </c:rich>
      </c:tx>
      <c:layout/>
      <c:overlay val="0"/>
    </c:title>
    <c:autoTitleDeleted val="0"/>
    <c:plotArea>
      <c:layout/>
      <c:barChart>
        <c:barDir val="col"/>
        <c:grouping val="stack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Equipment margin</c:v>
                </c:pt>
              </c:strCache>
            </c:strRef>
          </c:tx>
          <c:spPr>
            <a:solidFill>
              <a:srgbClr val="0089C2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100" u="none">
                    <a:solidFill>
                      <a:srgbClr val="FFFFFF"/>
                    </a:solidFill>
                    <a:latin typeface="+mn-lt"/>
                  </a:defRPr>
                </a:pPr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Sheet1!$A$2:$A$4</c:f>
              <c:multiLvlStrCache>
                <c:ptCount val="3"/>
                <c:lvl>
                  <c:pt idx="0">
                    <c:v>Year 1</c:v>
                  </c:pt>
                  <c:pt idx="1">
                    <c:v>Year 2</c:v>
                  </c:pt>
                  <c:pt idx="2">
                    <c:v>Year 3</c:v>
                  </c:pt>
                </c:lvl>
              </c:multiLvlStrCache>
            </c:multiLvl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60</c:v>
                </c:pt>
                <c:pt idx="1">
                  <c:v>150</c:v>
                </c:pt>
                <c:pt idx="2">
                  <c:v>240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Consumables margin</c:v>
                </c:pt>
              </c:strCache>
            </c:strRef>
          </c:tx>
          <c:spPr>
            <a:solidFill>
              <a:srgbClr val="C2185B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100" u="none">
                    <a:solidFill>
                      <a:srgbClr val="FFFFFF"/>
                    </a:solidFill>
                    <a:latin typeface="+mn-lt"/>
                  </a:defRPr>
                </a:pPr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Sheet1!$A$2:$A$4</c:f>
              <c:multiLvlStrCache>
                <c:ptCount val="3"/>
                <c:lvl>
                  <c:pt idx="0">
                    <c:v>Year 1</c:v>
                  </c:pt>
                  <c:pt idx="1">
                    <c:v>Year 2</c:v>
                  </c:pt>
                  <c:pt idx="2">
                    <c:v>Year 3</c:v>
                  </c:pt>
                </c:lvl>
              </c:multiLvlStrCache>
            </c:multiLvlStrRef>
          </c:cat>
          <c:val>
            <c:numRef>
              <c:f>Sheet1!$C$2:$C$4</c:f>
              <c:numCache>
                <c:formatCode>General</c:formatCode>
                <c:ptCount val="3"/>
                <c:pt idx="0">
                  <c:v>34</c:v>
                </c:pt>
                <c:pt idx="1">
                  <c:v>99</c:v>
                </c:pt>
                <c:pt idx="2">
                  <c:v>209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100" u="none">
                  <a:solidFill>
                    <a:srgbClr val="FFFFFF"/>
                  </a:solidFill>
                  <a:latin typeface="+mn-lt"/>
                </a:defRPr>
              </a:pPr>
            </a:p>
          </c:txPr>
          <c:dLblPos val="ctr"/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50"/>
        <c:overlap val="10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3A4060"/>
                </a:solidFill>
                <a:latin typeface="+mn-lt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6350" cap="flat">
              <a:solidFill>
                <a:srgbClr val="E3E7EE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3A4060"/>
                </a:solidFill>
                <a:latin typeface="+mn-lt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100">
              <a:latin typeface="+mn-lt"/>
              <a:cs typeface="+mn-lt"/>
            </a:defRPr>
          </a:pPr>
          <a:endParaRPr lang="en-US"/>
        </a:p>
      </c:txPr>
    </c:legend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_rels/notesSlide2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.xml"/>
		</Relationships>
</file>

<file path=ppt/notesSlides/_rels/notesSlide3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0.xml"/>
		</Relationships>
</file>

<file path=ppt/notesSlides/_rels/notesSlide3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1.xml"/>
		</Relationships>
</file>

<file path=ppt/notesSlides/_rels/notesSlide3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2.xml"/>
		</Relationships>
</file>

<file path=ppt/notesSlides/_rels/notesSlide3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3.xml"/>
		</Relationships>
</file>

<file path=ppt/notesSlides/_rels/notesSlide3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4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_DARK">
    <p:bg>
      <p:bgPr>
        <a:solidFill>
          <a:srgbClr val="1B1F3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1463040"/>
            <a:ext cx="7680960" cy="10972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4000" b="1" dirty="0">
                <a:solidFill>
                  <a:schemeClr val="bg1"/>
                </a:solidFill>
              </a:defRPr>
            </a:lvl1pPr>
          </a:lstStyle>
          <a:p>
            <a:pPr algn="l" indent="0" marL="0">
              <a:buNone/>
            </a:pPr>
            <a:endParaRPr lang="en-US" sz="40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548640" y="2651760"/>
            <a:ext cx="7680960" cy="73152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1800" dirty="0">
                <a:solidFill>
                  <a:schemeClr val="accent3"/>
                </a:solidFill>
              </a:defRPr>
            </a:lvl1pPr>
          </a:lstStyle>
          <a:p>
            <a:pPr algn="l" indent="0" marL="0">
              <a:buNone/>
            </a:pPr>
            <a:endParaRPr lang="en-US" sz="1800" dirty="0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ECTION_DARK">
    <p:bg>
      <p:bgPr>
        <a:solidFill>
          <a:srgbClr val="1B1F3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2103120"/>
            <a:ext cx="8046720" cy="9144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3600" b="1" dirty="0">
                <a:solidFill>
                  <a:schemeClr val="bg1"/>
                </a:solidFill>
              </a:defRPr>
            </a:lvl1pPr>
          </a:lstStyle>
          <a:p>
            <a:pPr algn="l" indent="0" marL="0">
              <a:buNone/>
            </a:pPr>
            <a:endParaRPr lang="en-US" sz="3600" dirty="0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8229600" cy="640080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sz="2600" b="1" dirty="0">
                <a:solidFill>
                  <a:schemeClr val="tx1"/>
                </a:solidFill>
              </a:defRPr>
            </a:lvl1pPr>
          </a:lstStyle>
          <a:p>
            <a:pPr indent="0" marL="0">
              <a:buNone/>
            </a:pPr>
            <a:endParaRPr lang="en-US" sz="2600" dirty="0"/>
          </a:p>
        </p:txBody>
      </p:sp>
      <p:sp>
        <p:nvSpPr>
          <p:cNvPr id="3" name="Text 0"/>
          <p:cNvSpPr/>
          <p:nvPr/>
        </p:nvSpPr>
        <p:spPr>
          <a:xfrm>
            <a:off x="457200" y="4800600"/>
            <a:ext cx="68580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7A8299"/>
                </a:solidFill>
              </a:rPr>
              <a:t>TID · VSP · CEB proposal to CLT — Confidential</a:t>
            </a:r>
            <a:endParaRPr lang="en-US" sz="9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800600"/>
            <a:ext cx="45720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7A8299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1004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800600"/>
            <a:ext cx="45720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7A8299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3.xml"/><Relationship Id="rId2" Type="http://schemas.openxmlformats.org/officeDocument/2006/relationships/slideLayout" Target="../slideLayouts/slideLayout4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jpg"/><Relationship Id="rId2" Type="http://schemas.openxmlformats.org/officeDocument/2006/relationships/image" Target="../media/image-7-2.jpg"/><Relationship Id="rId3" Type="http://schemas.openxmlformats.org/officeDocument/2006/relationships/image" Target="../media/image-7-3.jpg"/><Relationship Id="rId4" Type="http://schemas.openxmlformats.org/officeDocument/2006/relationships/image" Target="../media/image-7-4.jpg"/><Relationship Id="rId5" Type="http://schemas.openxmlformats.org/officeDocument/2006/relationships/slideLayout" Target="../slideLayouts/slideLayout4.xml"/><Relationship Id="rId6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jpg"/><Relationship Id="rId2" Type="http://schemas.openxmlformats.org/officeDocument/2006/relationships/image" Target="../media/image-8-2.jpg"/><Relationship Id="rId3" Type="http://schemas.openxmlformats.org/officeDocument/2006/relationships/image" Target="../media/image-8-3.jpg"/><Relationship Id="rId4" Type="http://schemas.openxmlformats.org/officeDocument/2006/relationships/image" Target="../media/image-8-4.jpg"/><Relationship Id="rId5" Type="http://schemas.openxmlformats.org/officeDocument/2006/relationships/slideLayout" Target="../slideLayouts/slideLayout4.xml"/><Relationship Id="rId6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jpg"/><Relationship Id="rId2" Type="http://schemas.openxmlformats.org/officeDocument/2006/relationships/slideLayout" Target="../slideLayouts/slideLayout4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27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28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4.xml"/><Relationship Id="rId2" Type="http://schemas.openxmlformats.org/officeDocument/2006/relationships/slideLayout" Target="../slideLayouts/slideLayout4.xml"/><Relationship Id="rId3" Type="http://schemas.openxmlformats.org/officeDocument/2006/relationships/notesSlide" Target="../notesSlides/notesSlide29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33.xml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4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myk-dot"/>
          <p:cNvSpPr/>
          <p:nvPr/>
        </p:nvSpPr>
        <p:spPr>
          <a:xfrm>
            <a:off x="594360" y="1097280"/>
            <a:ext cx="237744" cy="237744"/>
          </a:xfrm>
          <a:prstGeom prst="ellipse">
            <a:avLst/>
          </a:prstGeom>
          <a:solidFill>
            <a:srgbClr val="0089C2"/>
          </a:solidFill>
          <a:ln w="12700">
            <a:solidFill>
              <a:srgbClr val="0089C2"/>
            </a:solidFill>
            <a:prstDash val="solid"/>
          </a:ln>
        </p:spPr>
      </p:sp>
      <p:sp>
        <p:nvSpPr>
          <p:cNvPr id="3" name="cmyk-dot"/>
          <p:cNvSpPr/>
          <p:nvPr/>
        </p:nvSpPr>
        <p:spPr>
          <a:xfrm>
            <a:off x="923544" y="1097280"/>
            <a:ext cx="237744" cy="237744"/>
          </a:xfrm>
          <a:prstGeom prst="ellipse">
            <a:avLst/>
          </a:prstGeom>
          <a:solidFill>
            <a:srgbClr val="C2185B"/>
          </a:solidFill>
          <a:ln w="12700">
            <a:solidFill>
              <a:srgbClr val="C2185B"/>
            </a:solidFill>
            <a:prstDash val="solid"/>
          </a:ln>
        </p:spPr>
      </p:sp>
      <p:sp>
        <p:nvSpPr>
          <p:cNvPr id="4" name="cmyk-dot"/>
          <p:cNvSpPr/>
          <p:nvPr/>
        </p:nvSpPr>
        <p:spPr>
          <a:xfrm>
            <a:off x="1252728" y="1097280"/>
            <a:ext cx="237744" cy="237744"/>
          </a:xfrm>
          <a:prstGeom prst="ellipse">
            <a:avLst/>
          </a:prstGeom>
          <a:solidFill>
            <a:srgbClr val="F2B705"/>
          </a:solidFill>
          <a:ln w="12700">
            <a:solidFill>
              <a:srgbClr val="F2B705"/>
            </a:solidFill>
            <a:prstDash val="solid"/>
          </a:ln>
        </p:spPr>
      </p:sp>
      <p:sp>
        <p:nvSpPr>
          <p:cNvPr id="5" name="cmyk-dot"/>
          <p:cNvSpPr/>
          <p:nvPr/>
        </p:nvSpPr>
        <p:spPr>
          <a:xfrm>
            <a:off x="1581912" y="1097280"/>
            <a:ext cx="237744" cy="237744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Text 0"/>
          <p:cNvSpPr/>
          <p:nvPr>
            <p:ph idx="100" type="title" hasCustomPrompt="1"/>
          </p:nvPr>
        </p:nvSpPr>
        <p:spPr>
          <a:xfrm>
            <a:off x="548640" y="1463040"/>
            <a:ext cx="7680960" cy="1097280"/>
          </a:xfrm>
          <a:prstGeom prst="rect">
            <a:avLst/>
          </a:prstGeom>
          <a:noFill/>
          <a:ln/>
        </p:spPr>
        <p:txBody>
          <a:bodyPr wrap="square" rtlCol="0" anchor="b"/>
          <a:lstStyle/>
          <a:p>
            <a:pPr algn="l" indent="0" marL="0">
              <a:buNone/>
            </a:pPr>
            <a:r>
              <a:rPr lang="en-US" sz="4000" b="1" dirty="0">
                <a:solidFill>
                  <a:schemeClr val="bg1"/>
                </a:solidFill>
              </a:rPr>
              <a:t>CLT Distribution Proposal</a:t>
            </a:r>
            <a:endParaRPr lang="en-US" sz="4000" dirty="0"/>
          </a:p>
        </p:txBody>
      </p:sp>
      <p:sp>
        <p:nvSpPr>
          <p:cNvPr id="7" name="Text 0"/>
          <p:cNvSpPr/>
          <p:nvPr>
            <p:ph idx="101" type="body" hasCustomPrompt="1"/>
          </p:nvPr>
        </p:nvSpPr>
        <p:spPr>
          <a:xfrm>
            <a:off x="548640" y="2651760"/>
            <a:ext cx="7680960" cy="731520"/>
          </a:xfrm>
          <a:prstGeom prst="rect">
            <a:avLst/>
          </a:prstGeom>
          <a:noFill/>
          <a:ln/>
        </p:spPr>
        <p:txBody>
          <a:bodyPr wrap="square" rtlCol="0"/>
          <a:lstStyle/>
          <a:p>
            <a:pPr algn="l" indent="0" marL="0">
              <a:buNone/>
            </a:pPr>
            <a:r>
              <a:rPr lang="en-US" sz="1800" dirty="0">
                <a:solidFill>
                  <a:schemeClr val="accent3"/>
                </a:solidFill>
              </a:rPr>
              <a:t>Hybrid textile printing (screen + digital) in Mexico and Latin America</a:t>
            </a:r>
            <a:endParaRPr lang="en-US" sz="1800" dirty="0"/>
          </a:p>
        </p:txBody>
      </p:sp>
      <p:sp>
        <p:nvSpPr>
          <p:cNvPr id="8" name="Text 6"/>
          <p:cNvSpPr txBox="1"/>
          <p:nvPr/>
        </p:nvSpPr>
        <p:spPr>
          <a:xfrm>
            <a:off x="548640" y="4114800"/>
            <a:ext cx="8046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CFD6E4"/>
                </a:solidFill>
              </a:rPr>
              <a:t>TID México · VSP Printing, Inc. · CEB  |  October 2026</a:t>
            </a:r>
            <a:endParaRPr lang="en-US" sz="1300" dirty="0"/>
          </a:p>
        </p:txBody>
      </p:sp>
    </p:spTree>
  </p:cSld>
  <p:clrMapOvr>
    <a:masterClrMapping/>
  </p:clrMapOvr>
  <p:transition spd="med">
    <p:fade/>
  </p:transition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82296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chemeClr val="tx1"/>
                </a:solidFill>
              </a:rPr>
              <a:t>The opportunity on one page</a:t>
            </a:r>
            <a:endParaRPr lang="en-US" sz="2600" dirty="0"/>
          </a:p>
        </p:txBody>
      </p:sp>
      <p:sp>
        <p:nvSpPr>
          <p:cNvPr id="3" name="Shape 1"/>
          <p:cNvSpPr/>
          <p:nvPr/>
        </p:nvSpPr>
        <p:spPr>
          <a:xfrm>
            <a:off x="457200" y="1143000"/>
            <a:ext cx="1920240" cy="2011680"/>
          </a:xfrm>
          <a:prstGeom prst="roundRect">
            <a:avLst>
              <a:gd name="adj" fmla="val 3810"/>
            </a:avLst>
          </a:prstGeom>
          <a:solidFill>
            <a:srgbClr val="EEF2F7"/>
          </a:solidFill>
          <a:ln w="12700">
            <a:solidFill>
              <a:srgbClr val="EEF2F7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594360" y="1325880"/>
            <a:ext cx="16459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0089C2"/>
                </a:solidFill>
              </a:rPr>
              <a:t>0</a:t>
            </a:r>
            <a:endParaRPr lang="en-US" sz="3000" dirty="0"/>
          </a:p>
        </p:txBody>
      </p:sp>
      <p:sp>
        <p:nvSpPr>
          <p:cNvPr id="5" name="Text 3"/>
          <p:cNvSpPr txBox="1"/>
          <p:nvPr/>
        </p:nvSpPr>
        <p:spPr>
          <a:xfrm>
            <a:off x="594360" y="2057400"/>
            <a:ext cx="16459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tx2"/>
                </a:solidFill>
              </a:rPr>
              <a:t>formal distributors of Chinese hybrids in Mexico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2560320" y="1143000"/>
            <a:ext cx="1920240" cy="2011680"/>
          </a:xfrm>
          <a:prstGeom prst="roundRect">
            <a:avLst>
              <a:gd name="adj" fmla="val 3810"/>
            </a:avLst>
          </a:prstGeom>
          <a:solidFill>
            <a:srgbClr val="EEF2F7"/>
          </a:solidFill>
          <a:ln w="12700">
            <a:solidFill>
              <a:srgbClr val="EEF2F7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2697480" y="1325880"/>
            <a:ext cx="16459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C2185B"/>
                </a:solidFill>
              </a:rPr>
              <a:t>~1,900</a:t>
            </a:r>
            <a:endParaRPr lang="en-US" sz="3000" dirty="0"/>
          </a:p>
        </p:txBody>
      </p:sp>
      <p:sp>
        <p:nvSpPr>
          <p:cNvPr id="8" name="Text 6"/>
          <p:cNvSpPr txBox="1"/>
          <p:nvPr/>
        </p:nvSpPr>
        <p:spPr>
          <a:xfrm>
            <a:off x="2697480" y="2057400"/>
            <a:ext cx="16459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tx2"/>
                </a:solidFill>
              </a:rPr>
              <a:t>reachable customers (medium/large firms and shops with carousels)</a:t>
            </a:r>
            <a:endParaRPr lang="en-US" sz="1200" dirty="0"/>
          </a:p>
        </p:txBody>
      </p:sp>
      <p:sp>
        <p:nvSpPr>
          <p:cNvPr id="9" name="Shape 7"/>
          <p:cNvSpPr/>
          <p:nvPr/>
        </p:nvSpPr>
        <p:spPr>
          <a:xfrm>
            <a:off x="4663440" y="1143000"/>
            <a:ext cx="1920240" cy="2011680"/>
          </a:xfrm>
          <a:prstGeom prst="roundRect">
            <a:avLst>
              <a:gd name="adj" fmla="val 3810"/>
            </a:avLst>
          </a:prstGeom>
          <a:solidFill>
            <a:srgbClr val="EEF2F7"/>
          </a:solidFill>
          <a:ln w="12700">
            <a:solidFill>
              <a:srgbClr val="EEF2F7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4800600" y="1325880"/>
            <a:ext cx="16459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B38600"/>
                </a:solidFill>
              </a:rPr>
              <a:t>30–90</a:t>
            </a:r>
            <a:endParaRPr lang="en-US" sz="3000" dirty="0"/>
          </a:p>
        </p:txBody>
      </p:sp>
      <p:sp>
        <p:nvSpPr>
          <p:cNvPr id="11" name="Text 9"/>
          <p:cNvSpPr txBox="1"/>
          <p:nvPr/>
        </p:nvSpPr>
        <p:spPr>
          <a:xfrm>
            <a:off x="4800600" y="2057400"/>
            <a:ext cx="16459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tx2"/>
                </a:solidFill>
              </a:rPr>
              <a:t>potential hybrid lines in 5 years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6766560" y="1143000"/>
            <a:ext cx="1920240" cy="2011680"/>
          </a:xfrm>
          <a:prstGeom prst="roundRect">
            <a:avLst>
              <a:gd name="adj" fmla="val 3810"/>
            </a:avLst>
          </a:prstGeom>
          <a:solidFill>
            <a:srgbClr val="EEF2F7"/>
          </a:solidFill>
          <a:ln w="12700">
            <a:solidFill>
              <a:srgbClr val="EEF2F7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6903720" y="1325880"/>
            <a:ext cx="16459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B1F3B"/>
                </a:solidFill>
              </a:rPr>
              <a:t>Year 3</a:t>
            </a:r>
            <a:endParaRPr lang="en-US" sz="3000" dirty="0"/>
          </a:p>
        </p:txBody>
      </p:sp>
      <p:sp>
        <p:nvSpPr>
          <p:cNvPr id="14" name="Text 12"/>
          <p:cNvSpPr txBox="1"/>
          <p:nvPr/>
        </p:nvSpPr>
        <p:spPr>
          <a:xfrm>
            <a:off x="6903720" y="2057400"/>
            <a:ext cx="16459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tx2"/>
                </a:solidFill>
              </a:rPr>
              <a:t>investment payback (base case)</a:t>
            </a:r>
            <a:endParaRPr lang="en-US" sz="1200" dirty="0"/>
          </a:p>
        </p:txBody>
      </p:sp>
      <p:sp>
        <p:nvSpPr>
          <p:cNvPr id="15" name="Text 13"/>
          <p:cNvSpPr txBox="1"/>
          <p:nvPr/>
        </p:nvSpPr>
        <p:spPr>
          <a:xfrm>
            <a:off x="457200" y="3429000"/>
            <a:ext cx="8229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We propose TID / VSP / CEB as CLT’s distributor in Mexico, expanding into the U.S. and Latin America.</a:t>
            </a:r>
            <a:endParaRPr lang="en-US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800600"/>
            <a:ext cx="45720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7A8299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</a:t>
            </a:fld>
            <a:endParaRPr lang="en-US"/>
          </a:p>
        </p:txBody>
      </p:sp>
    </p:spTree>
  </p:cSld>
  <p:clrMapOvr>
    <a:masterClrMapping/>
  </p:clrMapOvr>
  <p:transition spd="med">
    <p:fade/>
  </p:transition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1097280"/>
            <a:ext cx="27432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000" b="1" dirty="0">
                <a:solidFill>
                  <a:schemeClr val="accent3"/>
                </a:solidFill>
              </a:rPr>
              <a:t>01</a:t>
            </a:r>
            <a:endParaRPr lang="en-US" sz="6000" dirty="0"/>
          </a:p>
        </p:txBody>
      </p:sp>
      <p:sp>
        <p:nvSpPr>
          <p:cNvPr id="3" name="Text 0"/>
          <p:cNvSpPr/>
          <p:nvPr>
            <p:ph idx="100" type="title" hasCustomPrompt="1"/>
          </p:nvPr>
        </p:nvSpPr>
        <p:spPr>
          <a:xfrm>
            <a:off x="548640" y="2103120"/>
            <a:ext cx="8046720" cy="914400"/>
          </a:xfrm>
          <a:prstGeom prst="rect">
            <a:avLst/>
          </a:prstGeom>
          <a:noFill/>
          <a:ln/>
        </p:spPr>
        <p:txBody>
          <a:bodyPr wrap="square" rtlCol="0"/>
          <a:lstStyle/>
          <a:p>
            <a:pPr algn="l" indent="0" marL="0">
              <a:buNone/>
            </a:pPr>
            <a:r>
              <a:rPr lang="en-US" sz="3600" b="1" dirty="0">
                <a:solidFill>
                  <a:schemeClr val="bg1"/>
                </a:solidFill>
              </a:rPr>
              <a:t>The manufacturer</a:t>
            </a:r>
            <a:endParaRPr lang="en-US" sz="3600" dirty="0"/>
          </a:p>
        </p:txBody>
      </p:sp>
      <p:sp>
        <p:nvSpPr>
          <p:cNvPr id="4" name="cmyk-dot"/>
          <p:cNvSpPr/>
          <p:nvPr/>
        </p:nvSpPr>
        <p:spPr>
          <a:xfrm>
            <a:off x="594360" y="3246120"/>
            <a:ext cx="164592" cy="164592"/>
          </a:xfrm>
          <a:prstGeom prst="ellipse">
            <a:avLst/>
          </a:prstGeom>
          <a:solidFill>
            <a:srgbClr val="0089C2"/>
          </a:solidFill>
          <a:ln w="12700">
            <a:solidFill>
              <a:srgbClr val="0089C2"/>
            </a:solidFill>
            <a:prstDash val="solid"/>
          </a:ln>
        </p:spPr>
      </p:sp>
      <p:sp>
        <p:nvSpPr>
          <p:cNvPr id="5" name="cmyk-dot"/>
          <p:cNvSpPr/>
          <p:nvPr/>
        </p:nvSpPr>
        <p:spPr>
          <a:xfrm>
            <a:off x="832104" y="3246120"/>
            <a:ext cx="164592" cy="164592"/>
          </a:xfrm>
          <a:prstGeom prst="ellipse">
            <a:avLst/>
          </a:prstGeom>
          <a:solidFill>
            <a:srgbClr val="C2185B"/>
          </a:solidFill>
          <a:ln w="12700">
            <a:solidFill>
              <a:srgbClr val="C2185B"/>
            </a:solidFill>
            <a:prstDash val="solid"/>
          </a:ln>
        </p:spPr>
      </p:sp>
      <p:sp>
        <p:nvSpPr>
          <p:cNvPr id="6" name="cmyk-dot"/>
          <p:cNvSpPr/>
          <p:nvPr/>
        </p:nvSpPr>
        <p:spPr>
          <a:xfrm>
            <a:off x="1069848" y="3246120"/>
            <a:ext cx="164592" cy="164592"/>
          </a:xfrm>
          <a:prstGeom prst="ellipse">
            <a:avLst/>
          </a:prstGeom>
          <a:solidFill>
            <a:srgbClr val="F2B705"/>
          </a:solidFill>
          <a:ln w="12700">
            <a:solidFill>
              <a:srgbClr val="F2B705"/>
            </a:solidFill>
            <a:prstDash val="solid"/>
          </a:ln>
        </p:spPr>
      </p:sp>
      <p:sp>
        <p:nvSpPr>
          <p:cNvPr id="7" name="cmyk-dot"/>
          <p:cNvSpPr/>
          <p:nvPr/>
        </p:nvSpPr>
        <p:spPr>
          <a:xfrm>
            <a:off x="1307592" y="3246120"/>
            <a:ext cx="164592" cy="164592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</p:spTree>
  </p:cSld>
  <p:clrMapOvr>
    <a:masterClrMapping/>
  </p:clrMapOvr>
  <p:transition spd="med">
    <p:fade/>
  </p:transition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82296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chemeClr val="tx1"/>
                </a:solidFill>
              </a:rPr>
              <a:t>CLT: a chemistry company that sells machines</a:t>
            </a:r>
            <a:endParaRPr lang="en-US" sz="26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1188720"/>
            <a:ext cx="19202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chemeClr val="accent1"/>
                </a:solidFill>
              </a:rPr>
              <a:t>2009</a:t>
            </a:r>
            <a:endParaRPr lang="en-US" sz="300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1828800"/>
            <a:ext cx="1920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tx2"/>
                </a:solidFill>
              </a:rPr>
              <a:t>founded, Dongguan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2560320" y="1188720"/>
            <a:ext cx="19202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chemeClr val="accent2"/>
                </a:solidFill>
              </a:rPr>
              <a:t>¥568M</a:t>
            </a:r>
            <a:endParaRPr lang="en-US" sz="3000" dirty="0"/>
          </a:p>
        </p:txBody>
      </p:sp>
      <p:sp>
        <p:nvSpPr>
          <p:cNvPr id="6" name="Text 4"/>
          <p:cNvSpPr txBox="1"/>
          <p:nvPr/>
        </p:nvSpPr>
        <p:spPr>
          <a:xfrm>
            <a:off x="2560320" y="1828800"/>
            <a:ext cx="1920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tx2"/>
                </a:solidFill>
              </a:rPr>
              <a:t>2025 revenue (~US$80M)</a:t>
            </a:r>
            <a:endParaRPr lang="en-US" sz="1200" dirty="0"/>
          </a:p>
        </p:txBody>
      </p:sp>
      <p:sp>
        <p:nvSpPr>
          <p:cNvPr id="7" name="Text 5"/>
          <p:cNvSpPr txBox="1"/>
          <p:nvPr/>
        </p:nvSpPr>
        <p:spPr>
          <a:xfrm>
            <a:off x="457200" y="2651760"/>
            <a:ext cx="19202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chemeClr val="accent1"/>
                </a:solidFill>
              </a:rPr>
              <a:t>301618</a:t>
            </a:r>
            <a:endParaRPr lang="en-US" sz="3000" dirty="0"/>
          </a:p>
        </p:txBody>
      </p:sp>
      <p:sp>
        <p:nvSpPr>
          <p:cNvPr id="8" name="Text 6"/>
          <p:cNvSpPr txBox="1"/>
          <p:nvPr/>
        </p:nvSpPr>
        <p:spPr>
          <a:xfrm>
            <a:off x="457200" y="3291840"/>
            <a:ext cx="1920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tx2"/>
                </a:solidFill>
              </a:rPr>
              <a:t>Shenzhen Stock Exchange (ChiNext)</a:t>
            </a:r>
            <a:endParaRPr lang="en-US" sz="1200" dirty="0"/>
          </a:p>
        </p:txBody>
      </p:sp>
      <p:sp>
        <p:nvSpPr>
          <p:cNvPr id="9" name="Text 7"/>
          <p:cNvSpPr txBox="1"/>
          <p:nvPr/>
        </p:nvSpPr>
        <p:spPr>
          <a:xfrm>
            <a:off x="2560320" y="2651760"/>
            <a:ext cx="19202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chemeClr val="accent2"/>
                </a:solidFill>
              </a:rPr>
              <a:t>18%</a:t>
            </a:r>
            <a:endParaRPr lang="en-US" sz="3000" dirty="0"/>
          </a:p>
        </p:txBody>
      </p:sp>
      <p:sp>
        <p:nvSpPr>
          <p:cNvPr id="10" name="Text 8"/>
          <p:cNvSpPr txBox="1"/>
          <p:nvPr/>
        </p:nvSpPr>
        <p:spPr>
          <a:xfrm>
            <a:off x="2560320" y="3291840"/>
            <a:ext cx="1920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tx2"/>
                </a:solidFill>
              </a:rPr>
              <a:t>export sales</a:t>
            </a:r>
            <a:endParaRPr lang="en-US" sz="1200" dirty="0"/>
          </a:p>
        </p:txBody>
      </p:sp>
      <p:graphicFrame>
        <p:nvGraphicFramePr>
          <p:cNvPr id="11" name="Chart 0" descr=""/>
          <p:cNvGraphicFramePr/>
          <p:nvPr/>
        </p:nvGraphicFramePr>
        <p:xfrm>
          <a:off x="4663440" y="1005840"/>
          <a:ext cx="4023360" cy="347472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12" name="Text 9"/>
          <p:cNvSpPr txBox="1"/>
          <p:nvPr/>
        </p:nvSpPr>
        <p:spPr>
          <a:xfrm>
            <a:off x="457200" y="448056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chemeClr val="accent5"/>
                </a:solidFill>
              </a:rPr>
              <a:t>Fuente / Source: CLT 2025 annual report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800600"/>
            <a:ext cx="45720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7A8299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4</a:t>
            </a:fld>
            <a:endParaRPr lang="en-US"/>
          </a:p>
        </p:txBody>
      </p:sp>
    </p:spTree>
  </p:cSld>
  <p:clrMapOvr>
    <a:masterClrMapping/>
  </p:clrMapOvr>
  <p:transition spd="med">
    <p:fade/>
  </p:transition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82296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chemeClr val="tx1"/>
                </a:solidFill>
              </a:rPr>
              <a:t>Hybrid technology: the best of two processes</a:t>
            </a:r>
            <a:endParaRPr lang="en-US" sz="2600" dirty="0"/>
          </a:p>
        </p:txBody>
      </p:sp>
      <p:sp>
        <p:nvSpPr>
          <p:cNvPr id="3" name="Shape 1"/>
          <p:cNvSpPr/>
          <p:nvPr/>
        </p:nvSpPr>
        <p:spPr>
          <a:xfrm>
            <a:off x="457200" y="1097280"/>
            <a:ext cx="2560320" cy="1828800"/>
          </a:xfrm>
          <a:prstGeom prst="roundRect">
            <a:avLst>
              <a:gd name="adj" fmla="val 4000"/>
            </a:avLst>
          </a:prstGeom>
          <a:solidFill>
            <a:srgbClr val="EEF2F7"/>
          </a:solidFill>
          <a:ln w="12700">
            <a:solidFill>
              <a:srgbClr val="EEF2F7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640080" y="1261872"/>
            <a:ext cx="384048" cy="384048"/>
          </a:xfrm>
          <a:prstGeom prst="ellipse">
            <a:avLst/>
          </a:prstGeom>
          <a:solidFill>
            <a:srgbClr val="0089C2"/>
          </a:solidFill>
          <a:ln w="12700">
            <a:solidFill>
              <a:srgbClr val="0089C2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40080" y="1261872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</a:rPr>
              <a:t>1</a:t>
            </a:r>
            <a:endParaRPr lang="en-US" sz="1300" dirty="0"/>
          </a:p>
        </p:txBody>
      </p:sp>
      <p:sp>
        <p:nvSpPr>
          <p:cNvPr id="6" name="Text 4"/>
          <p:cNvSpPr txBox="1"/>
          <p:nvPr/>
        </p:nvSpPr>
        <p:spPr>
          <a:xfrm>
            <a:off x="1143000" y="1261872"/>
            <a:ext cx="17830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chemeClr val="tx1"/>
                </a:solidFill>
              </a:rPr>
              <a:t>Screen base</a:t>
            </a:r>
            <a:endParaRPr lang="en-US" sz="1500" dirty="0"/>
          </a:p>
        </p:txBody>
      </p:sp>
      <p:sp>
        <p:nvSpPr>
          <p:cNvPr id="7" name="Text 5"/>
          <p:cNvSpPr txBox="1"/>
          <p:nvPr/>
        </p:nvSpPr>
        <p:spPr>
          <a:xfrm>
            <a:off x="640080" y="1783080"/>
            <a:ext cx="224028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tx2"/>
                </a:solidFill>
              </a:rPr>
              <a:t>White and effects with low-cost paste: puff, foil, glitter, discharge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3072384" y="1874520"/>
            <a:ext cx="164592" cy="274320"/>
          </a:xfrm>
          <a:prstGeom prst="chevron">
            <a:avLst/>
          </a:prstGeom>
          <a:solidFill>
            <a:srgbClr val="7A8299"/>
          </a:solidFill>
          <a:ln w="12700">
            <a:solidFill>
              <a:srgbClr val="7A8299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3291840" y="1097280"/>
            <a:ext cx="2560320" cy="1828800"/>
          </a:xfrm>
          <a:prstGeom prst="roundRect">
            <a:avLst>
              <a:gd name="adj" fmla="val 4000"/>
            </a:avLst>
          </a:prstGeom>
          <a:solidFill>
            <a:srgbClr val="EEF2F7"/>
          </a:solidFill>
          <a:ln w="12700">
            <a:solidFill>
              <a:srgbClr val="EEF2F7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3474720" y="1261872"/>
            <a:ext cx="384048" cy="384048"/>
          </a:xfrm>
          <a:prstGeom prst="ellipse">
            <a:avLst/>
          </a:prstGeom>
          <a:solidFill>
            <a:srgbClr val="C2185B"/>
          </a:solidFill>
          <a:ln w="12700">
            <a:solidFill>
              <a:srgbClr val="C2185B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3474720" y="1261872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</a:rPr>
              <a:t>2</a:t>
            </a:r>
            <a:endParaRPr lang="en-US" sz="1300" dirty="0"/>
          </a:p>
        </p:txBody>
      </p:sp>
      <p:sp>
        <p:nvSpPr>
          <p:cNvPr id="12" name="Text 10"/>
          <p:cNvSpPr txBox="1"/>
          <p:nvPr/>
        </p:nvSpPr>
        <p:spPr>
          <a:xfrm>
            <a:off x="3977640" y="1261872"/>
            <a:ext cx="17830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chemeClr val="tx1"/>
                </a:solidFill>
              </a:rPr>
              <a:t>Digital color</a:t>
            </a:r>
            <a:endParaRPr lang="en-US" sz="1500" dirty="0"/>
          </a:p>
        </p:txBody>
      </p:sp>
      <p:sp>
        <p:nvSpPr>
          <p:cNvPr id="13" name="Text 11"/>
          <p:cNvSpPr txBox="1"/>
          <p:nvPr/>
        </p:nvSpPr>
        <p:spPr>
          <a:xfrm>
            <a:off x="3474720" y="1783080"/>
            <a:ext cx="224028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tx2"/>
                </a:solidFill>
              </a:rPr>
              <a:t>Ricoh or Brother heads: photographic gradients, unlimited colors</a:t>
            </a:r>
            <a:endParaRPr lang="en-US" sz="1200" dirty="0"/>
          </a:p>
        </p:txBody>
      </p:sp>
      <p:sp>
        <p:nvSpPr>
          <p:cNvPr id="14" name="Shape 12"/>
          <p:cNvSpPr/>
          <p:nvPr/>
        </p:nvSpPr>
        <p:spPr>
          <a:xfrm>
            <a:off x="5907024" y="1874520"/>
            <a:ext cx="164592" cy="274320"/>
          </a:xfrm>
          <a:prstGeom prst="chevron">
            <a:avLst/>
          </a:prstGeom>
          <a:solidFill>
            <a:srgbClr val="7A8299"/>
          </a:solidFill>
          <a:ln w="12700">
            <a:solidFill>
              <a:srgbClr val="7A8299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6126480" y="1097280"/>
            <a:ext cx="2560320" cy="1828800"/>
          </a:xfrm>
          <a:prstGeom prst="roundRect">
            <a:avLst>
              <a:gd name="adj" fmla="val 4000"/>
            </a:avLst>
          </a:prstGeom>
          <a:solidFill>
            <a:srgbClr val="EEF2F7"/>
          </a:solidFill>
          <a:ln w="12700">
            <a:solidFill>
              <a:srgbClr val="EEF2F7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6309360" y="1261872"/>
            <a:ext cx="384048" cy="384048"/>
          </a:xfrm>
          <a:prstGeom prst="ellipse">
            <a:avLst/>
          </a:prstGeom>
          <a:solidFill>
            <a:srgbClr val="F2B705"/>
          </a:solidFill>
          <a:ln w="12700">
            <a:solidFill>
              <a:srgbClr val="F2B705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6309360" y="1261872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B1F3B"/>
                </a:solidFill>
              </a:rPr>
              <a:t>3</a:t>
            </a:r>
            <a:endParaRPr lang="en-US" sz="1300" dirty="0"/>
          </a:p>
        </p:txBody>
      </p:sp>
      <p:sp>
        <p:nvSpPr>
          <p:cNvPr id="18" name="Text 16"/>
          <p:cNvSpPr txBox="1"/>
          <p:nvPr/>
        </p:nvSpPr>
        <p:spPr>
          <a:xfrm>
            <a:off x="6812280" y="1261872"/>
            <a:ext cx="17830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chemeClr val="tx1"/>
                </a:solidFill>
              </a:rPr>
              <a:t>Special effects</a:t>
            </a:r>
            <a:endParaRPr lang="en-US" sz="1500" dirty="0"/>
          </a:p>
        </p:txBody>
      </p:sp>
      <p:sp>
        <p:nvSpPr>
          <p:cNvPr id="19" name="Text 17"/>
          <p:cNvSpPr txBox="1"/>
          <p:nvPr/>
        </p:nvSpPr>
        <p:spPr>
          <a:xfrm>
            <a:off x="6309360" y="1783080"/>
            <a:ext cx="224028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tx2"/>
                </a:solidFill>
              </a:rPr>
              <a:t>Glass-like, embroidery-like or 3D silicone over the print</a:t>
            </a:r>
            <a:endParaRPr lang="en-US" sz="1200" dirty="0"/>
          </a:p>
        </p:txBody>
      </p:sp>
      <p:sp>
        <p:nvSpPr>
          <p:cNvPr id="20" name="Text 18"/>
          <p:cNvSpPr txBox="1"/>
          <p:nvPr/>
        </p:nvSpPr>
        <p:spPr>
          <a:xfrm>
            <a:off x="457200" y="3246120"/>
            <a:ext cx="25603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chemeClr val="accent1"/>
                </a:solidFill>
              </a:rPr>
              <a:t>400–450</a:t>
            </a:r>
            <a:endParaRPr lang="en-US" sz="3000" dirty="0"/>
          </a:p>
        </p:txBody>
      </p:sp>
      <p:sp>
        <p:nvSpPr>
          <p:cNvPr id="21" name="Text 19"/>
          <p:cNvSpPr txBox="1"/>
          <p:nvPr/>
        </p:nvSpPr>
        <p:spPr>
          <a:xfrm>
            <a:off x="457200" y="3886200"/>
            <a:ext cx="25603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tx2"/>
                </a:solidFill>
              </a:rPr>
              <a:t>pieces per hour</a:t>
            </a:r>
            <a:endParaRPr lang="en-US" sz="1200" dirty="0"/>
          </a:p>
        </p:txBody>
      </p:sp>
      <p:sp>
        <p:nvSpPr>
          <p:cNvPr id="22" name="Text 20"/>
          <p:cNvSpPr txBox="1"/>
          <p:nvPr/>
        </p:nvSpPr>
        <p:spPr>
          <a:xfrm>
            <a:off x="3291840" y="3246120"/>
            <a:ext cx="25603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chemeClr val="accent2"/>
                </a:solidFill>
              </a:rPr>
              <a:t>40–70%</a:t>
            </a:r>
            <a:endParaRPr lang="en-US" sz="3000" dirty="0"/>
          </a:p>
        </p:txBody>
      </p:sp>
      <p:sp>
        <p:nvSpPr>
          <p:cNvPr id="23" name="Text 21"/>
          <p:cNvSpPr txBox="1"/>
          <p:nvPr/>
        </p:nvSpPr>
        <p:spPr>
          <a:xfrm>
            <a:off x="3291840" y="3886200"/>
            <a:ext cx="25603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tx2"/>
                </a:solidFill>
              </a:rPr>
              <a:t>ink savings vs DTG</a:t>
            </a:r>
            <a:endParaRPr lang="en-US" sz="1200" dirty="0"/>
          </a:p>
        </p:txBody>
      </p:sp>
      <p:sp>
        <p:nvSpPr>
          <p:cNvPr id="24" name="Text 22"/>
          <p:cNvSpPr txBox="1"/>
          <p:nvPr/>
        </p:nvSpPr>
        <p:spPr>
          <a:xfrm>
            <a:off x="6126480" y="3246120"/>
            <a:ext cx="25603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chemeClr val="accent1"/>
                </a:solidFill>
              </a:rPr>
              <a:t>500–5,000</a:t>
            </a:r>
            <a:endParaRPr lang="en-US" sz="3000" dirty="0"/>
          </a:p>
        </p:txBody>
      </p:sp>
      <p:sp>
        <p:nvSpPr>
          <p:cNvPr id="25" name="Text 23"/>
          <p:cNvSpPr txBox="1"/>
          <p:nvPr/>
        </p:nvSpPr>
        <p:spPr>
          <a:xfrm>
            <a:off x="6126480" y="3886200"/>
            <a:ext cx="25603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tx2"/>
                </a:solidFill>
              </a:rPr>
              <a:t>pieces: profitable run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800600"/>
            <a:ext cx="45720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7A8299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5</a:t>
            </a:fld>
            <a:endParaRPr lang="en-US"/>
          </a:p>
        </p:txBody>
      </p:sp>
    </p:spTree>
  </p:cSld>
  <p:clrMapOvr>
    <a:masterClrMapping/>
  </p:clrMapOvr>
  <p:transition spd="med">
    <p:fade/>
  </p:transition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82296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chemeClr val="tx1"/>
                </a:solidFill>
              </a:rPr>
              <a:t>How CLT sells today</a:t>
            </a:r>
            <a:endParaRPr lang="en-US" sz="2600" dirty="0"/>
          </a:p>
        </p:txBody>
      </p:sp>
      <p:sp>
        <p:nvSpPr>
          <p:cNvPr id="3" name="Shape 1"/>
          <p:cNvSpPr/>
          <p:nvPr/>
        </p:nvSpPr>
        <p:spPr>
          <a:xfrm>
            <a:off x="457200" y="1097280"/>
            <a:ext cx="2606040" cy="1097280"/>
          </a:xfrm>
          <a:prstGeom prst="roundRect">
            <a:avLst>
              <a:gd name="adj" fmla="val 6667"/>
            </a:avLst>
          </a:prstGeom>
          <a:solidFill>
            <a:srgbClr val="EEF2F7"/>
          </a:solidFill>
          <a:ln w="12700">
            <a:solidFill>
              <a:srgbClr val="EEF2F7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594360" y="1234440"/>
            <a:ext cx="329184" cy="329184"/>
          </a:xfrm>
          <a:prstGeom prst="ellipse">
            <a:avLst/>
          </a:prstGeom>
          <a:solidFill>
            <a:srgbClr val="0089C2"/>
          </a:solidFill>
          <a:ln w="12700">
            <a:solidFill>
              <a:srgbClr val="0089C2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594360" y="1234440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</a:rPr>
              <a:t>1</a:t>
            </a:r>
            <a:endParaRPr lang="en-US" sz="1300" dirty="0"/>
          </a:p>
        </p:txBody>
      </p:sp>
      <p:sp>
        <p:nvSpPr>
          <p:cNvPr id="6" name="Text 4"/>
          <p:cNvSpPr txBox="1"/>
          <p:nvPr/>
        </p:nvSpPr>
        <p:spPr>
          <a:xfrm>
            <a:off x="1005840" y="1207008"/>
            <a:ext cx="19659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chemeClr val="tx1"/>
                </a:solidFill>
              </a:rPr>
              <a:t>Live-demo trade shows</a:t>
            </a:r>
            <a:endParaRPr lang="en-US" sz="1300" dirty="0"/>
          </a:p>
        </p:txBody>
      </p:sp>
      <p:sp>
        <p:nvSpPr>
          <p:cNvPr id="7" name="Text 5"/>
          <p:cNvSpPr txBox="1"/>
          <p:nvPr/>
        </p:nvSpPr>
        <p:spPr>
          <a:xfrm>
            <a:off x="594360" y="1645920"/>
            <a:ext cx="23774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chemeClr val="tx2"/>
                </a:solidFill>
              </a:rPr>
              <a:t>Tests on the customer’s fabric and same-day quote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246120" y="1097280"/>
            <a:ext cx="2606040" cy="1097280"/>
          </a:xfrm>
          <a:prstGeom prst="roundRect">
            <a:avLst>
              <a:gd name="adj" fmla="val 6667"/>
            </a:avLst>
          </a:prstGeom>
          <a:solidFill>
            <a:srgbClr val="EEF2F7"/>
          </a:solidFill>
          <a:ln w="12700">
            <a:solidFill>
              <a:srgbClr val="EEF2F7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3383280" y="1234440"/>
            <a:ext cx="329184" cy="329184"/>
          </a:xfrm>
          <a:prstGeom prst="ellipse">
            <a:avLst/>
          </a:prstGeom>
          <a:solidFill>
            <a:srgbClr val="C2185B"/>
          </a:solidFill>
          <a:ln w="12700">
            <a:solidFill>
              <a:srgbClr val="C2185B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3383280" y="1234440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</a:rPr>
              <a:t>2</a:t>
            </a:r>
            <a:endParaRPr lang="en-US" sz="1300" dirty="0"/>
          </a:p>
        </p:txBody>
      </p:sp>
      <p:sp>
        <p:nvSpPr>
          <p:cNvPr id="11" name="Text 9"/>
          <p:cNvSpPr txBox="1"/>
          <p:nvPr/>
        </p:nvSpPr>
        <p:spPr>
          <a:xfrm>
            <a:off x="3794760" y="1207008"/>
            <a:ext cx="19659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chemeClr val="tx1"/>
                </a:solidFill>
              </a:rPr>
              <a:t>Turnkey package</a:t>
            </a:r>
            <a:endParaRPr lang="en-US" sz="1300" dirty="0"/>
          </a:p>
        </p:txBody>
      </p:sp>
      <p:sp>
        <p:nvSpPr>
          <p:cNvPr id="12" name="Text 10"/>
          <p:cNvSpPr txBox="1"/>
          <p:nvPr/>
        </p:nvSpPr>
        <p:spPr>
          <a:xfrm>
            <a:off x="3383280" y="1645920"/>
            <a:ext cx="23774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chemeClr val="tx2"/>
                </a:solidFill>
              </a:rPr>
              <a:t>Machine, chemistry, installation, training and logistics</a:t>
            </a:r>
            <a:endParaRPr lang="en-US" sz="1100" dirty="0"/>
          </a:p>
        </p:txBody>
      </p:sp>
      <p:sp>
        <p:nvSpPr>
          <p:cNvPr id="13" name="Shape 11"/>
          <p:cNvSpPr/>
          <p:nvPr/>
        </p:nvSpPr>
        <p:spPr>
          <a:xfrm>
            <a:off x="6035040" y="1097280"/>
            <a:ext cx="2606040" cy="1097280"/>
          </a:xfrm>
          <a:prstGeom prst="roundRect">
            <a:avLst>
              <a:gd name="adj" fmla="val 6667"/>
            </a:avLst>
          </a:prstGeom>
          <a:solidFill>
            <a:srgbClr val="EEF2F7"/>
          </a:solidFill>
          <a:ln w="12700">
            <a:solidFill>
              <a:srgbClr val="EEF2F7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6172200" y="1234440"/>
            <a:ext cx="329184" cy="329184"/>
          </a:xfrm>
          <a:prstGeom prst="ellipse">
            <a:avLst/>
          </a:prstGeom>
          <a:solidFill>
            <a:srgbClr val="F2B705"/>
          </a:solidFill>
          <a:ln w="12700">
            <a:solidFill>
              <a:srgbClr val="F2B705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6172200" y="1234440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B1F3B"/>
                </a:solidFill>
              </a:rPr>
              <a:t>3</a:t>
            </a:r>
            <a:endParaRPr lang="en-US" sz="1300" dirty="0"/>
          </a:p>
        </p:txBody>
      </p:sp>
      <p:sp>
        <p:nvSpPr>
          <p:cNvPr id="16" name="Text 14"/>
          <p:cNvSpPr txBox="1"/>
          <p:nvPr/>
        </p:nvSpPr>
        <p:spPr>
          <a:xfrm>
            <a:off x="6583680" y="1207008"/>
            <a:ext cx="19659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chemeClr val="tx1"/>
                </a:solidFill>
              </a:rPr>
              <a:t>Phased investment</a:t>
            </a:r>
            <a:endParaRPr lang="en-US" sz="1300" dirty="0"/>
          </a:p>
        </p:txBody>
      </p:sp>
      <p:sp>
        <p:nvSpPr>
          <p:cNvPr id="17" name="Text 15"/>
          <p:cNvSpPr txBox="1"/>
          <p:nvPr/>
        </p:nvSpPr>
        <p:spPr>
          <a:xfrm>
            <a:off x="6172200" y="1645920"/>
            <a:ext cx="23774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chemeClr val="tx2"/>
                </a:solidFill>
              </a:rPr>
              <a:t>Press first, digital stations later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457200" y="2331720"/>
            <a:ext cx="2606040" cy="1097280"/>
          </a:xfrm>
          <a:prstGeom prst="roundRect">
            <a:avLst>
              <a:gd name="adj" fmla="val 6667"/>
            </a:avLst>
          </a:prstGeom>
          <a:solidFill>
            <a:srgbClr val="EEF2F7"/>
          </a:solidFill>
          <a:ln w="12700">
            <a:solidFill>
              <a:srgbClr val="EEF2F7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594360" y="2468880"/>
            <a:ext cx="329184" cy="329184"/>
          </a:xfrm>
          <a:prstGeom prst="ellipse">
            <a:avLst/>
          </a:prstGeom>
          <a:solidFill>
            <a:srgbClr val="1B1F3B"/>
          </a:solidFill>
          <a:ln w="12700">
            <a:solidFill>
              <a:srgbClr val="1B1F3B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594360" y="2468880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</a:rPr>
              <a:t>4</a:t>
            </a:r>
            <a:endParaRPr lang="en-US" sz="1300" dirty="0"/>
          </a:p>
        </p:txBody>
      </p:sp>
      <p:sp>
        <p:nvSpPr>
          <p:cNvPr id="21" name="Text 19"/>
          <p:cNvSpPr txBox="1"/>
          <p:nvPr/>
        </p:nvSpPr>
        <p:spPr>
          <a:xfrm>
            <a:off x="1005840" y="2441448"/>
            <a:ext cx="19659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chemeClr val="tx1"/>
                </a:solidFill>
              </a:rPr>
              <a:t>ROI-based selling</a:t>
            </a:r>
            <a:endParaRPr lang="en-US" sz="1300" dirty="0"/>
          </a:p>
        </p:txBody>
      </p:sp>
      <p:sp>
        <p:nvSpPr>
          <p:cNvPr id="22" name="Text 20"/>
          <p:cNvSpPr txBox="1"/>
          <p:nvPr/>
        </p:nvSpPr>
        <p:spPr>
          <a:xfrm>
            <a:off x="594360" y="2880360"/>
            <a:ext cx="23774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chemeClr val="tx2"/>
                </a:solidFill>
              </a:rPr>
              <a:t>Savings in ink, operators and floor space</a:t>
            </a:r>
            <a:endParaRPr lang="en-US" sz="1100" dirty="0"/>
          </a:p>
        </p:txBody>
      </p:sp>
      <p:sp>
        <p:nvSpPr>
          <p:cNvPr id="23" name="Shape 21"/>
          <p:cNvSpPr/>
          <p:nvPr/>
        </p:nvSpPr>
        <p:spPr>
          <a:xfrm>
            <a:off x="3246120" y="2331720"/>
            <a:ext cx="2606040" cy="1097280"/>
          </a:xfrm>
          <a:prstGeom prst="roundRect">
            <a:avLst>
              <a:gd name="adj" fmla="val 6667"/>
            </a:avLst>
          </a:prstGeom>
          <a:solidFill>
            <a:srgbClr val="EEF2F7"/>
          </a:solidFill>
          <a:ln w="12700">
            <a:solidFill>
              <a:srgbClr val="EEF2F7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3383280" y="2468880"/>
            <a:ext cx="329184" cy="329184"/>
          </a:xfrm>
          <a:prstGeom prst="ellipse">
            <a:avLst/>
          </a:prstGeom>
          <a:solidFill>
            <a:srgbClr val="0089C2"/>
          </a:solidFill>
          <a:ln w="12700">
            <a:solidFill>
              <a:srgbClr val="0089C2"/>
            </a:solidFill>
            <a:prstDash val="solid"/>
          </a:ln>
        </p:spPr>
      </p:sp>
      <p:sp>
        <p:nvSpPr>
          <p:cNvPr id="25" name="Text 23"/>
          <p:cNvSpPr txBox="1"/>
          <p:nvPr/>
        </p:nvSpPr>
        <p:spPr>
          <a:xfrm>
            <a:off x="3383280" y="2468880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</a:rPr>
              <a:t>5</a:t>
            </a:r>
            <a:endParaRPr lang="en-US" sz="1300" dirty="0"/>
          </a:p>
        </p:txBody>
      </p:sp>
      <p:sp>
        <p:nvSpPr>
          <p:cNvPr id="26" name="Text 24"/>
          <p:cNvSpPr txBox="1"/>
          <p:nvPr/>
        </p:nvSpPr>
        <p:spPr>
          <a:xfrm>
            <a:off x="3794760" y="2441448"/>
            <a:ext cx="19659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chemeClr val="tx1"/>
                </a:solidFill>
              </a:rPr>
              <a:t>Linked consumables</a:t>
            </a:r>
            <a:endParaRPr lang="en-US" sz="1300" dirty="0"/>
          </a:p>
        </p:txBody>
      </p:sp>
      <p:sp>
        <p:nvSpPr>
          <p:cNvPr id="27" name="Text 25"/>
          <p:cNvSpPr txBox="1"/>
          <p:nvPr/>
        </p:nvSpPr>
        <p:spPr>
          <a:xfrm>
            <a:off x="3383280" y="2880360"/>
            <a:ext cx="23774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chemeClr val="tx2"/>
                </a:solidFill>
              </a:rPr>
              <a:t>Warranty with genuine chemistry and parts</a:t>
            </a:r>
            <a:endParaRPr lang="en-US" sz="1100" dirty="0"/>
          </a:p>
        </p:txBody>
      </p:sp>
      <p:sp>
        <p:nvSpPr>
          <p:cNvPr id="28" name="Shape 26"/>
          <p:cNvSpPr/>
          <p:nvPr/>
        </p:nvSpPr>
        <p:spPr>
          <a:xfrm>
            <a:off x="6035040" y="2331720"/>
            <a:ext cx="2606040" cy="1097280"/>
          </a:xfrm>
          <a:prstGeom prst="roundRect">
            <a:avLst>
              <a:gd name="adj" fmla="val 6667"/>
            </a:avLst>
          </a:prstGeom>
          <a:solidFill>
            <a:srgbClr val="EEF2F7"/>
          </a:solidFill>
          <a:ln w="12700">
            <a:solidFill>
              <a:srgbClr val="EEF2F7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6172200" y="2468880"/>
            <a:ext cx="329184" cy="329184"/>
          </a:xfrm>
          <a:prstGeom prst="ellipse">
            <a:avLst/>
          </a:prstGeom>
          <a:solidFill>
            <a:srgbClr val="C2185B"/>
          </a:solidFill>
          <a:ln w="12700">
            <a:solidFill>
              <a:srgbClr val="C2185B"/>
            </a:solidFill>
            <a:prstDash val="solid"/>
          </a:ln>
        </p:spPr>
      </p:sp>
      <p:sp>
        <p:nvSpPr>
          <p:cNvPr id="30" name="Text 28"/>
          <p:cNvSpPr txBox="1"/>
          <p:nvPr/>
        </p:nvSpPr>
        <p:spPr>
          <a:xfrm>
            <a:off x="6172200" y="2468880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</a:rPr>
              <a:t>6</a:t>
            </a:r>
            <a:endParaRPr lang="en-US" sz="1300" dirty="0"/>
          </a:p>
        </p:txBody>
      </p:sp>
      <p:sp>
        <p:nvSpPr>
          <p:cNvPr id="31" name="Text 29"/>
          <p:cNvSpPr txBox="1"/>
          <p:nvPr/>
        </p:nvSpPr>
        <p:spPr>
          <a:xfrm>
            <a:off x="6583680" y="2441448"/>
            <a:ext cx="19659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chemeClr val="tx1"/>
                </a:solidFill>
              </a:rPr>
              <a:t>Digital lead capture</a:t>
            </a:r>
            <a:endParaRPr lang="en-US" sz="1300" dirty="0"/>
          </a:p>
        </p:txBody>
      </p:sp>
      <p:sp>
        <p:nvSpPr>
          <p:cNvPr id="32" name="Text 30"/>
          <p:cNvSpPr txBox="1"/>
          <p:nvPr/>
        </p:nvSpPr>
        <p:spPr>
          <a:xfrm>
            <a:off x="6172200" y="2880360"/>
            <a:ext cx="23774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chemeClr val="tx2"/>
                </a:solidFill>
              </a:rPr>
              <a:t>Multilingual site and WhatsApp</a:t>
            </a:r>
            <a:endParaRPr lang="en-US" sz="1100" dirty="0"/>
          </a:p>
        </p:txBody>
      </p:sp>
      <p:sp>
        <p:nvSpPr>
          <p:cNvPr id="33" name="Shape 31"/>
          <p:cNvSpPr/>
          <p:nvPr/>
        </p:nvSpPr>
        <p:spPr>
          <a:xfrm>
            <a:off x="457200" y="3657600"/>
            <a:ext cx="8229600" cy="731520"/>
          </a:xfrm>
          <a:prstGeom prst="roundRect">
            <a:avLst>
              <a:gd name="adj" fmla="val 10000"/>
            </a:avLst>
          </a:prstGeom>
          <a:solidFill>
            <a:srgbClr val="1B1F3B"/>
          </a:solidFill>
          <a:ln w="12700">
            <a:solidFill>
              <a:srgbClr val="1B1F3B"/>
            </a:solidFill>
            <a:prstDash val="solid"/>
          </a:ln>
        </p:spPr>
      </p:sp>
      <p:sp>
        <p:nvSpPr>
          <p:cNvPr id="34" name="Text 32"/>
          <p:cNvSpPr txBox="1"/>
          <p:nvPr/>
        </p:nvSpPr>
        <p:spPr>
          <a:xfrm>
            <a:off x="640080" y="3657600"/>
            <a:ext cx="78638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Missing in Mexico: local technical service, in-country inventory, Spanish-language support and a demo showroom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800600"/>
            <a:ext cx="45720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7A8299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6</a:t>
            </a:fld>
            <a:endParaRPr lang="en-US"/>
          </a:p>
        </p:txBody>
      </p:sp>
    </p:spTree>
  </p:cSld>
  <p:clrMapOvr>
    <a:masterClrMapping/>
  </p:clrMapOvr>
  <p:transition spd="med">
    <p:fade/>
  </p:transition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82296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chemeClr val="tx1"/>
                </a:solidFill>
              </a:rPr>
              <a:t>Samples: unlimited digital color</a:t>
            </a:r>
            <a:endParaRPr lang="en-US" sz="2600" dirty="0"/>
          </a:p>
        </p:txBody>
      </p:sp>
      <p:pic>
        <p:nvPicPr>
          <p:cNvPr id="3" name="Image 0" descr="Digital watercolor over white base, colored garment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457200" y="1051560"/>
            <a:ext cx="1920240" cy="2606040"/>
          </a:xfrm>
          <a:prstGeom prst="rect">
            <a:avLst/>
          </a:prstGeom>
        </p:spPr>
      </p:pic>
      <p:sp>
        <p:nvSpPr>
          <p:cNvPr id="4" name="Text 1"/>
          <p:cNvSpPr txBox="1"/>
          <p:nvPr/>
        </p:nvSpPr>
        <p:spPr>
          <a:xfrm>
            <a:off x="457200" y="3749040"/>
            <a:ext cx="1920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chemeClr val="tx2"/>
                </a:solidFill>
              </a:rPr>
              <a:t>Digital watercolor over white base, colored garment</a:t>
            </a:r>
            <a:endParaRPr lang="en-US" sz="1100" dirty="0"/>
          </a:p>
        </p:txBody>
      </p:sp>
      <p:pic>
        <p:nvPicPr>
          <p:cNvPr id="5" name="Image 1" descr="Photorealism on a dark garment">    </p:cNvPr>
          <p:cNvPicPr>
            <a:picLocks noChangeAspect="1"/>
          </p:cNvPicPr>
          <p:nvPr/>
        </p:nvPicPr>
        <p:blipFill>
          <a:blip r:embed="rId2"/>
          <a:srcRect l="0" r="0" t="0" b="0"/>
          <a:stretch/>
        </p:blipFill>
        <p:spPr>
          <a:xfrm>
            <a:off x="2560320" y="1051560"/>
            <a:ext cx="1920240" cy="2606040"/>
          </a:xfrm>
          <a:prstGeom prst="rect">
            <a:avLst/>
          </a:prstGeom>
        </p:spPr>
      </p:pic>
      <p:sp>
        <p:nvSpPr>
          <p:cNvPr id="6" name="Text 2"/>
          <p:cNvSpPr txBox="1"/>
          <p:nvPr/>
        </p:nvSpPr>
        <p:spPr>
          <a:xfrm>
            <a:off x="2560320" y="3749040"/>
            <a:ext cx="1920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chemeClr val="tx2"/>
                </a:solidFill>
              </a:rPr>
              <a:t>Photorealism on a dark garment</a:t>
            </a:r>
            <a:endParaRPr lang="en-US" sz="1100" dirty="0"/>
          </a:p>
        </p:txBody>
      </p:sp>
      <p:pic>
        <p:nvPicPr>
          <p:cNvPr id="7" name="Image 2" descr="Full-color photographic collage">    </p:cNvPr>
          <p:cNvPicPr>
            <a:picLocks noChangeAspect="1"/>
          </p:cNvPicPr>
          <p:nvPr/>
        </p:nvPicPr>
        <p:blipFill>
          <a:blip r:embed="rId3"/>
          <a:srcRect l="0" r="0" t="0" b="0"/>
          <a:stretch/>
        </p:blipFill>
        <p:spPr>
          <a:xfrm>
            <a:off x="4663440" y="1051560"/>
            <a:ext cx="1920240" cy="2606040"/>
          </a:xfrm>
          <a:prstGeom prst="rect">
            <a:avLst/>
          </a:prstGeom>
        </p:spPr>
      </p:pic>
      <p:sp>
        <p:nvSpPr>
          <p:cNvPr id="8" name="Text 3"/>
          <p:cNvSpPr txBox="1"/>
          <p:nvPr/>
        </p:nvSpPr>
        <p:spPr>
          <a:xfrm>
            <a:off x="4663440" y="3749040"/>
            <a:ext cx="1920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chemeClr val="tx2"/>
                </a:solidFill>
              </a:rPr>
              <a:t>Full-color photographic collage</a:t>
            </a:r>
            <a:endParaRPr lang="en-US" sz="1100" dirty="0"/>
          </a:p>
        </p:txBody>
      </p:sp>
      <p:pic>
        <p:nvPicPr>
          <p:cNvPr id="9" name="Image 3" descr="Breathable digital print">    </p:cNvPr>
          <p:cNvPicPr>
            <a:picLocks noChangeAspect="1"/>
          </p:cNvPicPr>
          <p:nvPr/>
        </p:nvPicPr>
        <p:blipFill>
          <a:blip r:embed="rId4"/>
          <a:srcRect l="0" r="0" t="0" b="0"/>
          <a:stretch/>
        </p:blipFill>
        <p:spPr>
          <a:xfrm>
            <a:off x="6766560" y="1051560"/>
            <a:ext cx="1920240" cy="2606040"/>
          </a:xfrm>
          <a:prstGeom prst="rect">
            <a:avLst/>
          </a:prstGeom>
        </p:spPr>
      </p:pic>
      <p:sp>
        <p:nvSpPr>
          <p:cNvPr id="10" name="Text 4"/>
          <p:cNvSpPr txBox="1"/>
          <p:nvPr/>
        </p:nvSpPr>
        <p:spPr>
          <a:xfrm>
            <a:off x="6766560" y="3749040"/>
            <a:ext cx="1920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chemeClr val="tx2"/>
                </a:solidFill>
              </a:rPr>
              <a:t>Breathable digital print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800600"/>
            <a:ext cx="45720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7A8299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7</a:t>
            </a:fld>
            <a:endParaRPr lang="en-US"/>
          </a:p>
        </p:txBody>
      </p:sp>
    </p:spTree>
  </p:cSld>
  <p:clrMapOvr>
    <a:masterClrMapping/>
  </p:clrMapOvr>
  <p:transition spd="med">
    <p:fade/>
  </p:transition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82296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chemeClr val="tx1"/>
                </a:solidFill>
              </a:rPr>
              <a:t>Samples: special effects and uniforms</a:t>
            </a:r>
            <a:endParaRPr lang="en-US" sz="2600" dirty="0"/>
          </a:p>
        </p:txBody>
      </p:sp>
      <p:pic>
        <p:nvPicPr>
          <p:cNvPr id="3" name="Image 0" descr="High build, puff and cold foil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457200" y="1051560"/>
            <a:ext cx="1920240" cy="2606040"/>
          </a:xfrm>
          <a:prstGeom prst="rect">
            <a:avLst/>
          </a:prstGeom>
        </p:spPr>
      </p:pic>
      <p:sp>
        <p:nvSpPr>
          <p:cNvPr id="4" name="Text 1"/>
          <p:cNvSpPr txBox="1"/>
          <p:nvPr/>
        </p:nvSpPr>
        <p:spPr>
          <a:xfrm>
            <a:off x="457200" y="3749040"/>
            <a:ext cx="1920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chemeClr val="tx2"/>
                </a:solidFill>
              </a:rPr>
              <a:t>High build, puff and cold foil</a:t>
            </a:r>
            <a:endParaRPr lang="en-US" sz="1100" dirty="0"/>
          </a:p>
        </p:txBody>
      </p:sp>
      <p:pic>
        <p:nvPicPr>
          <p:cNvPr id="5" name="Image 1" descr="Sports crest with relief and shimmer">    </p:cNvPr>
          <p:cNvPicPr>
            <a:picLocks noChangeAspect="1"/>
          </p:cNvPicPr>
          <p:nvPr/>
        </p:nvPicPr>
        <p:blipFill>
          <a:blip r:embed="rId2"/>
          <a:srcRect l="0" r="0" t="0" b="0"/>
          <a:stretch/>
        </p:blipFill>
        <p:spPr>
          <a:xfrm>
            <a:off x="2560320" y="1051560"/>
            <a:ext cx="1920240" cy="2606040"/>
          </a:xfrm>
          <a:prstGeom prst="rect">
            <a:avLst/>
          </a:prstGeom>
        </p:spPr>
      </p:pic>
      <p:sp>
        <p:nvSpPr>
          <p:cNvPr id="6" name="Text 2"/>
          <p:cNvSpPr txBox="1"/>
          <p:nvPr/>
        </p:nvSpPr>
        <p:spPr>
          <a:xfrm>
            <a:off x="2560320" y="3749040"/>
            <a:ext cx="1920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chemeClr val="tx2"/>
                </a:solidFill>
              </a:rPr>
              <a:t>Sports crest with relief and shimmer</a:t>
            </a:r>
            <a:endParaRPr lang="en-US" sz="1100" dirty="0"/>
          </a:p>
        </p:txBody>
      </p:sp>
      <p:pic>
        <p:nvPicPr>
          <p:cNvPr id="7" name="Image 2" descr="Spot-color screen print on colored garment">    </p:cNvPr>
          <p:cNvPicPr>
            <a:picLocks noChangeAspect="1"/>
          </p:cNvPicPr>
          <p:nvPr/>
        </p:nvPicPr>
        <p:blipFill>
          <a:blip r:embed="rId3"/>
          <a:srcRect l="0" r="0" t="0" b="0"/>
          <a:stretch/>
        </p:blipFill>
        <p:spPr>
          <a:xfrm>
            <a:off x="4663440" y="1051560"/>
            <a:ext cx="1920240" cy="2606040"/>
          </a:xfrm>
          <a:prstGeom prst="rect">
            <a:avLst/>
          </a:prstGeom>
        </p:spPr>
      </p:pic>
      <p:sp>
        <p:nvSpPr>
          <p:cNvPr id="8" name="Text 3"/>
          <p:cNvSpPr txBox="1"/>
          <p:nvPr/>
        </p:nvSpPr>
        <p:spPr>
          <a:xfrm>
            <a:off x="4663440" y="3749040"/>
            <a:ext cx="1920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chemeClr val="tx2"/>
                </a:solidFill>
              </a:rPr>
              <a:t>Spot-color screen print on colored garment</a:t>
            </a:r>
            <a:endParaRPr lang="en-US" sz="1100" dirty="0"/>
          </a:p>
        </p:txBody>
      </p:sp>
      <p:pic>
        <p:nvPicPr>
          <p:cNvPr id="9" name="Image 3" descr="Relief, gold foil and metallic sparkle">    </p:cNvPr>
          <p:cNvPicPr>
            <a:picLocks noChangeAspect="1"/>
          </p:cNvPicPr>
          <p:nvPr/>
        </p:nvPicPr>
        <p:blipFill>
          <a:blip r:embed="rId4"/>
          <a:srcRect l="0" r="0" t="0" b="0"/>
          <a:stretch/>
        </p:blipFill>
        <p:spPr>
          <a:xfrm>
            <a:off x="6766560" y="1051560"/>
            <a:ext cx="1920240" cy="2606040"/>
          </a:xfrm>
          <a:prstGeom prst="rect">
            <a:avLst/>
          </a:prstGeom>
        </p:spPr>
      </p:pic>
      <p:sp>
        <p:nvSpPr>
          <p:cNvPr id="10" name="Text 4"/>
          <p:cNvSpPr txBox="1"/>
          <p:nvPr/>
        </p:nvSpPr>
        <p:spPr>
          <a:xfrm>
            <a:off x="6766560" y="3749040"/>
            <a:ext cx="1920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chemeClr val="tx2"/>
                </a:solidFill>
              </a:rPr>
              <a:t>Relief, gold foil and metallic sparkle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800600"/>
            <a:ext cx="45720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7A8299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8</a:t>
            </a:fld>
            <a:endParaRPr lang="en-US"/>
          </a:p>
        </p:txBody>
      </p:sp>
    </p:spTree>
  </p:cSld>
  <p:clrMapOvr>
    <a:masterClrMapping/>
  </p:clrMapOvr>
  <p:transition spd="med">
    <p:fade/>
  </p:transition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82296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chemeClr val="tx1"/>
                </a:solidFill>
              </a:rPr>
              <a:t>CLT at PRINTING United 2026 (Las Vegas)</a:t>
            </a:r>
            <a:endParaRPr lang="en-US" sz="2600" dirty="0"/>
          </a:p>
        </p:txBody>
      </p:sp>
      <p:pic>
        <p:nvPicPr>
          <p:cNvPr id="3" name="Image 0" descr="CLT at PRINTING United 2026 (Las Vegas)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457200" y="1005840"/>
            <a:ext cx="5120640" cy="3291840"/>
          </a:xfrm>
          <a:prstGeom prst="rect">
            <a:avLst/>
          </a:prstGeom>
        </p:spPr>
      </p:pic>
      <p:sp>
        <p:nvSpPr>
          <p:cNvPr id="4" name="Text 1"/>
          <p:cNvSpPr txBox="1"/>
          <p:nvPr/>
        </p:nvSpPr>
        <p:spPr>
          <a:xfrm>
            <a:off x="5852160" y="1051560"/>
            <a:ext cx="28346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chemeClr val="accent1"/>
                </a:solidFill>
              </a:rPr>
              <a:t>Booth C3397</a:t>
            </a:r>
            <a:endParaRPr lang="en-US" sz="3000" dirty="0"/>
          </a:p>
        </p:txBody>
      </p:sp>
      <p:sp>
        <p:nvSpPr>
          <p:cNvPr id="5" name="Text 2"/>
          <p:cNvSpPr txBox="1"/>
          <p:nvPr/>
        </p:nvSpPr>
        <p:spPr>
          <a:xfrm>
            <a:off x="5852160" y="1691640"/>
            <a:ext cx="2834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tx2"/>
                </a:solidFill>
              </a:rPr>
              <a:t>Hybrid line running live</a:t>
            </a:r>
            <a:endParaRPr lang="en-US" sz="1200" dirty="0"/>
          </a:p>
        </p:txBody>
      </p:sp>
      <p:sp>
        <p:nvSpPr>
          <p:cNvPr id="6" name="Text 3"/>
          <p:cNvSpPr txBox="1"/>
          <p:nvPr/>
        </p:nvSpPr>
        <p:spPr>
          <a:xfrm>
            <a:off x="5852160" y="2240280"/>
            <a:ext cx="28346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chemeClr val="accent2"/>
                </a:solidFill>
              </a:rPr>
              <a:t>Photos: VSP</a:t>
            </a:r>
            <a:endParaRPr lang="en-US" sz="3000" dirty="0"/>
          </a:p>
        </p:txBody>
      </p:sp>
      <p:sp>
        <p:nvSpPr>
          <p:cNvPr id="7" name="Text 4"/>
          <p:cNvSpPr txBox="1"/>
          <p:nvPr/>
        </p:nvSpPr>
        <p:spPr>
          <a:xfrm>
            <a:off x="5852160" y="2880360"/>
            <a:ext cx="2834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tx2"/>
                </a:solidFill>
              </a:rPr>
              <a:t>VSP Printing meeting with CLT</a:t>
            </a:r>
            <a:endParaRPr lang="en-US" sz="1200" dirty="0"/>
          </a:p>
        </p:txBody>
      </p:sp>
      <p:sp>
        <p:nvSpPr>
          <p:cNvPr id="8" name="Text 5"/>
          <p:cNvSpPr txBox="1"/>
          <p:nvPr/>
        </p:nvSpPr>
        <p:spPr>
          <a:xfrm>
            <a:off x="5852160" y="3429000"/>
            <a:ext cx="28346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chemeClr val="tx1"/>
                </a:solidFill>
              </a:rPr>
              <a:t>Automatic carousel with a live digital station: this is how CLT sells, and how we will replicate it in Mexico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800600"/>
            <a:ext cx="45720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7A8299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9</a:t>
            </a:fld>
            <a:endParaRPr lang="en-US"/>
          </a:p>
        </p:txBody>
      </p:sp>
    </p:spTree>
  </p:cSld>
  <p:clrMapOvr>
    <a:masterClrMapping/>
  </p:clrMapOvr>
  <p:transition spd="med">
    <p:fade/>
  </p:transition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1097280"/>
            <a:ext cx="27432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000" b="1" dirty="0">
                <a:solidFill>
                  <a:schemeClr val="accent3"/>
                </a:solidFill>
              </a:rPr>
              <a:t>02</a:t>
            </a:r>
            <a:endParaRPr lang="en-US" sz="6000" dirty="0"/>
          </a:p>
        </p:txBody>
      </p:sp>
      <p:sp>
        <p:nvSpPr>
          <p:cNvPr id="3" name="Text 0"/>
          <p:cNvSpPr/>
          <p:nvPr>
            <p:ph idx="100" type="title" hasCustomPrompt="1"/>
          </p:nvPr>
        </p:nvSpPr>
        <p:spPr>
          <a:xfrm>
            <a:off x="548640" y="2103120"/>
            <a:ext cx="8046720" cy="914400"/>
          </a:xfrm>
          <a:prstGeom prst="rect">
            <a:avLst/>
          </a:prstGeom>
          <a:noFill/>
          <a:ln/>
        </p:spPr>
        <p:txBody>
          <a:bodyPr wrap="square" rtlCol="0"/>
          <a:lstStyle/>
          <a:p>
            <a:pPr algn="l" indent="0" marL="0">
              <a:buNone/>
            </a:pPr>
            <a:r>
              <a:rPr lang="en-US" sz="3600" b="1" dirty="0">
                <a:solidFill>
                  <a:schemeClr val="bg1"/>
                </a:solidFill>
              </a:rPr>
              <a:t>The Mexican market</a:t>
            </a:r>
            <a:endParaRPr lang="en-US" sz="3600" dirty="0"/>
          </a:p>
        </p:txBody>
      </p:sp>
      <p:sp>
        <p:nvSpPr>
          <p:cNvPr id="4" name="cmyk-dot"/>
          <p:cNvSpPr/>
          <p:nvPr/>
        </p:nvSpPr>
        <p:spPr>
          <a:xfrm>
            <a:off x="594360" y="3246120"/>
            <a:ext cx="164592" cy="164592"/>
          </a:xfrm>
          <a:prstGeom prst="ellipse">
            <a:avLst/>
          </a:prstGeom>
          <a:solidFill>
            <a:srgbClr val="0089C2"/>
          </a:solidFill>
          <a:ln w="12700">
            <a:solidFill>
              <a:srgbClr val="0089C2"/>
            </a:solidFill>
            <a:prstDash val="solid"/>
          </a:ln>
        </p:spPr>
      </p:sp>
      <p:sp>
        <p:nvSpPr>
          <p:cNvPr id="5" name="cmyk-dot"/>
          <p:cNvSpPr/>
          <p:nvPr/>
        </p:nvSpPr>
        <p:spPr>
          <a:xfrm>
            <a:off x="832104" y="3246120"/>
            <a:ext cx="164592" cy="164592"/>
          </a:xfrm>
          <a:prstGeom prst="ellipse">
            <a:avLst/>
          </a:prstGeom>
          <a:solidFill>
            <a:srgbClr val="C2185B"/>
          </a:solidFill>
          <a:ln w="12700">
            <a:solidFill>
              <a:srgbClr val="C2185B"/>
            </a:solidFill>
            <a:prstDash val="solid"/>
          </a:ln>
        </p:spPr>
      </p:sp>
      <p:sp>
        <p:nvSpPr>
          <p:cNvPr id="6" name="cmyk-dot"/>
          <p:cNvSpPr/>
          <p:nvPr/>
        </p:nvSpPr>
        <p:spPr>
          <a:xfrm>
            <a:off x="1069848" y="3246120"/>
            <a:ext cx="164592" cy="164592"/>
          </a:xfrm>
          <a:prstGeom prst="ellipse">
            <a:avLst/>
          </a:prstGeom>
          <a:solidFill>
            <a:srgbClr val="F2B705"/>
          </a:solidFill>
          <a:ln w="12700">
            <a:solidFill>
              <a:srgbClr val="F2B705"/>
            </a:solidFill>
            <a:prstDash val="solid"/>
          </a:ln>
        </p:spPr>
      </p:sp>
      <p:sp>
        <p:nvSpPr>
          <p:cNvPr id="7" name="cmyk-dot"/>
          <p:cNvSpPr/>
          <p:nvPr/>
        </p:nvSpPr>
        <p:spPr>
          <a:xfrm>
            <a:off x="1307592" y="3246120"/>
            <a:ext cx="164592" cy="164592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</p:spTree>
  </p:cSld>
  <p:clrMapOvr>
    <a:masterClrMapping/>
  </p:clrMapOvr>
  <p:transition spd="med">
    <p:fade/>
  </p:transition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82296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chemeClr val="tx1"/>
                </a:solidFill>
              </a:rPr>
              <a:t>An industry that needs to differentiate</a:t>
            </a:r>
            <a:endParaRPr lang="en-US" sz="26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1143000"/>
            <a:ext cx="19202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chemeClr val="accent1"/>
                </a:solidFill>
              </a:rPr>
              <a:t>MXN 91.2 B</a:t>
            </a:r>
            <a:endParaRPr lang="en-US" sz="300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1783080"/>
            <a:ext cx="1920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tx2"/>
                </a:solidFill>
              </a:rPr>
              <a:t>textile &amp; apparel GDP (2025)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2560320" y="1143000"/>
            <a:ext cx="19202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chemeClr val="accent2"/>
                </a:solidFill>
              </a:rPr>
              <a:t>102,492</a:t>
            </a:r>
            <a:endParaRPr lang="en-US" sz="3000" dirty="0"/>
          </a:p>
        </p:txBody>
      </p:sp>
      <p:sp>
        <p:nvSpPr>
          <p:cNvPr id="6" name="Text 4"/>
          <p:cNvSpPr txBox="1"/>
          <p:nvPr/>
        </p:nvSpPr>
        <p:spPr>
          <a:xfrm>
            <a:off x="2560320" y="1783080"/>
            <a:ext cx="1920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tx2"/>
                </a:solidFill>
              </a:rPr>
              <a:t>businesses</a:t>
            </a:r>
            <a:endParaRPr lang="en-US" sz="1200" dirty="0"/>
          </a:p>
        </p:txBody>
      </p:sp>
      <p:sp>
        <p:nvSpPr>
          <p:cNvPr id="7" name="Text 5"/>
          <p:cNvSpPr txBox="1"/>
          <p:nvPr/>
        </p:nvSpPr>
        <p:spPr>
          <a:xfrm>
            <a:off x="4663440" y="1143000"/>
            <a:ext cx="19202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chemeClr val="accent1"/>
                </a:solidFill>
              </a:rPr>
              <a:t>519k</a:t>
            </a:r>
            <a:endParaRPr lang="en-US" sz="3000" dirty="0"/>
          </a:p>
        </p:txBody>
      </p:sp>
      <p:sp>
        <p:nvSpPr>
          <p:cNvPr id="8" name="Text 6"/>
          <p:cNvSpPr txBox="1"/>
          <p:nvPr/>
        </p:nvSpPr>
        <p:spPr>
          <a:xfrm>
            <a:off x="4663440" y="1783080"/>
            <a:ext cx="1920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tx2"/>
                </a:solidFill>
              </a:rPr>
              <a:t>jobs</a:t>
            </a:r>
            <a:endParaRPr lang="en-US" sz="1200" dirty="0"/>
          </a:p>
        </p:txBody>
      </p:sp>
      <p:sp>
        <p:nvSpPr>
          <p:cNvPr id="9" name="Text 7"/>
          <p:cNvSpPr txBox="1"/>
          <p:nvPr/>
        </p:nvSpPr>
        <p:spPr>
          <a:xfrm>
            <a:off x="6766560" y="1143000"/>
            <a:ext cx="19202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chemeClr val="accent2"/>
                </a:solidFill>
              </a:rPr>
              <a:t>89%</a:t>
            </a:r>
            <a:endParaRPr lang="en-US" sz="3000" dirty="0"/>
          </a:p>
        </p:txBody>
      </p:sp>
      <p:sp>
        <p:nvSpPr>
          <p:cNvPr id="10" name="Text 8"/>
          <p:cNvSpPr txBox="1"/>
          <p:nvPr/>
        </p:nvSpPr>
        <p:spPr>
          <a:xfrm>
            <a:off x="6766560" y="1783080"/>
            <a:ext cx="1920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tx2"/>
                </a:solidFill>
              </a:rPr>
              <a:t>of exports go to the U.S.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457200" y="2697480"/>
            <a:ext cx="329184" cy="329184"/>
          </a:xfrm>
          <a:prstGeom prst="ellipse">
            <a:avLst/>
          </a:prstGeom>
          <a:solidFill>
            <a:srgbClr val="0089C2"/>
          </a:solidFill>
          <a:ln w="12700">
            <a:solidFill>
              <a:srgbClr val="0089C2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457200" y="2697480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</a:rPr>
              <a:t>1</a:t>
            </a:r>
            <a:endParaRPr lang="en-US" sz="1300" dirty="0"/>
          </a:p>
        </p:txBody>
      </p:sp>
      <p:sp>
        <p:nvSpPr>
          <p:cNvPr id="13" name="Text 11"/>
          <p:cNvSpPr txBox="1"/>
          <p:nvPr/>
        </p:nvSpPr>
        <p:spPr>
          <a:xfrm>
            <a:off x="914400" y="2697480"/>
            <a:ext cx="77724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Low-cost imports pressure domestic makers (GDP -8.4% in 2023)</a:t>
            </a:r>
            <a:endParaRPr lang="en-US" sz="1400" dirty="0"/>
          </a:p>
        </p:txBody>
      </p:sp>
      <p:sp>
        <p:nvSpPr>
          <p:cNvPr id="14" name="Shape 12"/>
          <p:cNvSpPr/>
          <p:nvPr/>
        </p:nvSpPr>
        <p:spPr>
          <a:xfrm>
            <a:off x="457200" y="3264408"/>
            <a:ext cx="329184" cy="329184"/>
          </a:xfrm>
          <a:prstGeom prst="ellipse">
            <a:avLst/>
          </a:prstGeom>
          <a:solidFill>
            <a:srgbClr val="C2185B"/>
          </a:solidFill>
          <a:ln w="12700">
            <a:solidFill>
              <a:srgbClr val="C2185B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457200" y="3264408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</a:rPr>
              <a:t>2</a:t>
            </a:r>
            <a:endParaRPr lang="en-US" sz="1300" dirty="0"/>
          </a:p>
        </p:txBody>
      </p:sp>
      <p:sp>
        <p:nvSpPr>
          <p:cNvPr id="16" name="Text 14"/>
          <p:cNvSpPr txBox="1"/>
          <p:nvPr/>
        </p:nvSpPr>
        <p:spPr>
          <a:xfrm>
            <a:off x="914400" y="3264408"/>
            <a:ext cx="77724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2026 tariffs: up to 35% on garments from non-FTA countries, including China</a:t>
            </a:r>
            <a:endParaRPr lang="en-US" sz="1400" dirty="0"/>
          </a:p>
        </p:txBody>
      </p:sp>
      <p:sp>
        <p:nvSpPr>
          <p:cNvPr id="17" name="Shape 15"/>
          <p:cNvSpPr/>
          <p:nvPr/>
        </p:nvSpPr>
        <p:spPr>
          <a:xfrm>
            <a:off x="457200" y="3831336"/>
            <a:ext cx="329184" cy="329184"/>
          </a:xfrm>
          <a:prstGeom prst="ellipse">
            <a:avLst/>
          </a:prstGeom>
          <a:solidFill>
            <a:srgbClr val="F2B705"/>
          </a:solidFill>
          <a:ln w="12700">
            <a:solidFill>
              <a:srgbClr val="F2B705"/>
            </a:solidFill>
            <a:prstDash val="solid"/>
          </a:ln>
        </p:spPr>
      </p:sp>
      <p:sp>
        <p:nvSpPr>
          <p:cNvPr id="18" name="Text 16"/>
          <p:cNvSpPr txBox="1"/>
          <p:nvPr/>
        </p:nvSpPr>
        <p:spPr>
          <a:xfrm>
            <a:off x="457200" y="3831336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B1F3B"/>
                </a:solidFill>
              </a:rPr>
              <a:t>3</a:t>
            </a:r>
            <a:endParaRPr lang="en-US" sz="1300" dirty="0"/>
          </a:p>
        </p:txBody>
      </p:sp>
      <p:sp>
        <p:nvSpPr>
          <p:cNvPr id="19" name="Text 17"/>
          <p:cNvSpPr txBox="1"/>
          <p:nvPr/>
        </p:nvSpPr>
        <p:spPr>
          <a:xfrm>
            <a:off x="914400" y="3831336"/>
            <a:ext cx="77724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The answer: customization, short runs and high-value effects, exactly what hybrid printing does</a:t>
            </a:r>
            <a:endParaRPr lang="en-US" sz="1400" dirty="0"/>
          </a:p>
        </p:txBody>
      </p:sp>
      <p:sp>
        <p:nvSpPr>
          <p:cNvPr id="20" name="Text 18"/>
          <p:cNvSpPr txBox="1"/>
          <p:nvPr/>
        </p:nvSpPr>
        <p:spPr>
          <a:xfrm>
            <a:off x="457200" y="448056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chemeClr val="accent5"/>
                </a:solidFill>
              </a:rPr>
              <a:t>INEGI 2023–2024 · CANAINTEX 2026 · DOF 2026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800600"/>
            <a:ext cx="45720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7A8299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11</a:t>
            </a:fld>
            <a:endParaRPr lang="en-US"/>
          </a:p>
        </p:txBody>
      </p:sp>
    </p:spTree>
  </p:cSld>
  <p:clrMapOvr>
    <a:masterClrMapping/>
  </p:clrMapOvr>
  <p:transition spd="med">
    <p:fade/>
  </p:transition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82296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chemeClr val="tx1"/>
                </a:solidFill>
              </a:rPr>
              <a:t>Market size</a:t>
            </a:r>
            <a:endParaRPr lang="en-US" sz="2600" dirty="0"/>
          </a:p>
        </p:txBody>
      </p:sp>
      <p:sp>
        <p:nvSpPr>
          <p:cNvPr id="3" name="Shape 1"/>
          <p:cNvSpPr/>
          <p:nvPr/>
        </p:nvSpPr>
        <p:spPr>
          <a:xfrm>
            <a:off x="457200" y="1097280"/>
            <a:ext cx="5120640" cy="914400"/>
          </a:xfrm>
          <a:prstGeom prst="roundRect">
            <a:avLst>
              <a:gd name="adj" fmla="val 8000"/>
            </a:avLst>
          </a:prstGeom>
          <a:solidFill>
            <a:srgbClr val="EEF2F7"/>
          </a:solidFill>
          <a:ln w="12700">
            <a:solidFill>
              <a:srgbClr val="EEF2F7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548640" y="1097280"/>
            <a:ext cx="49377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1B1F3B"/>
                </a:solidFill>
              </a:rPr>
              <a:t>~102,500</a:t>
            </a:r>
            <a:endParaRPr lang="en-US" sz="2000" dirty="0"/>
          </a:p>
          <a:p>
            <a:pPr algn="ctr" indent="0" marL="0">
              <a:buNone/>
            </a:pPr>
            <a:r>
              <a:rPr lang="en-US" sz="1100" dirty="0">
                <a:solidFill>
                  <a:srgbClr val="3A4060"/>
                </a:solidFill>
              </a:rPr>
              <a:t>Total market: all textile businesses</a:t>
            </a:r>
            <a:endParaRPr lang="en-US" sz="2000" dirty="0"/>
          </a:p>
        </p:txBody>
      </p:sp>
      <p:sp>
        <p:nvSpPr>
          <p:cNvPr id="5" name="Shape 3"/>
          <p:cNvSpPr/>
          <p:nvPr/>
        </p:nvSpPr>
        <p:spPr>
          <a:xfrm>
            <a:off x="1005840" y="2148840"/>
            <a:ext cx="4023360" cy="914400"/>
          </a:xfrm>
          <a:prstGeom prst="roundRect">
            <a:avLst>
              <a:gd name="adj" fmla="val 8000"/>
            </a:avLst>
          </a:prstGeom>
          <a:solidFill>
            <a:srgbClr val="CFE6F2"/>
          </a:solidFill>
          <a:ln w="12700">
            <a:solidFill>
              <a:srgbClr val="CFE6F2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1097280" y="2148840"/>
            <a:ext cx="38404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1B1F3B"/>
                </a:solidFill>
              </a:rPr>
              <a:t>~1,400–1,900</a:t>
            </a:r>
            <a:endParaRPr lang="en-US" sz="2000" dirty="0"/>
          </a:p>
          <a:p>
            <a:pPr algn="ctr" indent="0" marL="0">
              <a:buNone/>
            </a:pPr>
            <a:r>
              <a:rPr lang="en-US" sz="1100" dirty="0">
                <a:solidFill>
                  <a:srgbClr val="3A4060"/>
                </a:solidFill>
              </a:rPr>
              <a:t>Serviceable: medium/large firms and shops with carousels</a:t>
            </a:r>
            <a:endParaRPr lang="en-US" sz="2000" dirty="0"/>
          </a:p>
        </p:txBody>
      </p:sp>
      <p:sp>
        <p:nvSpPr>
          <p:cNvPr id="7" name="Shape 5"/>
          <p:cNvSpPr/>
          <p:nvPr/>
        </p:nvSpPr>
        <p:spPr>
          <a:xfrm>
            <a:off x="1554480" y="3200400"/>
            <a:ext cx="2926080" cy="914400"/>
          </a:xfrm>
          <a:prstGeom prst="roundRect">
            <a:avLst>
              <a:gd name="adj" fmla="val 8000"/>
            </a:avLst>
          </a:prstGeom>
          <a:solidFill>
            <a:srgbClr val="F8D3E1"/>
          </a:solidFill>
          <a:ln w="12700">
            <a:solidFill>
              <a:srgbClr val="F8D3E1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1645920" y="3200400"/>
            <a:ext cx="27432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C2185B"/>
                </a:solidFill>
              </a:rPr>
              <a:t>30–90 lines</a:t>
            </a:r>
            <a:endParaRPr lang="en-US" sz="2000" dirty="0"/>
          </a:p>
          <a:p>
            <a:pPr algn="ctr" indent="0" marL="0">
              <a:buNone/>
            </a:pPr>
            <a:r>
              <a:rPr lang="en-US" sz="1100" dirty="0">
                <a:solidFill>
                  <a:srgbClr val="3A4060"/>
                </a:solidFill>
              </a:rPr>
              <a:t>Obtainable in 5 years (2–5% adoption)</a:t>
            </a:r>
            <a:endParaRPr lang="en-US" sz="2000" dirty="0"/>
          </a:p>
        </p:txBody>
      </p:sp>
      <p:sp>
        <p:nvSpPr>
          <p:cNvPr id="9" name="Text 7"/>
          <p:cNvSpPr txBox="1"/>
          <p:nvPr/>
        </p:nvSpPr>
        <p:spPr>
          <a:xfrm>
            <a:off x="6035040" y="1188720"/>
            <a:ext cx="26517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chemeClr val="accent1"/>
                </a:solidFill>
              </a:rPr>
              <a:t>US$3.6–22M</a:t>
            </a:r>
            <a:endParaRPr lang="en-US" sz="3000" dirty="0"/>
          </a:p>
        </p:txBody>
      </p:sp>
      <p:sp>
        <p:nvSpPr>
          <p:cNvPr id="10" name="Text 8"/>
          <p:cNvSpPr txBox="1"/>
          <p:nvPr/>
        </p:nvSpPr>
        <p:spPr>
          <a:xfrm>
            <a:off x="6035040" y="1828800"/>
            <a:ext cx="2651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tx2"/>
                </a:solidFill>
              </a:rPr>
              <a:t>in equipment over 5 years</a:t>
            </a:r>
            <a:endParaRPr lang="en-US" sz="1200" dirty="0"/>
          </a:p>
        </p:txBody>
      </p:sp>
      <p:sp>
        <p:nvSpPr>
          <p:cNvPr id="11" name="Text 9"/>
          <p:cNvSpPr txBox="1"/>
          <p:nvPr/>
        </p:nvSpPr>
        <p:spPr>
          <a:xfrm>
            <a:off x="6035040" y="2560320"/>
            <a:ext cx="26517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chemeClr val="accent2"/>
                </a:solidFill>
              </a:rPr>
              <a:t>US$0.9–3M</a:t>
            </a:r>
            <a:endParaRPr lang="en-US" sz="3000" dirty="0"/>
          </a:p>
        </p:txBody>
      </p:sp>
      <p:sp>
        <p:nvSpPr>
          <p:cNvPr id="12" name="Text 10"/>
          <p:cNvSpPr txBox="1"/>
          <p:nvPr/>
        </p:nvSpPr>
        <p:spPr>
          <a:xfrm>
            <a:off x="6035040" y="3200400"/>
            <a:ext cx="2651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tx2"/>
                </a:solidFill>
              </a:rPr>
              <a:t>per year in consumables (50 lines)</a:t>
            </a:r>
            <a:endParaRPr lang="en-US" sz="12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448056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chemeClr val="accent5"/>
                </a:solidFill>
              </a:rPr>
              <a:t>Estimate — to be confirmed with CLT’s quotation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800600"/>
            <a:ext cx="45720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7A8299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12</a:t>
            </a:fld>
            <a:endParaRPr lang="en-US"/>
          </a:p>
        </p:txBody>
      </p:sp>
    </p:spTree>
  </p:cSld>
  <p:clrMapOvr>
    <a:masterClrMapping/>
  </p:clrMapOvr>
  <p:transition spd="med">
    <p:fade/>
  </p:transition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82296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chemeClr val="tx1"/>
                </a:solidFill>
              </a:rPr>
              <a:t>Priority regions</a:t>
            </a:r>
            <a:endParaRPr lang="en-US" sz="2600" dirty="0"/>
          </a:p>
        </p:txBody>
      </p:sp>
      <p:sp>
        <p:nvSpPr>
          <p:cNvPr id="3" name="Shape 1"/>
          <p:cNvSpPr/>
          <p:nvPr/>
        </p:nvSpPr>
        <p:spPr>
          <a:xfrm>
            <a:off x="457200" y="1005840"/>
            <a:ext cx="8229600" cy="502920"/>
          </a:xfrm>
          <a:prstGeom prst="roundRect">
            <a:avLst>
              <a:gd name="adj" fmla="val 14545"/>
            </a:avLst>
          </a:prstGeom>
          <a:solidFill>
            <a:srgbClr val="EEF2F7"/>
          </a:solidFill>
          <a:ln w="12700">
            <a:solidFill>
              <a:srgbClr val="EEF2F7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594360" y="1065276"/>
            <a:ext cx="384048" cy="384048"/>
          </a:xfrm>
          <a:prstGeom prst="ellipse">
            <a:avLst/>
          </a:prstGeom>
          <a:solidFill>
            <a:srgbClr val="C2185B"/>
          </a:solidFill>
          <a:ln w="12700">
            <a:solidFill>
              <a:srgbClr val="C2185B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594360" y="1065276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</a:rPr>
              <a:t>1</a:t>
            </a:r>
            <a:endParaRPr lang="en-US" sz="1300" dirty="0"/>
          </a:p>
        </p:txBody>
      </p:sp>
      <p:sp>
        <p:nvSpPr>
          <p:cNvPr id="6" name="Text 4"/>
          <p:cNvSpPr txBox="1"/>
          <p:nvPr/>
        </p:nvSpPr>
        <p:spPr>
          <a:xfrm>
            <a:off x="1143000" y="1005840"/>
            <a:ext cx="31089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chemeClr val="tx1"/>
                </a:solidFill>
              </a:rPr>
              <a:t>State of Mexico &amp; CDMX</a:t>
            </a:r>
            <a:endParaRPr lang="en-US" sz="1500" dirty="0"/>
          </a:p>
        </p:txBody>
      </p:sp>
      <p:sp>
        <p:nvSpPr>
          <p:cNvPr id="7" name="Text 5"/>
          <p:cNvSpPr txBox="1"/>
          <p:nvPr/>
        </p:nvSpPr>
        <p:spPr>
          <a:xfrm>
            <a:off x="4297680" y="1005840"/>
            <a:ext cx="42062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chemeClr val="tx2"/>
                </a:solidFill>
              </a:rPr>
              <a:t>Printers, brands, promotional</a:t>
            </a: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457200" y="1581912"/>
            <a:ext cx="8229600" cy="502920"/>
          </a:xfrm>
          <a:prstGeom prst="roundRect">
            <a:avLst>
              <a:gd name="adj" fmla="val 14545"/>
            </a:avLst>
          </a:prstGeom>
          <a:solidFill>
            <a:srgbClr val="EEF2F7"/>
          </a:solidFill>
          <a:ln w="12700">
            <a:solidFill>
              <a:srgbClr val="EEF2F7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594360" y="1641348"/>
            <a:ext cx="384048" cy="384048"/>
          </a:xfrm>
          <a:prstGeom prst="ellipse">
            <a:avLst/>
          </a:prstGeom>
          <a:solidFill>
            <a:srgbClr val="C2185B"/>
          </a:solidFill>
          <a:ln w="12700">
            <a:solidFill>
              <a:srgbClr val="C2185B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594360" y="164134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</a:rPr>
              <a:t>1</a:t>
            </a:r>
            <a:endParaRPr lang="en-US" sz="1300" dirty="0"/>
          </a:p>
        </p:txBody>
      </p:sp>
      <p:sp>
        <p:nvSpPr>
          <p:cNvPr id="11" name="Text 9"/>
          <p:cNvSpPr txBox="1"/>
          <p:nvPr/>
        </p:nvSpPr>
        <p:spPr>
          <a:xfrm>
            <a:off x="1143000" y="1581912"/>
            <a:ext cx="31089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chemeClr val="tx1"/>
                </a:solidFill>
              </a:rPr>
              <a:t>Jalisco</a:t>
            </a:r>
            <a:endParaRPr lang="en-US" sz="1500" dirty="0"/>
          </a:p>
        </p:txBody>
      </p:sp>
      <p:sp>
        <p:nvSpPr>
          <p:cNvPr id="12" name="Text 10"/>
          <p:cNvSpPr txBox="1"/>
          <p:nvPr/>
        </p:nvSpPr>
        <p:spPr>
          <a:xfrm>
            <a:off x="4297680" y="1581912"/>
            <a:ext cx="42062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chemeClr val="tx2"/>
                </a:solidFill>
              </a:rPr>
              <a:t>Fashion, sportswear, domestic brands</a:t>
            </a:r>
            <a:endParaRPr lang="en-US" sz="1300" dirty="0"/>
          </a:p>
        </p:txBody>
      </p:sp>
      <p:sp>
        <p:nvSpPr>
          <p:cNvPr id="13" name="Shape 11"/>
          <p:cNvSpPr/>
          <p:nvPr/>
        </p:nvSpPr>
        <p:spPr>
          <a:xfrm>
            <a:off x="457200" y="2157984"/>
            <a:ext cx="8229600" cy="502920"/>
          </a:xfrm>
          <a:prstGeom prst="roundRect">
            <a:avLst>
              <a:gd name="adj" fmla="val 14545"/>
            </a:avLst>
          </a:prstGeom>
          <a:solidFill>
            <a:srgbClr val="EEF2F7"/>
          </a:solidFill>
          <a:ln w="12700">
            <a:solidFill>
              <a:srgbClr val="EEF2F7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594360" y="2217420"/>
            <a:ext cx="384048" cy="384048"/>
          </a:xfrm>
          <a:prstGeom prst="ellipse">
            <a:avLst/>
          </a:prstGeom>
          <a:solidFill>
            <a:srgbClr val="C2185B"/>
          </a:solidFill>
          <a:ln w="12700">
            <a:solidFill>
              <a:srgbClr val="C2185B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594360" y="221742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</a:rPr>
              <a:t>1</a:t>
            </a:r>
            <a:endParaRPr lang="en-US" sz="1300" dirty="0"/>
          </a:p>
        </p:txBody>
      </p:sp>
      <p:sp>
        <p:nvSpPr>
          <p:cNvPr id="16" name="Text 14"/>
          <p:cNvSpPr txBox="1"/>
          <p:nvPr/>
        </p:nvSpPr>
        <p:spPr>
          <a:xfrm>
            <a:off x="1143000" y="2157984"/>
            <a:ext cx="31089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chemeClr val="tx1"/>
                </a:solidFill>
              </a:rPr>
              <a:t>Baja California</a:t>
            </a:r>
            <a:endParaRPr lang="en-US" sz="1500" dirty="0"/>
          </a:p>
        </p:txBody>
      </p:sp>
      <p:sp>
        <p:nvSpPr>
          <p:cNvPr id="17" name="Text 15"/>
          <p:cNvSpPr txBox="1"/>
          <p:nvPr/>
        </p:nvSpPr>
        <p:spPr>
          <a:xfrm>
            <a:off x="4297680" y="2157984"/>
            <a:ext cx="42062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chemeClr val="tx2"/>
                </a:solidFill>
              </a:rPr>
              <a:t>Export screen printing; TID + VSP at the border</a:t>
            </a:r>
            <a:endParaRPr lang="en-US" sz="1300" dirty="0"/>
          </a:p>
        </p:txBody>
      </p:sp>
      <p:sp>
        <p:nvSpPr>
          <p:cNvPr id="18" name="Shape 16"/>
          <p:cNvSpPr/>
          <p:nvPr/>
        </p:nvSpPr>
        <p:spPr>
          <a:xfrm>
            <a:off x="457200" y="2734056"/>
            <a:ext cx="8229600" cy="502920"/>
          </a:xfrm>
          <a:prstGeom prst="roundRect">
            <a:avLst>
              <a:gd name="adj" fmla="val 14545"/>
            </a:avLst>
          </a:prstGeom>
          <a:solidFill>
            <a:srgbClr val="EEF2F7"/>
          </a:solidFill>
          <a:ln w="12700">
            <a:solidFill>
              <a:srgbClr val="EEF2F7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594360" y="2793492"/>
            <a:ext cx="384048" cy="384048"/>
          </a:xfrm>
          <a:prstGeom prst="ellipse">
            <a:avLst/>
          </a:prstGeom>
          <a:solidFill>
            <a:srgbClr val="0089C2"/>
          </a:solidFill>
          <a:ln w="12700">
            <a:solidFill>
              <a:srgbClr val="0089C2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594360" y="2793492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</a:rPr>
              <a:t>2</a:t>
            </a:r>
            <a:endParaRPr lang="en-US" sz="1300" dirty="0"/>
          </a:p>
        </p:txBody>
      </p:sp>
      <p:sp>
        <p:nvSpPr>
          <p:cNvPr id="21" name="Text 19"/>
          <p:cNvSpPr txBox="1"/>
          <p:nvPr/>
        </p:nvSpPr>
        <p:spPr>
          <a:xfrm>
            <a:off x="1143000" y="2734056"/>
            <a:ext cx="31089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chemeClr val="tx1"/>
                </a:solidFill>
              </a:rPr>
              <a:t>Puebla &amp; Tlaxcala</a:t>
            </a:r>
            <a:endParaRPr lang="en-US" sz="1500" dirty="0"/>
          </a:p>
        </p:txBody>
      </p:sp>
      <p:sp>
        <p:nvSpPr>
          <p:cNvPr id="22" name="Text 20"/>
          <p:cNvSpPr txBox="1"/>
          <p:nvPr/>
        </p:nvSpPr>
        <p:spPr>
          <a:xfrm>
            <a:off x="4297680" y="2734056"/>
            <a:ext cx="42062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chemeClr val="tx2"/>
                </a:solidFill>
              </a:rPr>
              <a:t>Export maquila, knitwear</a:t>
            </a:r>
            <a:endParaRPr lang="en-US" sz="1300" dirty="0"/>
          </a:p>
        </p:txBody>
      </p:sp>
      <p:sp>
        <p:nvSpPr>
          <p:cNvPr id="23" name="Shape 21"/>
          <p:cNvSpPr/>
          <p:nvPr/>
        </p:nvSpPr>
        <p:spPr>
          <a:xfrm>
            <a:off x="457200" y="3310128"/>
            <a:ext cx="8229600" cy="502920"/>
          </a:xfrm>
          <a:prstGeom prst="roundRect">
            <a:avLst>
              <a:gd name="adj" fmla="val 14545"/>
            </a:avLst>
          </a:prstGeom>
          <a:solidFill>
            <a:srgbClr val="EEF2F7"/>
          </a:solidFill>
          <a:ln w="12700">
            <a:solidFill>
              <a:srgbClr val="EEF2F7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594360" y="3369564"/>
            <a:ext cx="384048" cy="384048"/>
          </a:xfrm>
          <a:prstGeom prst="ellipse">
            <a:avLst/>
          </a:prstGeom>
          <a:solidFill>
            <a:srgbClr val="0089C2"/>
          </a:solidFill>
          <a:ln w="12700">
            <a:solidFill>
              <a:srgbClr val="0089C2"/>
            </a:solidFill>
            <a:prstDash val="solid"/>
          </a:ln>
        </p:spPr>
      </p:sp>
      <p:sp>
        <p:nvSpPr>
          <p:cNvPr id="25" name="Text 23"/>
          <p:cNvSpPr txBox="1"/>
          <p:nvPr/>
        </p:nvSpPr>
        <p:spPr>
          <a:xfrm>
            <a:off x="594360" y="3369564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</a:rPr>
              <a:t>2</a:t>
            </a:r>
            <a:endParaRPr lang="en-US" sz="1300" dirty="0"/>
          </a:p>
        </p:txBody>
      </p:sp>
      <p:sp>
        <p:nvSpPr>
          <p:cNvPr id="26" name="Text 24"/>
          <p:cNvSpPr txBox="1"/>
          <p:nvPr/>
        </p:nvSpPr>
        <p:spPr>
          <a:xfrm>
            <a:off x="1143000" y="3310128"/>
            <a:ext cx="31089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chemeClr val="tx1"/>
                </a:solidFill>
              </a:rPr>
              <a:t>Guanajuato</a:t>
            </a:r>
            <a:endParaRPr lang="en-US" sz="1500" dirty="0"/>
          </a:p>
        </p:txBody>
      </p:sp>
      <p:sp>
        <p:nvSpPr>
          <p:cNvPr id="27" name="Text 25"/>
          <p:cNvSpPr txBox="1"/>
          <p:nvPr/>
        </p:nvSpPr>
        <p:spPr>
          <a:xfrm>
            <a:off x="4297680" y="3310128"/>
            <a:ext cx="42062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chemeClr val="tx2"/>
                </a:solidFill>
              </a:rPr>
              <a:t>Knitwear, wholesale; 1–2 h from TID</a:t>
            </a:r>
            <a:endParaRPr lang="en-US" sz="1300" dirty="0"/>
          </a:p>
        </p:txBody>
      </p:sp>
      <p:sp>
        <p:nvSpPr>
          <p:cNvPr id="28" name="Shape 26"/>
          <p:cNvSpPr/>
          <p:nvPr/>
        </p:nvSpPr>
        <p:spPr>
          <a:xfrm>
            <a:off x="457200" y="3886200"/>
            <a:ext cx="8229600" cy="502920"/>
          </a:xfrm>
          <a:prstGeom prst="roundRect">
            <a:avLst>
              <a:gd name="adj" fmla="val 14545"/>
            </a:avLst>
          </a:prstGeom>
          <a:solidFill>
            <a:srgbClr val="EEF2F7"/>
          </a:solidFill>
          <a:ln w="12700">
            <a:solidFill>
              <a:srgbClr val="EEF2F7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594360" y="3945636"/>
            <a:ext cx="384048" cy="384048"/>
          </a:xfrm>
          <a:prstGeom prst="ellipse">
            <a:avLst/>
          </a:prstGeom>
          <a:solidFill>
            <a:srgbClr val="F2B705"/>
          </a:solidFill>
          <a:ln w="12700">
            <a:solidFill>
              <a:srgbClr val="F2B705"/>
            </a:solidFill>
            <a:prstDash val="solid"/>
          </a:ln>
        </p:spPr>
      </p:sp>
      <p:sp>
        <p:nvSpPr>
          <p:cNvPr id="30" name="Text 28"/>
          <p:cNvSpPr txBox="1"/>
          <p:nvPr/>
        </p:nvSpPr>
        <p:spPr>
          <a:xfrm>
            <a:off x="594360" y="3945636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B1F3B"/>
                </a:solidFill>
              </a:rPr>
              <a:t>3</a:t>
            </a:r>
            <a:endParaRPr lang="en-US" sz="1300" dirty="0"/>
          </a:p>
        </p:txBody>
      </p:sp>
      <p:sp>
        <p:nvSpPr>
          <p:cNvPr id="31" name="Text 29"/>
          <p:cNvSpPr txBox="1"/>
          <p:nvPr/>
        </p:nvSpPr>
        <p:spPr>
          <a:xfrm>
            <a:off x="1143000" y="3886200"/>
            <a:ext cx="31089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chemeClr val="tx1"/>
                </a:solidFill>
              </a:rPr>
              <a:t>Laguna, Ags., N.L., Yucatán</a:t>
            </a:r>
            <a:endParaRPr lang="en-US" sz="1500" dirty="0"/>
          </a:p>
        </p:txBody>
      </p:sp>
      <p:sp>
        <p:nvSpPr>
          <p:cNvPr id="32" name="Text 30"/>
          <p:cNvSpPr txBox="1"/>
          <p:nvPr/>
        </p:nvSpPr>
        <p:spPr>
          <a:xfrm>
            <a:off x="4297680" y="3886200"/>
            <a:ext cx="42062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chemeClr val="tx2"/>
                </a:solidFill>
              </a:rPr>
              <a:t>Denim, IMMEX, uniforms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800600"/>
            <a:ext cx="45720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7A8299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13</a:t>
            </a:fld>
            <a:endParaRPr lang="en-US"/>
          </a:p>
        </p:txBody>
      </p:sp>
    </p:spTree>
  </p:cSld>
  <p:clrMapOvr>
    <a:masterClrMapping/>
  </p:clrMapOvr>
  <p:transition spd="med">
    <p:fade/>
  </p:transition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82296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chemeClr val="tx1"/>
                </a:solidFill>
              </a:rPr>
              <a:t>80/20: priority prospects (9 of 47)</a:t>
            </a:r>
            <a:endParaRPr lang="en-US" sz="2600" dirty="0"/>
          </a:p>
        </p:txBody>
      </p:sp>
      <p:graphicFrame>
        <p:nvGraphicFramePr>
          <p:cNvPr id="1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960120"/>
          <a:ext cx="8229600" cy="914400"/>
        </p:xfrm>
        <a:graphic>
          <a:graphicData uri="http://schemas.openxmlformats.org/drawingml/2006/table">
            <a:tbl>
              <a:tblPr/>
              <a:tblGrid>
                <a:gridCol w="2103120"/>
                <a:gridCol w="1371600"/>
                <a:gridCol w="4754880"/>
              </a:tblGrid>
              <a:tr h="31089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</a:rPr>
                        <a:t>Company</a:t>
                      </a:r>
                      <a:endParaRPr lang="en-US" sz="900" dirty="0"/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1F3B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</a:rPr>
                        <a:t>City</a:t>
                      </a:r>
                      <a:endParaRPr lang="en-US" sz="900" dirty="0"/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1F3B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</a:rPr>
                        <a:t>What they do</a:t>
                      </a:r>
                      <a:endParaRPr lang="en-US" sz="900" dirty="0"/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1F3B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1B1F3B"/>
                          </a:solidFill>
                        </a:rPr>
                        <a:t>ADN Serigrafía</a:t>
                      </a:r>
                      <a:endParaRPr lang="en-US" sz="900" dirty="0"/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B1F3B"/>
                          </a:solidFill>
                        </a:rPr>
                        <a:t>Naucalpan, Edo. Méx.</a:t>
                      </a:r>
                      <a:endParaRPr lang="en-US" sz="900" dirty="0"/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B1F3B"/>
                          </a:solidFill>
                        </a:rPr>
                        <a:t>Contract screen printing: 130,000+ pcs/week, up to 18 colors, production for the U.S. and Canada</a:t>
                      </a:r>
                      <a:endParaRPr lang="en-US" sz="900" dirty="0"/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7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1B1F3B"/>
                          </a:solidFill>
                        </a:rPr>
                        <a:t>Serigrafía Textil Automatizada (KW)</a:t>
                      </a:r>
                      <a:endParaRPr lang="en-US" sz="900" dirty="0"/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B1F3B"/>
                          </a:solidFill>
                        </a:rPr>
                        <a:t>Puebla, Pue.</a:t>
                      </a:r>
                      <a:endParaRPr lang="en-US" sz="900" dirty="0"/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B1F3B"/>
                          </a:solidFill>
                        </a:rPr>
                        <a:t>Automated volume screen printing: campaigns, sportswear and promo; 30+ years</a:t>
                      </a:r>
                      <a:endParaRPr lang="en-US" sz="900" dirty="0"/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1B1F3B"/>
                          </a:solidFill>
                        </a:rPr>
                        <a:t>Manufacturas Textiles RF (Reitex)</a:t>
                      </a:r>
                      <a:endParaRPr lang="en-US" sz="900" dirty="0"/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B1F3B"/>
                          </a:solidFill>
                        </a:rPr>
                        <a:t>Guadalupe, N.L.</a:t>
                      </a:r>
                      <a:endParaRPr lang="en-US" sz="900" dirty="0"/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B1F3B"/>
                          </a:solidFill>
                        </a:rPr>
                        <a:t>Integrated yarn-to-garment plant; high-volume campaign and promo T-shirts</a:t>
                      </a:r>
                      <a:endParaRPr lang="en-US" sz="900" dirty="0"/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7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1B1F3B"/>
                          </a:solidFill>
                        </a:rPr>
                        <a:t>Diermi (Playeras Mindy)</a:t>
                      </a:r>
                      <a:endParaRPr lang="en-US" sz="900" dirty="0"/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B1F3B"/>
                          </a:solidFill>
                        </a:rPr>
                        <a:t>Zapopan, Jal.</a:t>
                      </a:r>
                      <a:endParaRPr lang="en-US" sz="900" dirty="0"/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B1F3B"/>
                          </a:solidFill>
                        </a:rPr>
                        <a:t>Sports and promo T-shirts in a 5,000 m² automated plant; exports to the U.S.</a:t>
                      </a:r>
                      <a:endParaRPr lang="en-US" sz="900" dirty="0"/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1B1F3B"/>
                          </a:solidFill>
                        </a:rPr>
                        <a:t>GOCA'S</a:t>
                      </a:r>
                      <a:endParaRPr lang="en-US" sz="900" dirty="0"/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B1F3B"/>
                          </a:solidFill>
                        </a:rPr>
                        <a:t>Ciudad de México</a:t>
                      </a:r>
                      <a:endParaRPr lang="en-US" sz="900" dirty="0"/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B1F3B"/>
                          </a:solidFill>
                        </a:rPr>
                        <a:t>Large-scale T-shirts and hoodies with in-house screen, sublimation and embroidery; 25+ years</a:t>
                      </a:r>
                      <a:endParaRPr lang="en-US" sz="900" dirty="0"/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7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1B1F3B"/>
                          </a:solidFill>
                        </a:rPr>
                        <a:t>SerigrafiarteSP</a:t>
                      </a:r>
                      <a:endParaRPr lang="en-US" sz="900" dirty="0"/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B1F3B"/>
                          </a:solidFill>
                        </a:rPr>
                        <a:t>Ciudad de México</a:t>
                      </a:r>
                      <a:endParaRPr lang="en-US" sz="900" dirty="0"/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B1F3B"/>
                          </a:solidFill>
                        </a:rPr>
                        <a:t>Contract screen printing (plastisol, water-based, discharge), DTF and sublimation for factories and brands</a:t>
                      </a:r>
                      <a:endParaRPr lang="en-US" sz="900" dirty="0"/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1B1F3B"/>
                          </a:solidFill>
                        </a:rPr>
                        <a:t>Grupo Martex</a:t>
                      </a:r>
                      <a:endParaRPr lang="en-US" sz="900" dirty="0"/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B1F3B"/>
                          </a:solidFill>
                        </a:rPr>
                        <a:t>Naucalpan, Edo. Méx.</a:t>
                      </a:r>
                      <a:endParaRPr lang="en-US" sz="900" dirty="0"/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B1F3B"/>
                          </a:solidFill>
                        </a:rPr>
                        <a:t>High-volume textile maker; uniforms (directory cites FIFA uniforms)</a:t>
                      </a:r>
                      <a:endParaRPr lang="en-US" sz="900" dirty="0"/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7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1B1F3B"/>
                          </a:solidFill>
                        </a:rPr>
                        <a:t>Uniformes Carmen</a:t>
                      </a:r>
                      <a:endParaRPr lang="en-US" sz="900" dirty="0"/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B1F3B"/>
                          </a:solidFill>
                        </a:rPr>
                        <a:t>Guadalajara, Jal.</a:t>
                      </a:r>
                      <a:endParaRPr lang="en-US" sz="900" dirty="0"/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B1F3B"/>
                          </a:solidFill>
                        </a:rPr>
                        <a:t>Uniforms with screen, embroidery and transfer; volume print contracting; 30+ years</a:t>
                      </a:r>
                      <a:endParaRPr lang="en-US" sz="900" dirty="0"/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1B1F3B"/>
                          </a:solidFill>
                        </a:rPr>
                        <a:t>Charly (Grupo Charly)</a:t>
                      </a:r>
                      <a:endParaRPr lang="en-US" sz="900" dirty="0"/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B1F3B"/>
                          </a:solidFill>
                        </a:rPr>
                        <a:t>León, Gto.</a:t>
                      </a:r>
                      <a:endParaRPr lang="en-US" sz="900" dirty="0"/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B1F3B"/>
                          </a:solidFill>
                        </a:rPr>
                        <a:t>Sports brand: jerseys and licensed apparel for Liga MX clubs (León, Pachuca, Atlas, Santos)</a:t>
                      </a:r>
                      <a:endParaRPr lang="en-US" sz="900" dirty="0"/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7"/>
                    </a:solidFill>
                  </a:tcPr>
                </a:tc>
              </a:tr>
            </a:tbl>
          </a:graphicData>
        </a:graphic>
      </p:graphicFrame>
      <p:sp>
        <p:nvSpPr>
          <p:cNvPr id="4" name="Text 1"/>
          <p:cNvSpPr txBox="1"/>
          <p:nvPr/>
        </p:nvSpPr>
        <p:spPr>
          <a:xfrm>
            <a:off x="457200" y="448056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chemeClr val="accent5"/>
                </a:solidFill>
              </a:rPr>
              <a:t>17 of 82 accounts (20%) get 80% of the year-1 sales effort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800600"/>
            <a:ext cx="45720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7A8299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14</a:t>
            </a:fld>
            <a:endParaRPr lang="en-US"/>
          </a:p>
        </p:txBody>
      </p:sp>
    </p:spTree>
  </p:cSld>
  <p:clrMapOvr>
    <a:masterClrMapping/>
  </p:clrMapOvr>
  <p:transition spd="med">
    <p:fade/>
  </p:transition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82296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chemeClr val="tx1"/>
                </a:solidFill>
              </a:rPr>
              <a:t>80/20: priority OEMs (8 of 35)</a:t>
            </a:r>
            <a:endParaRPr lang="en-US" sz="2600" dirty="0"/>
          </a:p>
        </p:txBody>
      </p:sp>
      <p:graphicFrame>
        <p:nvGraphicFramePr>
          <p:cNvPr id="1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960120"/>
          <a:ext cx="8229600" cy="914400"/>
        </p:xfrm>
        <a:graphic>
          <a:graphicData uri="http://schemas.openxmlformats.org/drawingml/2006/table">
            <a:tbl>
              <a:tblPr/>
              <a:tblGrid>
                <a:gridCol w="2103120"/>
                <a:gridCol w="1371600"/>
                <a:gridCol w="4754880"/>
              </a:tblGrid>
              <a:tr h="31089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</a:rPr>
                        <a:t>Company</a:t>
                      </a:r>
                      <a:endParaRPr lang="en-US" sz="900" dirty="0"/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1F3B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</a:rPr>
                        <a:t>City</a:t>
                      </a:r>
                      <a:endParaRPr lang="en-US" sz="900" dirty="0"/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1F3B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</a:rPr>
                        <a:t>Brands and customers</a:t>
                      </a:r>
                      <a:endParaRPr lang="en-US" sz="900" dirty="0"/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1F3B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1B1F3B"/>
                          </a:solidFill>
                        </a:rPr>
                        <a:t>Vertical Knits</a:t>
                      </a:r>
                      <a:endParaRPr lang="en-US" sz="900" dirty="0"/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B1F3B"/>
                          </a:solidFill>
                        </a:rPr>
                        <a:t>Baca, Yuc.</a:t>
                      </a:r>
                      <a:endParaRPr lang="en-US" sz="900" dirty="0"/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B1F3B"/>
                          </a:solidFill>
                        </a:rPr>
                        <a:t>Nike, Fanatics, Tommy Hilfiger, Patagonia</a:t>
                      </a:r>
                      <a:endParaRPr lang="en-US" sz="900" dirty="0"/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7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1B1F3B"/>
                          </a:solidFill>
                        </a:rPr>
                        <a:t>Ink Throwers de México</a:t>
                      </a:r>
                      <a:endParaRPr lang="en-US" sz="900" dirty="0"/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B1F3B"/>
                          </a:solidFill>
                        </a:rPr>
                        <a:t>Tijuana, B.C.</a:t>
                      </a:r>
                      <a:endParaRPr lang="en-US" sz="900" dirty="0"/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B1F3B"/>
                          </a:solidFill>
                        </a:rPr>
                        <a:t>Disney, Levi's, Marvel</a:t>
                      </a:r>
                      <a:endParaRPr lang="en-US" sz="900" dirty="0"/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1B1F3B"/>
                          </a:solidFill>
                        </a:rPr>
                        <a:t>MD International Baja</a:t>
                      </a:r>
                      <a:endParaRPr lang="en-US" sz="900" dirty="0"/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B1F3B"/>
                          </a:solidFill>
                        </a:rPr>
                        <a:t>Ensenada, B.C.</a:t>
                      </a:r>
                      <a:endParaRPr lang="en-US" sz="900" dirty="0"/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B1F3B"/>
                          </a:solidFill>
                        </a:rPr>
                        <a:t>Fanatics, Hurley, REI</a:t>
                      </a:r>
                      <a:endParaRPr lang="en-US" sz="900" dirty="0"/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7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1B1F3B"/>
                          </a:solidFill>
                        </a:rPr>
                        <a:t>Fortune Fashions Baja (Mad Engine)</a:t>
                      </a:r>
                      <a:endParaRPr lang="en-US" sz="900" dirty="0"/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B1F3B"/>
                          </a:solidFill>
                        </a:rPr>
                        <a:t>Ensenada, B.C.</a:t>
                      </a:r>
                      <a:endParaRPr lang="en-US" sz="900" dirty="0"/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B1F3B"/>
                          </a:solidFill>
                        </a:rPr>
                        <a:t>Mad Engine Global, Disney</a:t>
                      </a:r>
                      <a:endParaRPr lang="en-US" sz="900" dirty="0"/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1B1F3B"/>
                          </a:solidFill>
                        </a:rPr>
                        <a:t>SOIR Textiles (TJ Factory Clothing)</a:t>
                      </a:r>
                      <a:endParaRPr lang="en-US" sz="900" dirty="0"/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B1F3B"/>
                          </a:solidFill>
                        </a:rPr>
                        <a:t>Ensenada, B.C.</a:t>
                      </a:r>
                      <a:endParaRPr lang="en-US" sz="900" dirty="0"/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B1F3B"/>
                          </a:solidFill>
                        </a:rPr>
                        <a:t>Columbia, Disney</a:t>
                      </a:r>
                      <a:endParaRPr lang="en-US" sz="900" dirty="0"/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7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1B1F3B"/>
                          </a:solidFill>
                        </a:rPr>
                        <a:t>Factory 1 (Factory1 Group)</a:t>
                      </a:r>
                      <a:endParaRPr lang="en-US" sz="900" dirty="0"/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B1F3B"/>
                          </a:solidFill>
                        </a:rPr>
                        <a:t>Ensenada, B.C.</a:t>
                      </a:r>
                      <a:endParaRPr lang="en-US" sz="900" dirty="0"/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B1F3B"/>
                          </a:solidFill>
                        </a:rPr>
                        <a:t>Columbia, Disney</a:t>
                      </a:r>
                      <a:endParaRPr lang="en-US" sz="900" dirty="0"/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1B1F3B"/>
                          </a:solidFill>
                        </a:rPr>
                        <a:t>Codipsa (San Fernando ScreenPrinting)</a:t>
                      </a:r>
                      <a:endParaRPr lang="en-US" sz="900" dirty="0"/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B1F3B"/>
                          </a:solidFill>
                        </a:rPr>
                        <a:t>Puebla, Pue.</a:t>
                      </a:r>
                      <a:endParaRPr lang="en-US" sz="900" dirty="0"/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B1F3B"/>
                          </a:solidFill>
                        </a:rPr>
                        <a:t>Puma, Gap, Hot Topic, Macy's, Disney</a:t>
                      </a:r>
                      <a:endParaRPr lang="en-US" sz="900" dirty="0"/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7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1B1F3B"/>
                          </a:solidFill>
                        </a:rPr>
                        <a:t>RMC de México</a:t>
                      </a:r>
                      <a:endParaRPr lang="en-US" sz="900" dirty="0"/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B1F3B"/>
                          </a:solidFill>
                        </a:rPr>
                        <a:t>Linares, N.L.</a:t>
                      </a:r>
                      <a:endParaRPr lang="en-US" sz="900" dirty="0"/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B1F3B"/>
                          </a:solidFill>
                        </a:rPr>
                        <a:t>Under Armour, Nordstrom</a:t>
                      </a:r>
                      <a:endParaRPr lang="en-US" sz="900" dirty="0"/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4" name="Text 1"/>
          <p:cNvSpPr txBox="1"/>
          <p:nvPr/>
        </p:nvSpPr>
        <p:spPr>
          <a:xfrm>
            <a:off x="457200" y="448056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chemeClr val="accent5"/>
                </a:solidFill>
              </a:rPr>
              <a:t>17 of 82 accounts (20%) get 80% of the year-1 sales effort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800600"/>
            <a:ext cx="45720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7A8299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15</a:t>
            </a:fld>
            <a:endParaRPr lang="en-US"/>
          </a:p>
        </p:txBody>
      </p:sp>
    </p:spTree>
  </p:cSld>
  <p:clrMapOvr>
    <a:masterClrMapping/>
  </p:clrMapOvr>
  <p:transition spd="med">
    <p:fade/>
  </p:transition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82296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chemeClr val="tx1"/>
                </a:solidFill>
              </a:rPr>
              <a:t>Competition: the gap is local service</a:t>
            </a:r>
            <a:endParaRPr lang="en-US" sz="2600" dirty="0"/>
          </a:p>
        </p:txBody>
      </p:sp>
      <p:graphicFrame>
        <p:nvGraphicFramePr>
          <p:cNvPr id="1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097280"/>
          <a:ext cx="8229600" cy="914400"/>
        </p:xfrm>
        <a:graphic>
          <a:graphicData uri="http://schemas.openxmlformats.org/drawingml/2006/table">
            <a:tbl>
              <a:tblPr/>
              <a:tblGrid>
                <a:gridCol w="2194560"/>
                <a:gridCol w="3017520"/>
                <a:gridCol w="3017520"/>
              </a:tblGrid>
              <a:tr h="4754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</a:rPr>
                        <a:t>Type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1F3B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</a:rPr>
                        <a:t>Players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1F3B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</a:rPr>
                        <a:t>Reading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1F3B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1B1F3B"/>
                          </a:solidFill>
                        </a:rPr>
                        <a:t>High-end DTG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B1F3B"/>
                          </a:solidFill>
                        </a:rPr>
                        <a:t>Kornit (Sun Digital México)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B1F3B"/>
                          </a:solidFill>
                        </a:rPr>
                        <a:t>High investment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7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1B1F3B"/>
                          </a:solidFill>
                        </a:rPr>
                        <a:t>Automatic presses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B1F3B"/>
                          </a:solidFill>
                        </a:rPr>
                        <a:t>M&amp;R, ROQ, MHM, Anatol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B1F3B"/>
                          </a:solidFill>
                        </a:rPr>
                        <a:t>Customers for digital stations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1B1F3B"/>
                          </a:solidFill>
                        </a:rPr>
                        <a:t>Chinese hybrids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B1F3B"/>
                          </a:solidFill>
                        </a:rPr>
                        <a:t>Textalk, Hanglory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B1F3B"/>
                          </a:solidFill>
                        </a:rPr>
                        <a:t>No visible local structure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7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1B1F3B"/>
                          </a:solidFill>
                        </a:rPr>
                        <a:t>Inks &amp; silicones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B1F3B"/>
                          </a:solidFill>
                        </a:rPr>
                        <a:t>ScreenTec, Avient, Matsui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B1F3B"/>
                          </a:solidFill>
                        </a:rPr>
                        <a:t>Price vs. brand approvals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1B1F3B"/>
                          </a:solidFill>
                        </a:rPr>
                        <a:t>Substitutes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B1F3B"/>
                          </a:solidFill>
                        </a:rPr>
                        <a:t>DTF, sublimation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B1F3B"/>
                          </a:solidFill>
                        </a:rPr>
                        <a:t>DTF growing in short runs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7"/>
                    </a:solidFill>
                  </a:tcPr>
                </a:tc>
              </a:tr>
            </a:tbl>
          </a:graphicData>
        </a:graphic>
      </p:graphicFrame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800600"/>
            <a:ext cx="45720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7A8299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16</a:t>
            </a:fld>
            <a:endParaRPr lang="en-US"/>
          </a:p>
        </p:txBody>
      </p:sp>
    </p:spTree>
  </p:cSld>
  <p:clrMapOvr>
    <a:masterClrMapping/>
  </p:clrMapOvr>
  <p:transition spd="med">
    <p:fade/>
  </p:transition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82296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chemeClr val="tx1"/>
                </a:solidFill>
              </a:rPr>
              <a:t>Competitors in inks, pastes and silicones</a:t>
            </a:r>
            <a:endParaRPr lang="en-US" sz="2600" dirty="0"/>
          </a:p>
        </p:txBody>
      </p:sp>
      <p:graphicFrame>
        <p:nvGraphicFramePr>
          <p:cNvPr id="1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960120"/>
          <a:ext cx="8229600" cy="914400"/>
        </p:xfrm>
        <a:graphic>
          <a:graphicData uri="http://schemas.openxmlformats.org/drawingml/2006/table">
            <a:tbl>
              <a:tblPr/>
              <a:tblGrid>
                <a:gridCol w="3017520"/>
                <a:gridCol w="3566160"/>
                <a:gridCol w="1645920"/>
              </a:tblGrid>
              <a:tr h="32918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</a:rPr>
                        <a:t>Brand (origin)</a:t>
                      </a:r>
                      <a:endParaRPr lang="en-US" sz="900" dirty="0"/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1F3B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</a:rPr>
                        <a:t>Reference price</a:t>
                      </a:r>
                      <a:endParaRPr lang="en-US" sz="900" dirty="0"/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1F3B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</a:rPr>
                        <a:t>Threat</a:t>
                      </a:r>
                      <a:endParaRPr lang="en-US" sz="900" dirty="0"/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1F3B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1B1F3B"/>
                          </a:solidFill>
                        </a:rPr>
                        <a:t>Avient: Wilflex, Rutland, Union Ink, Printop (U.S.)</a:t>
                      </a:r>
                      <a:endParaRPr lang="en-US" sz="900" dirty="0"/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B1F3B"/>
                          </a:solidFill>
                        </a:rPr>
                        <a:t>High: ~US$40–60/gallon for mixing colors; specialties US$90–310/gallon (U.S. stores)</a:t>
                      </a:r>
                      <a:endParaRPr lang="en-US" sz="900" dirty="0"/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B1F3B"/>
                          </a:solidFill>
                        </a:rPr>
                        <a:t>High with OEMs</a:t>
                      </a:r>
                      <a:endParaRPr lang="en-US" sz="900" dirty="0"/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7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1B1F3B"/>
                          </a:solidFill>
                        </a:rPr>
                        <a:t>Grupo Sánchez / ScreenTec: Seritex, Aquatex, Siltex (Mexico)</a:t>
                      </a:r>
                      <a:endParaRPr lang="en-US" sz="900" dirty="0"/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B1F3B"/>
                          </a:solidFill>
                        </a:rPr>
                        <a:t>Low: MXN 159–217/kg retail (Seritex)</a:t>
                      </a:r>
                      <a:endParaRPr lang="en-US" sz="900" dirty="0"/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B1F3B"/>
                          </a:solidFill>
                        </a:rPr>
                        <a:t>High with shops</a:t>
                      </a:r>
                      <a:endParaRPr lang="en-US" sz="900" dirty="0"/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1B1F3B"/>
                          </a:solidFill>
                        </a:rPr>
                        <a:t>Matsui (Japan)</a:t>
                      </a:r>
                      <a:endParaRPr lang="en-US" sz="900" dirty="0"/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B1F3B"/>
                          </a:solidFill>
                        </a:rPr>
                        <a:t>Mid-high; bases from ~US$8–9/kg in Central America</a:t>
                      </a:r>
                      <a:endParaRPr lang="en-US" sz="900" dirty="0"/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B1F3B"/>
                          </a:solidFill>
                        </a:rPr>
                        <a:t>Mid-high</a:t>
                      </a:r>
                      <a:endParaRPr lang="en-US" sz="900" dirty="0"/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7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1B1F3B"/>
                          </a:solidFill>
                        </a:rPr>
                        <a:t>International Coatings (U.S.)</a:t>
                      </a:r>
                      <a:endParaRPr lang="en-US" sz="900" dirty="0"/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B1F3B"/>
                          </a:solidFill>
                        </a:rPr>
                        <a:t>Mid</a:t>
                      </a:r>
                      <a:endParaRPr lang="en-US" sz="900" dirty="0"/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B1F3B"/>
                          </a:solidFill>
                        </a:rPr>
                        <a:t>Mid</a:t>
                      </a:r>
                      <a:endParaRPr lang="en-US" sz="900" dirty="0"/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1B1F3B"/>
                          </a:solidFill>
                        </a:rPr>
                        <a:t>Marabu (Germany)</a:t>
                      </a:r>
                      <a:endParaRPr lang="en-US" sz="900" dirty="0"/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B1F3B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B1F3B"/>
                          </a:solidFill>
                        </a:rPr>
                        <a:t>Low: limited textile range (nylon, synthetics)</a:t>
                      </a:r>
                      <a:endParaRPr lang="en-US" sz="900" dirty="0"/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7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1B1F3B"/>
                          </a:solidFill>
                        </a:rPr>
                        <a:t>RUCO / RUCOINX (Germany)</a:t>
                      </a:r>
                      <a:endParaRPr lang="en-US" sz="900" dirty="0"/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B1F3B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B1F3B"/>
                          </a:solidFill>
                        </a:rPr>
                        <a:t>Low: industrial inks for plastic, glass and metal</a:t>
                      </a:r>
                      <a:endParaRPr lang="en-US" sz="900" dirty="0"/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1B1F3B"/>
                          </a:solidFill>
                        </a:rPr>
                        <a:t>Tampoprint (Germany)</a:t>
                      </a:r>
                      <a:endParaRPr lang="en-US" sz="900" dirty="0"/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B1F3B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B1F3B"/>
                          </a:solidFill>
                        </a:rPr>
                        <a:t>Low: tagless labels only</a:t>
                      </a:r>
                      <a:endParaRPr lang="en-US" sz="900" dirty="0"/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7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1B1F3B"/>
                          </a:solidFill>
                        </a:rPr>
                        <a:t>Low-cost Mexican brands: Dyssa, Celi Colors, Quitexa, De la Rana</a:t>
                      </a:r>
                      <a:endParaRPr lang="en-US" sz="900" dirty="0"/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B1F3B"/>
                          </a:solidFill>
                        </a:rPr>
                        <a:t>Very low: plastisol white ~MXN 790/gallon</a:t>
                      </a:r>
                      <a:endParaRPr lang="en-US" sz="900" dirty="0"/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B1F3B"/>
                          </a:solidFill>
                        </a:rPr>
                        <a:t>Mid with small shops</a:t>
                      </a:r>
                      <a:endParaRPr lang="en-US" sz="900" dirty="0"/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1B1F3B"/>
                          </a:solidFill>
                        </a:rPr>
                        <a:t>Direct Chinese suppliers (Alibaba)</a:t>
                      </a:r>
                      <a:endParaRPr lang="en-US" sz="900" dirty="0"/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B1F3B"/>
                          </a:solidFill>
                        </a:rPr>
                        <a:t>Very low: silicone ~€3.5–5.2/kg</a:t>
                      </a:r>
                      <a:endParaRPr lang="en-US" sz="900" dirty="0"/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B1F3B"/>
                          </a:solidFill>
                        </a:rPr>
                        <a:t>Mid: same origin as CLT</a:t>
                      </a:r>
                      <a:endParaRPr lang="en-US" sz="900" dirty="0"/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7"/>
                    </a:solidFill>
                  </a:tcPr>
                </a:tc>
              </a:tr>
            </a:tbl>
          </a:graphicData>
        </a:graphic>
      </p:graphicFrame>
      <p:sp>
        <p:nvSpPr>
          <p:cNvPr id="4" name="Text 1"/>
          <p:cNvSpPr txBox="1"/>
          <p:nvPr/>
        </p:nvSpPr>
        <p:spPr>
          <a:xfrm>
            <a:off x="457200" y="448056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chemeClr val="accent5"/>
                </a:solidFill>
              </a:rPr>
              <a:t>Comex does not make textile screen printing inks: it is an architectural paint brand. Public prices as of October 2026, for reference only; CLT’s price for Mexico is to be confirmed.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800600"/>
            <a:ext cx="45720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7A8299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17</a:t>
            </a:fld>
            <a:endParaRPr lang="en-US"/>
          </a:p>
        </p:txBody>
      </p:sp>
    </p:spTree>
  </p:cSld>
  <p:clrMapOvr>
    <a:masterClrMapping/>
  </p:clrMapOvr>
  <p:transition spd="med">
    <p:fade/>
  </p:transition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82296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chemeClr val="tx1"/>
                </a:solidFill>
              </a:rPr>
              <a:t>SWOT by competitor</a:t>
            </a:r>
            <a:endParaRPr lang="en-US" sz="2600" dirty="0"/>
          </a:p>
        </p:txBody>
      </p:sp>
      <p:graphicFrame>
        <p:nvGraphicFramePr>
          <p:cNvPr id="19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960120"/>
          <a:ext cx="8229600" cy="914400"/>
        </p:xfrm>
        <a:graphic>
          <a:graphicData uri="http://schemas.openxmlformats.org/drawingml/2006/table">
            <a:tbl>
              <a:tblPr/>
              <a:tblGrid>
                <a:gridCol w="1463040"/>
                <a:gridCol w="1691640"/>
                <a:gridCol w="1691640"/>
                <a:gridCol w="1691640"/>
                <a:gridCol w="1691640"/>
              </a:tblGrid>
              <a:tr h="53035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</a:rPr>
                        <a:t>Competitor</a:t>
                      </a:r>
                      <a:endParaRPr lang="en-US" sz="900" dirty="0"/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1F3B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</a:rPr>
                        <a:t>Strengths</a:t>
                      </a:r>
                      <a:endParaRPr lang="en-US" sz="900" dirty="0"/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1F3B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</a:rPr>
                        <a:t>Weaknesses</a:t>
                      </a:r>
                      <a:endParaRPr lang="en-US" sz="900" dirty="0"/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1F3B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</a:rPr>
                        <a:t>Opportunity for CLT</a:t>
                      </a:r>
                      <a:endParaRPr lang="en-US" sz="900" dirty="0"/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1F3B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</a:rPr>
                        <a:t>Threat to CLT</a:t>
                      </a:r>
                      <a:endParaRPr lang="en-US" sz="900" dirty="0"/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1F3B"/>
                    </a:solidFill>
                  </a:tcPr>
                </a:tc>
              </a:tr>
              <a:tr h="53035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1B1F3B"/>
                          </a:solidFill>
                        </a:rPr>
                        <a:t>Avient (Wilflex, Rutland)</a:t>
                      </a:r>
                      <a:endParaRPr lang="en-US" sz="900" dirty="0"/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B1F3B"/>
                          </a:solidFill>
                        </a:rPr>
                        <a:t>Global brand; certified inks approved by brands; full range</a:t>
                      </a:r>
                      <a:endParaRPr lang="en-US" sz="900" dirty="0"/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B1F3B"/>
                          </a:solidFill>
                        </a:rPr>
                        <a:t>High price; imported; very expensive specialties</a:t>
                      </a:r>
                      <a:endParaRPr lang="en-US" sz="900" dirty="0"/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B1F3B"/>
                          </a:solidFill>
                        </a:rPr>
                        <a:t>Silicones and special effects at a lower price; water-based</a:t>
                      </a:r>
                      <a:endParaRPr lang="en-US" sz="900" dirty="0"/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B1F3B"/>
                          </a:solidFill>
                        </a:rPr>
                        <a:t>Export brands already have approved inks: switching is slow</a:t>
                      </a:r>
                      <a:endParaRPr lang="en-US" sz="900" dirty="0"/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7"/>
                    </a:solidFill>
                  </a:tcPr>
                </a:tc>
              </a:tr>
              <a:tr h="53035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1B1F3B"/>
                          </a:solidFill>
                        </a:rPr>
                        <a:t>Grupo Sánchez / ScreenTec</a:t>
                      </a:r>
                      <a:endParaRPr lang="en-US" sz="900" dirty="0"/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B1F3B"/>
                          </a:solidFill>
                        </a:rPr>
                        <a:t>Domestic maker; low price; dealer network; Siltex silicones</a:t>
                      </a:r>
                      <a:endParaRPr lang="en-US" sz="900" dirty="0"/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B1F3B"/>
                          </a:solidFill>
                        </a:rPr>
                        <a:t>No machines or hybrid line; focus on the domestic market</a:t>
                      </a:r>
                      <a:endParaRPr lang="en-US" sz="900" dirty="0"/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B1F3B"/>
                          </a:solidFill>
                        </a:rPr>
                        <a:t>Turnkey package: machine + chemistry + service</a:t>
                      </a:r>
                      <a:endParaRPr lang="en-US" sz="900" dirty="0"/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B1F3B"/>
                          </a:solidFill>
                        </a:rPr>
                        <a:t>Price war in consumables</a:t>
                      </a:r>
                      <a:endParaRPr lang="en-US" sz="900" dirty="0"/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3035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1B1F3B"/>
                          </a:solidFill>
                        </a:rPr>
                        <a:t>Matsui</a:t>
                      </a:r>
                      <a:endParaRPr lang="en-US" sz="900" dirty="0"/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B1F3B"/>
                          </a:solidFill>
                        </a:rPr>
                        <a:t>Benchmark in water-based, discharge and specialties</a:t>
                      </a:r>
                      <a:endParaRPr lang="en-US" sz="900" dirty="0"/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B1F3B"/>
                          </a:solidFill>
                        </a:rPr>
                        <a:t>Imported; mid-high price</a:t>
                      </a:r>
                      <a:endParaRPr lang="en-US" sz="900" dirty="0"/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B1F3B"/>
                          </a:solidFill>
                        </a:rPr>
                        <a:t>Water-based pastes are 54% of CLT’s sales</a:t>
                      </a:r>
                      <a:endParaRPr lang="en-US" sz="900" dirty="0"/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B1F3B"/>
                          </a:solidFill>
                        </a:rPr>
                        <a:t>Already inside large contractors and shops</a:t>
                      </a:r>
                      <a:endParaRPr lang="en-US" sz="900" dirty="0"/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7"/>
                    </a:solidFill>
                  </a:tcPr>
                </a:tc>
              </a:tr>
              <a:tr h="53035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1B1F3B"/>
                          </a:solidFill>
                        </a:rPr>
                        <a:t>Marabu, RUCO, Tampoprint</a:t>
                      </a:r>
                      <a:endParaRPr lang="en-US" sz="900" dirty="0"/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B1F3B"/>
                          </a:solidFill>
                        </a:rPr>
                        <a:t>German quality; strong in graphics, pad printing and industry</a:t>
                      </a:r>
                      <a:endParaRPr lang="en-US" sz="900" dirty="0"/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B1F3B"/>
                          </a:solidFill>
                        </a:rPr>
                        <a:t>Little offer for garment printing</a:t>
                      </a:r>
                      <a:endParaRPr lang="en-US" sz="900" dirty="0"/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B1F3B"/>
                          </a:solidFill>
                        </a:rPr>
                        <a:t>Not head-on competitors in apparel</a:t>
                      </a:r>
                      <a:endParaRPr lang="en-US" sz="900" dirty="0"/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B1F3B"/>
                          </a:solidFill>
                        </a:rPr>
                        <a:t>Tagless label and synthetics niche</a:t>
                      </a:r>
                      <a:endParaRPr lang="en-US" sz="900" dirty="0"/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3035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1B1F3B"/>
                          </a:solidFill>
                        </a:rPr>
                        <a:t>Low-cost Mexican brands</a:t>
                      </a:r>
                      <a:endParaRPr lang="en-US" sz="900" dirty="0"/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B1F3B"/>
                          </a:solidFill>
                        </a:rPr>
                        <a:t>Very low price; sold in every store</a:t>
                      </a:r>
                      <a:endParaRPr lang="en-US" sz="900" dirty="0"/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B1F3B"/>
                          </a:solidFill>
                        </a:rPr>
                        <a:t>Uneven quality; no certifications or technical support</a:t>
                      </a:r>
                      <a:endParaRPr lang="en-US" sz="900" dirty="0"/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B1F3B"/>
                          </a:solidFill>
                        </a:rPr>
                        <a:t>Growing shops that need consistent quality</a:t>
                      </a:r>
                      <a:endParaRPr lang="en-US" sz="900" dirty="0"/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B1F3B"/>
                          </a:solidFill>
                        </a:rPr>
                        <a:t>Price war in small shops</a:t>
                      </a:r>
                      <a:endParaRPr lang="en-US" sz="900" dirty="0"/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7"/>
                    </a:solidFill>
                  </a:tcPr>
                </a:tc>
              </a:tr>
              <a:tr h="53035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1B1F3B"/>
                          </a:solidFill>
                        </a:rPr>
                        <a:t>Direct Chinese suppliers</a:t>
                      </a:r>
                      <a:endParaRPr lang="en-US" sz="900" dirty="0"/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B1F3B"/>
                          </a:solidFill>
                        </a:rPr>
                        <a:t>Lowest price</a:t>
                      </a:r>
                      <a:endParaRPr lang="en-US" sz="900" dirty="0"/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B1F3B"/>
                          </a:solidFill>
                        </a:rPr>
                        <a:t>No service, no local stock, no warranty</a:t>
                      </a:r>
                      <a:endParaRPr lang="en-US" sz="900" dirty="0"/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B1F3B"/>
                          </a:solidFill>
                        </a:rPr>
                        <a:t>Local service, stock and Spanish-speaking technicians</a:t>
                      </a:r>
                      <a:endParaRPr lang="en-US" sz="900" dirty="0"/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B1F3B"/>
                          </a:solidFill>
                        </a:rPr>
                        <a:t>Same origin: customers compare price against CLT</a:t>
                      </a:r>
                      <a:endParaRPr lang="en-US" sz="900" dirty="0"/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800600"/>
            <a:ext cx="45720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7A8299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18</a:t>
            </a:fld>
            <a:endParaRPr lang="en-US"/>
          </a:p>
        </p:txBody>
      </p:sp>
    </p:spTree>
  </p:cSld>
  <p:clrMapOvr>
    <a:masterClrMapping/>
  </p:clrMapOvr>
  <p:transition spd="med">
    <p:fade/>
  </p:transition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82296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chemeClr val="tx1"/>
                </a:solidFill>
              </a:rPr>
              <a:t>SWOT: our position against the competition</a:t>
            </a:r>
            <a:endParaRPr lang="en-US" sz="2600" dirty="0"/>
          </a:p>
        </p:txBody>
      </p:sp>
      <p:sp>
        <p:nvSpPr>
          <p:cNvPr id="3" name="Shape 1"/>
          <p:cNvSpPr/>
          <p:nvPr/>
        </p:nvSpPr>
        <p:spPr>
          <a:xfrm>
            <a:off x="457200" y="1005840"/>
            <a:ext cx="4023360" cy="1600200"/>
          </a:xfrm>
          <a:prstGeom prst="roundRect">
            <a:avLst>
              <a:gd name="adj" fmla="val 4571"/>
            </a:avLst>
          </a:prstGeom>
          <a:solidFill>
            <a:srgbClr val="EEF2F7"/>
          </a:solidFill>
          <a:ln w="12700">
            <a:solidFill>
              <a:srgbClr val="EEF2F7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640080" y="1097280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089C2"/>
                </a:solidFill>
              </a:rPr>
              <a:t>Strengths</a:t>
            </a:r>
            <a:endParaRPr lang="en-US" sz="1500" dirty="0"/>
          </a:p>
        </p:txBody>
      </p:sp>
      <p:sp>
        <p:nvSpPr>
          <p:cNvPr id="5" name="Text 3"/>
          <p:cNvSpPr txBox="1"/>
          <p:nvPr/>
        </p:nvSpPr>
        <p:spPr>
          <a:xfrm>
            <a:off x="640080" y="1463040"/>
            <a:ext cx="36576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1100" dirty="0">
                <a:solidFill>
                  <a:srgbClr val="1B1F3B"/>
                </a:solidFill>
              </a:rPr>
              <a:t>Only turnkey offer: hybrid machine + chemistry + service</a:t>
            </a:r>
            <a:endParaRPr lang="en-US" sz="1100" dirty="0"/>
          </a:p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1100" dirty="0">
                <a:solidFill>
                  <a:srgbClr val="1B1F3B"/>
                </a:solidFill>
              </a:rPr>
              <a:t>CLT chemistry priced below premium brands</a:t>
            </a:r>
            <a:endParaRPr lang="en-US" sz="1100" dirty="0"/>
          </a:p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1100" dirty="0">
                <a:solidFill>
                  <a:srgbClr val="1B1F3B"/>
                </a:solidFill>
              </a:rPr>
              <a:t>Service in Mexico and the U.S.; own importer (CEB)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4663440" y="1005840"/>
            <a:ext cx="4023360" cy="1600200"/>
          </a:xfrm>
          <a:prstGeom prst="roundRect">
            <a:avLst>
              <a:gd name="adj" fmla="val 4571"/>
            </a:avLst>
          </a:prstGeom>
          <a:solidFill>
            <a:srgbClr val="EEF2F7"/>
          </a:solidFill>
          <a:ln w="12700">
            <a:solidFill>
              <a:srgbClr val="EEF2F7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4846320" y="1097280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7A8299"/>
                </a:solidFill>
              </a:rPr>
              <a:t>Weaknesses</a:t>
            </a:r>
            <a:endParaRPr lang="en-US" sz="1500" dirty="0"/>
          </a:p>
        </p:txBody>
      </p:sp>
      <p:sp>
        <p:nvSpPr>
          <p:cNvPr id="8" name="Text 6"/>
          <p:cNvSpPr txBox="1"/>
          <p:nvPr/>
        </p:nvSpPr>
        <p:spPr>
          <a:xfrm>
            <a:off x="4846320" y="1463040"/>
            <a:ext cx="36576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1100" dirty="0">
                <a:solidFill>
                  <a:srgbClr val="1B1F3B"/>
                </a:solidFill>
              </a:rPr>
              <a:t>CLT brand little known in Mexico</a:t>
            </a:r>
            <a:endParaRPr lang="en-US" sz="1100" dirty="0"/>
          </a:p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1100" dirty="0">
                <a:solidFill>
                  <a:srgbClr val="1B1F3B"/>
                </a:solidFill>
              </a:rPr>
              <a:t>No export-brand ink approvals yet</a:t>
            </a:r>
            <a:endParaRPr lang="en-US" sz="1100" dirty="0"/>
          </a:p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1100" dirty="0">
                <a:solidFill>
                  <a:srgbClr val="1B1F3B"/>
                </a:solidFill>
              </a:rPr>
              <a:t>Textile team still to be built</a:t>
            </a:r>
            <a:endParaRPr lang="en-US" sz="1100" dirty="0"/>
          </a:p>
        </p:txBody>
      </p:sp>
      <p:sp>
        <p:nvSpPr>
          <p:cNvPr id="9" name="Shape 7"/>
          <p:cNvSpPr/>
          <p:nvPr/>
        </p:nvSpPr>
        <p:spPr>
          <a:xfrm>
            <a:off x="457200" y="2743200"/>
            <a:ext cx="4023360" cy="1600200"/>
          </a:xfrm>
          <a:prstGeom prst="roundRect">
            <a:avLst>
              <a:gd name="adj" fmla="val 4571"/>
            </a:avLst>
          </a:prstGeom>
          <a:solidFill>
            <a:srgbClr val="EEF2F7"/>
          </a:solidFill>
          <a:ln w="12700">
            <a:solidFill>
              <a:srgbClr val="EEF2F7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640080" y="2834640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2E7D32"/>
                </a:solidFill>
              </a:rPr>
              <a:t>Opportunities</a:t>
            </a:r>
            <a:endParaRPr lang="en-US" sz="1500" dirty="0"/>
          </a:p>
        </p:txBody>
      </p:sp>
      <p:sp>
        <p:nvSpPr>
          <p:cNvPr id="11" name="Text 9"/>
          <p:cNvSpPr txBox="1"/>
          <p:nvPr/>
        </p:nvSpPr>
        <p:spPr>
          <a:xfrm>
            <a:off x="640080" y="3200400"/>
            <a:ext cx="36576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1100" dirty="0">
                <a:solidFill>
                  <a:srgbClr val="1B1F3B"/>
                </a:solidFill>
              </a:rPr>
              <a:t>2026 tariffs on Chinese apparel: more local production</a:t>
            </a:r>
            <a:endParaRPr lang="en-US" sz="1100" dirty="0"/>
          </a:p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1100" dirty="0">
                <a:solidFill>
                  <a:srgbClr val="1B1F3B"/>
                </a:solidFill>
              </a:rPr>
              <a:t>Export OEMs want high-value effects</a:t>
            </a:r>
            <a:endParaRPr lang="en-US" sz="1100" dirty="0"/>
          </a:p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1100" dirty="0">
                <a:solidFill>
                  <a:srgbClr val="1B1F3B"/>
                </a:solidFill>
              </a:rPr>
              <a:t>Few local suppliers of silicones and special effects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4663440" y="2743200"/>
            <a:ext cx="4023360" cy="1600200"/>
          </a:xfrm>
          <a:prstGeom prst="roundRect">
            <a:avLst>
              <a:gd name="adj" fmla="val 4571"/>
            </a:avLst>
          </a:prstGeom>
          <a:solidFill>
            <a:srgbClr val="EEF2F7"/>
          </a:solidFill>
          <a:ln w="12700">
            <a:solidFill>
              <a:srgbClr val="EEF2F7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4846320" y="2834640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C2185B"/>
                </a:solidFill>
              </a:rPr>
              <a:t>Threats</a:t>
            </a:r>
            <a:endParaRPr lang="en-US" sz="1500" dirty="0"/>
          </a:p>
        </p:txBody>
      </p:sp>
      <p:sp>
        <p:nvSpPr>
          <p:cNvPr id="14" name="Text 12"/>
          <p:cNvSpPr txBox="1"/>
          <p:nvPr/>
        </p:nvSpPr>
        <p:spPr>
          <a:xfrm>
            <a:off x="4846320" y="3200400"/>
            <a:ext cx="36576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1100" dirty="0">
                <a:solidFill>
                  <a:srgbClr val="1B1F3B"/>
                </a:solidFill>
              </a:rPr>
              <a:t>Avient tied to brands’ approved-ink lists</a:t>
            </a:r>
            <a:endParaRPr lang="en-US" sz="1100" dirty="0"/>
          </a:p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1100" dirty="0">
                <a:solidFill>
                  <a:srgbClr val="1B1F3B"/>
                </a:solidFill>
              </a:rPr>
              <a:t>Low prices from ScreenTec and Mexican budget brands</a:t>
            </a:r>
            <a:endParaRPr lang="en-US" sz="1100" dirty="0"/>
          </a:p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1100" dirty="0">
                <a:solidFill>
                  <a:srgbClr val="1B1F3B"/>
                </a:solidFill>
              </a:rPr>
              <a:t>DTF in short runs</a:t>
            </a:r>
            <a:endParaRPr lang="en-US" sz="1100" dirty="0"/>
          </a:p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1100" dirty="0">
                <a:solidFill>
                  <a:srgbClr val="1B1F3B"/>
                </a:solidFill>
              </a:rPr>
              <a:t>Tariffs on Chinese inputs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800600"/>
            <a:ext cx="45720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7A8299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19</a:t>
            </a:fld>
            <a:endParaRPr lang="en-US"/>
          </a:p>
        </p:txBody>
      </p:sp>
    </p:spTree>
  </p:cSld>
  <p:clrMapOvr>
    <a:masterClrMapping/>
  </p:clrMapOvr>
  <p:transition spd="med">
    <p:fade/>
  </p:transition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82296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chemeClr val="tx1"/>
                </a:solidFill>
              </a:rPr>
              <a:t>Import and regulation</a:t>
            </a:r>
            <a:endParaRPr lang="en-US" sz="2600" dirty="0"/>
          </a:p>
        </p:txBody>
      </p:sp>
      <p:sp>
        <p:nvSpPr>
          <p:cNvPr id="3" name="Shape 1"/>
          <p:cNvSpPr/>
          <p:nvPr/>
        </p:nvSpPr>
        <p:spPr>
          <a:xfrm>
            <a:off x="457200" y="1097280"/>
            <a:ext cx="4023360" cy="1417320"/>
          </a:xfrm>
          <a:prstGeom prst="roundRect">
            <a:avLst>
              <a:gd name="adj" fmla="val 5161"/>
            </a:avLst>
          </a:prstGeom>
          <a:solidFill>
            <a:srgbClr val="EEF2F7"/>
          </a:solidFill>
          <a:ln w="12700">
            <a:solidFill>
              <a:srgbClr val="EEF2F7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640080" y="1280160"/>
            <a:ext cx="384048" cy="384048"/>
          </a:xfrm>
          <a:prstGeom prst="ellipse">
            <a:avLst/>
          </a:prstGeom>
          <a:solidFill>
            <a:srgbClr val="0089C2"/>
          </a:solidFill>
          <a:ln w="12700">
            <a:solidFill>
              <a:srgbClr val="0089C2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40080" y="128016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</a:rPr>
              <a:t>1</a:t>
            </a:r>
            <a:endParaRPr lang="en-US" sz="1300" dirty="0"/>
          </a:p>
        </p:txBody>
      </p:sp>
      <p:sp>
        <p:nvSpPr>
          <p:cNvPr id="6" name="Text 4"/>
          <p:cNvSpPr txBox="1"/>
          <p:nvPr/>
        </p:nvSpPr>
        <p:spPr>
          <a:xfrm>
            <a:off x="1188720" y="1280160"/>
            <a:ext cx="31089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CEB imports</a:t>
            </a:r>
            <a:endParaRPr lang="en-US" sz="1600" dirty="0"/>
          </a:p>
        </p:txBody>
      </p:sp>
      <p:sp>
        <p:nvSpPr>
          <p:cNvPr id="7" name="Text 5"/>
          <p:cNvSpPr txBox="1"/>
          <p:nvPr/>
        </p:nvSpPr>
        <p:spPr>
          <a:xfrm>
            <a:off x="640080" y="1783080"/>
            <a:ext cx="36576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tx2"/>
                </a:solidFill>
              </a:rPr>
              <a:t>Group company incorporated in Mexico; direct China → Mexico shipping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4663440" y="1097280"/>
            <a:ext cx="4023360" cy="1417320"/>
          </a:xfrm>
          <a:prstGeom prst="roundRect">
            <a:avLst>
              <a:gd name="adj" fmla="val 5161"/>
            </a:avLst>
          </a:prstGeom>
          <a:solidFill>
            <a:srgbClr val="EEF2F7"/>
          </a:solidFill>
          <a:ln w="12700">
            <a:solidFill>
              <a:srgbClr val="EEF2F7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4846320" y="1280160"/>
            <a:ext cx="384048" cy="384048"/>
          </a:xfrm>
          <a:prstGeom prst="ellipse">
            <a:avLst/>
          </a:prstGeom>
          <a:solidFill>
            <a:srgbClr val="C2185B"/>
          </a:solidFill>
          <a:ln w="12700">
            <a:solidFill>
              <a:srgbClr val="C2185B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4846320" y="128016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</a:rPr>
              <a:t>2</a:t>
            </a:r>
            <a:endParaRPr lang="en-US" sz="1300" dirty="0"/>
          </a:p>
        </p:txBody>
      </p:sp>
      <p:sp>
        <p:nvSpPr>
          <p:cNvPr id="11" name="Text 9"/>
          <p:cNvSpPr txBox="1"/>
          <p:nvPr/>
        </p:nvSpPr>
        <p:spPr>
          <a:xfrm>
            <a:off x="5394960" y="1280160"/>
            <a:ext cx="31089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2026 tariffs</a:t>
            </a:r>
            <a:endParaRPr lang="en-US" sz="1600" dirty="0"/>
          </a:p>
        </p:txBody>
      </p:sp>
      <p:sp>
        <p:nvSpPr>
          <p:cNvPr id="12" name="Text 10"/>
          <p:cNvSpPr txBox="1"/>
          <p:nvPr/>
        </p:nvSpPr>
        <p:spPr>
          <a:xfrm>
            <a:off x="4846320" y="1783080"/>
            <a:ext cx="36576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tx2"/>
                </a:solidFill>
              </a:rPr>
              <a:t>5–50% on non-FTA countries; confirm lines 8443, 3215 and 3910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457200" y="2697480"/>
            <a:ext cx="4023360" cy="1417320"/>
          </a:xfrm>
          <a:prstGeom prst="roundRect">
            <a:avLst>
              <a:gd name="adj" fmla="val 5161"/>
            </a:avLst>
          </a:prstGeom>
          <a:solidFill>
            <a:srgbClr val="EEF2F7"/>
          </a:solidFill>
          <a:ln w="12700">
            <a:solidFill>
              <a:srgbClr val="EEF2F7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640080" y="2880360"/>
            <a:ext cx="384048" cy="384048"/>
          </a:xfrm>
          <a:prstGeom prst="ellipse">
            <a:avLst/>
          </a:prstGeom>
          <a:solidFill>
            <a:srgbClr val="F2B705"/>
          </a:solidFill>
          <a:ln w="12700">
            <a:solidFill>
              <a:srgbClr val="F2B705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640080" y="288036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B1F3B"/>
                </a:solidFill>
              </a:rPr>
              <a:t>3</a:t>
            </a:r>
            <a:endParaRPr lang="en-US" sz="1300" dirty="0"/>
          </a:p>
        </p:txBody>
      </p:sp>
      <p:sp>
        <p:nvSpPr>
          <p:cNvPr id="16" name="Text 14"/>
          <p:cNvSpPr txBox="1"/>
          <p:nvPr/>
        </p:nvSpPr>
        <p:spPr>
          <a:xfrm>
            <a:off x="1188720" y="2880360"/>
            <a:ext cx="31089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16% VAT</a:t>
            </a:r>
            <a:endParaRPr lang="en-US" sz="1600" dirty="0"/>
          </a:p>
        </p:txBody>
      </p:sp>
      <p:sp>
        <p:nvSpPr>
          <p:cNvPr id="17" name="Text 15"/>
          <p:cNvSpPr txBox="1"/>
          <p:nvPr/>
        </p:nvSpPr>
        <p:spPr>
          <a:xfrm>
            <a:off x="640080" y="3383280"/>
            <a:ext cx="36576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tx2"/>
                </a:solidFill>
              </a:rPr>
              <a:t>Creditable: affects cash flow, not cost</a:t>
            </a:r>
            <a:endParaRPr lang="en-US" sz="1200" dirty="0"/>
          </a:p>
        </p:txBody>
      </p:sp>
      <p:sp>
        <p:nvSpPr>
          <p:cNvPr id="18" name="Shape 16"/>
          <p:cNvSpPr/>
          <p:nvPr/>
        </p:nvSpPr>
        <p:spPr>
          <a:xfrm>
            <a:off x="4663440" y="2697480"/>
            <a:ext cx="4023360" cy="1417320"/>
          </a:xfrm>
          <a:prstGeom prst="roundRect">
            <a:avLst>
              <a:gd name="adj" fmla="val 5161"/>
            </a:avLst>
          </a:prstGeom>
          <a:solidFill>
            <a:srgbClr val="EEF2F7"/>
          </a:solidFill>
          <a:ln w="12700">
            <a:solidFill>
              <a:srgbClr val="EEF2F7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4846320" y="2880360"/>
            <a:ext cx="384048" cy="384048"/>
          </a:xfrm>
          <a:prstGeom prst="ellipse">
            <a:avLst/>
          </a:prstGeom>
          <a:solidFill>
            <a:srgbClr val="1B1F3B"/>
          </a:solidFill>
          <a:ln w="12700">
            <a:solidFill>
              <a:srgbClr val="1B1F3B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4846320" y="288036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</a:rPr>
              <a:t>4</a:t>
            </a:r>
            <a:endParaRPr lang="en-US" sz="1300" dirty="0"/>
          </a:p>
        </p:txBody>
      </p:sp>
      <p:sp>
        <p:nvSpPr>
          <p:cNvPr id="21" name="Text 19"/>
          <p:cNvSpPr txBox="1"/>
          <p:nvPr/>
        </p:nvSpPr>
        <p:spPr>
          <a:xfrm>
            <a:off x="5394960" y="2880360"/>
            <a:ext cx="31089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USMCA</a:t>
            </a:r>
            <a:endParaRPr lang="en-US" sz="1600" dirty="0"/>
          </a:p>
        </p:txBody>
      </p:sp>
      <p:sp>
        <p:nvSpPr>
          <p:cNvPr id="22" name="Text 20"/>
          <p:cNvSpPr txBox="1"/>
          <p:nvPr/>
        </p:nvSpPr>
        <p:spPr>
          <a:xfrm>
            <a:off x="4846320" y="3383280"/>
            <a:ext cx="36576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tx2"/>
                </a:solidFill>
              </a:rPr>
              <a:t>Maquiladoras require OEKO-TEX and fast response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800600"/>
            <a:ext cx="45720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7A8299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20</a:t>
            </a:fld>
            <a:endParaRPr lang="en-US"/>
          </a:p>
        </p:txBody>
      </p:sp>
    </p:spTree>
  </p:cSld>
  <p:clrMapOvr>
    <a:masterClrMapping/>
  </p:clrMapOvr>
  <p:transition spd="med">
    <p:fade/>
  </p:transition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1097280"/>
            <a:ext cx="27432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000" b="1" dirty="0">
                <a:solidFill>
                  <a:schemeClr val="accent3"/>
                </a:solidFill>
              </a:rPr>
              <a:t>03</a:t>
            </a:r>
            <a:endParaRPr lang="en-US" sz="6000" dirty="0"/>
          </a:p>
        </p:txBody>
      </p:sp>
      <p:sp>
        <p:nvSpPr>
          <p:cNvPr id="3" name="Text 0"/>
          <p:cNvSpPr/>
          <p:nvPr>
            <p:ph idx="100" type="title" hasCustomPrompt="1"/>
          </p:nvPr>
        </p:nvSpPr>
        <p:spPr>
          <a:xfrm>
            <a:off x="548640" y="2103120"/>
            <a:ext cx="8046720" cy="914400"/>
          </a:xfrm>
          <a:prstGeom prst="rect">
            <a:avLst/>
          </a:prstGeom>
          <a:noFill/>
          <a:ln/>
        </p:spPr>
        <p:txBody>
          <a:bodyPr wrap="square" rtlCol="0"/>
          <a:lstStyle/>
          <a:p>
            <a:pPr algn="l" indent="0" marL="0">
              <a:buNone/>
            </a:pPr>
            <a:r>
              <a:rPr lang="en-US" sz="3600" b="1" dirty="0">
                <a:solidFill>
                  <a:schemeClr val="bg1"/>
                </a:solidFill>
              </a:rPr>
              <a:t>Why TID · VSP · CEB</a:t>
            </a:r>
            <a:endParaRPr lang="en-US" sz="3600" dirty="0"/>
          </a:p>
        </p:txBody>
      </p:sp>
      <p:sp>
        <p:nvSpPr>
          <p:cNvPr id="4" name="cmyk-dot"/>
          <p:cNvSpPr/>
          <p:nvPr/>
        </p:nvSpPr>
        <p:spPr>
          <a:xfrm>
            <a:off x="594360" y="3246120"/>
            <a:ext cx="164592" cy="164592"/>
          </a:xfrm>
          <a:prstGeom prst="ellipse">
            <a:avLst/>
          </a:prstGeom>
          <a:solidFill>
            <a:srgbClr val="0089C2"/>
          </a:solidFill>
          <a:ln w="12700">
            <a:solidFill>
              <a:srgbClr val="0089C2"/>
            </a:solidFill>
            <a:prstDash val="solid"/>
          </a:ln>
        </p:spPr>
      </p:sp>
      <p:sp>
        <p:nvSpPr>
          <p:cNvPr id="5" name="cmyk-dot"/>
          <p:cNvSpPr/>
          <p:nvPr/>
        </p:nvSpPr>
        <p:spPr>
          <a:xfrm>
            <a:off x="832104" y="3246120"/>
            <a:ext cx="164592" cy="164592"/>
          </a:xfrm>
          <a:prstGeom prst="ellipse">
            <a:avLst/>
          </a:prstGeom>
          <a:solidFill>
            <a:srgbClr val="C2185B"/>
          </a:solidFill>
          <a:ln w="12700">
            <a:solidFill>
              <a:srgbClr val="C2185B"/>
            </a:solidFill>
            <a:prstDash val="solid"/>
          </a:ln>
        </p:spPr>
      </p:sp>
      <p:sp>
        <p:nvSpPr>
          <p:cNvPr id="6" name="cmyk-dot"/>
          <p:cNvSpPr/>
          <p:nvPr/>
        </p:nvSpPr>
        <p:spPr>
          <a:xfrm>
            <a:off x="1069848" y="3246120"/>
            <a:ext cx="164592" cy="164592"/>
          </a:xfrm>
          <a:prstGeom prst="ellipse">
            <a:avLst/>
          </a:prstGeom>
          <a:solidFill>
            <a:srgbClr val="F2B705"/>
          </a:solidFill>
          <a:ln w="12700">
            <a:solidFill>
              <a:srgbClr val="F2B705"/>
            </a:solidFill>
            <a:prstDash val="solid"/>
          </a:ln>
        </p:spPr>
      </p:sp>
      <p:sp>
        <p:nvSpPr>
          <p:cNvPr id="7" name="cmyk-dot"/>
          <p:cNvSpPr/>
          <p:nvPr/>
        </p:nvSpPr>
        <p:spPr>
          <a:xfrm>
            <a:off x="1307592" y="3246120"/>
            <a:ext cx="164592" cy="164592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</p:spTree>
  </p:cSld>
  <p:clrMapOvr>
    <a:masterClrMapping/>
  </p:clrMapOvr>
  <p:transition spd="med">
    <p:fade/>
  </p:transition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82296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chemeClr val="tx1"/>
                </a:solidFill>
              </a:rPr>
              <a:t>A group present in Mexico and the U.S.</a:t>
            </a:r>
            <a:endParaRPr lang="en-US" sz="2600" dirty="0"/>
          </a:p>
        </p:txBody>
      </p:sp>
      <p:sp>
        <p:nvSpPr>
          <p:cNvPr id="3" name="Shape 1"/>
          <p:cNvSpPr/>
          <p:nvPr/>
        </p:nvSpPr>
        <p:spPr>
          <a:xfrm>
            <a:off x="457200" y="1097280"/>
            <a:ext cx="2606040" cy="2743200"/>
          </a:xfrm>
          <a:prstGeom prst="roundRect">
            <a:avLst>
              <a:gd name="adj" fmla="val 2807"/>
            </a:avLst>
          </a:prstGeom>
          <a:solidFill>
            <a:srgbClr val="EEF2F7"/>
          </a:solidFill>
          <a:ln w="12700">
            <a:solidFill>
              <a:srgbClr val="EEF2F7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640080" y="1280160"/>
            <a:ext cx="457200" cy="457200"/>
          </a:xfrm>
          <a:prstGeom prst="ellipse">
            <a:avLst/>
          </a:prstGeom>
          <a:solidFill>
            <a:srgbClr val="0089C2"/>
          </a:solidFill>
          <a:ln w="12700">
            <a:solidFill>
              <a:srgbClr val="0089C2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40080" y="1874520"/>
            <a:ext cx="22860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chemeClr val="tx1"/>
                </a:solidFill>
              </a:rPr>
              <a:t>TID México</a:t>
            </a:r>
            <a:endParaRPr lang="en-US" sz="1800" dirty="0"/>
          </a:p>
        </p:txBody>
      </p:sp>
      <p:sp>
        <p:nvSpPr>
          <p:cNvPr id="6" name="Text 4"/>
          <p:cNvSpPr txBox="1"/>
          <p:nvPr/>
        </p:nvSpPr>
        <p:spPr>
          <a:xfrm>
            <a:off x="640080" y="2286000"/>
            <a:ext cx="2286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chemeClr val="accent1"/>
                </a:solidFill>
              </a:rPr>
              <a:t>Querétaro</a:t>
            </a:r>
            <a:endParaRPr lang="en-US" sz="1200" dirty="0"/>
          </a:p>
        </p:txBody>
      </p:sp>
      <p:sp>
        <p:nvSpPr>
          <p:cNvPr id="7" name="Text 5"/>
          <p:cNvSpPr txBox="1"/>
          <p:nvPr/>
        </p:nvSpPr>
        <p:spPr>
          <a:xfrm>
            <a:off x="640080" y="2697480"/>
            <a:ext cx="228600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tx2"/>
                </a:solidFill>
              </a:rPr>
              <a:t>12 years in industrial decoration. Sales, installation and service in Mexico. 2 technicians.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3246120" y="1097280"/>
            <a:ext cx="2606040" cy="2743200"/>
          </a:xfrm>
          <a:prstGeom prst="roundRect">
            <a:avLst>
              <a:gd name="adj" fmla="val 2807"/>
            </a:avLst>
          </a:prstGeom>
          <a:solidFill>
            <a:srgbClr val="EEF2F7"/>
          </a:solidFill>
          <a:ln w="12700">
            <a:solidFill>
              <a:srgbClr val="EEF2F7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3429000" y="1280160"/>
            <a:ext cx="457200" cy="457200"/>
          </a:xfrm>
          <a:prstGeom prst="ellipse">
            <a:avLst/>
          </a:prstGeom>
          <a:solidFill>
            <a:srgbClr val="C2185B"/>
          </a:solidFill>
          <a:ln w="12700">
            <a:solidFill>
              <a:srgbClr val="C2185B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3429000" y="1874520"/>
            <a:ext cx="22860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chemeClr val="tx1"/>
                </a:solidFill>
              </a:rPr>
              <a:t>VSP Printing</a:t>
            </a:r>
            <a:endParaRPr lang="en-US" sz="1800" dirty="0"/>
          </a:p>
        </p:txBody>
      </p:sp>
      <p:sp>
        <p:nvSpPr>
          <p:cNvPr id="11" name="Text 9"/>
          <p:cNvSpPr txBox="1"/>
          <p:nvPr/>
        </p:nvSpPr>
        <p:spPr>
          <a:xfrm>
            <a:off x="3429000" y="2286000"/>
            <a:ext cx="2286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chemeClr val="accent1"/>
                </a:solidFill>
              </a:rPr>
              <a:t>Los Angeles, CA</a:t>
            </a:r>
            <a:endParaRPr lang="en-US" sz="1200" dirty="0"/>
          </a:p>
        </p:txBody>
      </p:sp>
      <p:sp>
        <p:nvSpPr>
          <p:cNvPr id="12" name="Text 10"/>
          <p:cNvSpPr txBox="1"/>
          <p:nvPr/>
        </p:nvSpPr>
        <p:spPr>
          <a:xfrm>
            <a:off x="3429000" y="2697480"/>
            <a:ext cx="228600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tx2"/>
                </a:solidFill>
              </a:rPr>
              <a:t>20+ years in industrial printing. U.S. service and technical backup. 1 technician.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6035040" y="1097280"/>
            <a:ext cx="2606040" cy="2743200"/>
          </a:xfrm>
          <a:prstGeom prst="roundRect">
            <a:avLst>
              <a:gd name="adj" fmla="val 2807"/>
            </a:avLst>
          </a:prstGeom>
          <a:solidFill>
            <a:srgbClr val="EEF2F7"/>
          </a:solidFill>
          <a:ln w="12700">
            <a:solidFill>
              <a:srgbClr val="EEF2F7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6217920" y="1280160"/>
            <a:ext cx="457200" cy="457200"/>
          </a:xfrm>
          <a:prstGeom prst="ellipse">
            <a:avLst/>
          </a:prstGeom>
          <a:solidFill>
            <a:srgbClr val="F2B705"/>
          </a:solidFill>
          <a:ln w="12700">
            <a:solidFill>
              <a:srgbClr val="F2B705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6217920" y="1874520"/>
            <a:ext cx="22860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chemeClr val="tx1"/>
                </a:solidFill>
              </a:rPr>
              <a:t>CEB</a:t>
            </a:r>
            <a:endParaRPr lang="en-US" sz="1800" dirty="0"/>
          </a:p>
        </p:txBody>
      </p:sp>
      <p:sp>
        <p:nvSpPr>
          <p:cNvPr id="16" name="Text 14"/>
          <p:cNvSpPr txBox="1"/>
          <p:nvPr/>
        </p:nvSpPr>
        <p:spPr>
          <a:xfrm>
            <a:off x="6217920" y="2286000"/>
            <a:ext cx="2286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chemeClr val="accent1"/>
                </a:solidFill>
              </a:rPr>
              <a:t>Mexico</a:t>
            </a:r>
            <a:endParaRPr lang="en-US" sz="1200" dirty="0"/>
          </a:p>
        </p:txBody>
      </p:sp>
      <p:sp>
        <p:nvSpPr>
          <p:cNvPr id="17" name="Text 15"/>
          <p:cNvSpPr txBox="1"/>
          <p:nvPr/>
        </p:nvSpPr>
        <p:spPr>
          <a:xfrm>
            <a:off x="6217920" y="2697480"/>
            <a:ext cx="228600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tx2"/>
                </a:solidFill>
              </a:rPr>
              <a:t>VSP subsidiary. Imports CLT equipment and supplies.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800600"/>
            <a:ext cx="45720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7A8299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22</a:t>
            </a:fld>
            <a:endParaRPr lang="en-US"/>
          </a:p>
        </p:txBody>
      </p:sp>
    </p:spTree>
  </p:cSld>
  <p:clrMapOvr>
    <a:masterClrMapping/>
  </p:clrMapOvr>
  <p:transition spd="med">
    <p:fade/>
  </p:transition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82296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chemeClr val="tx1"/>
                </a:solidFill>
              </a:rPr>
              <a:t>Strengths and how we close the gaps</a:t>
            </a:r>
            <a:endParaRPr lang="en-US" sz="2600" dirty="0"/>
          </a:p>
        </p:txBody>
      </p:sp>
      <p:sp>
        <p:nvSpPr>
          <p:cNvPr id="3" name="Shape 1"/>
          <p:cNvSpPr/>
          <p:nvPr/>
        </p:nvSpPr>
        <p:spPr>
          <a:xfrm>
            <a:off x="457200" y="1051560"/>
            <a:ext cx="4023360" cy="3337560"/>
          </a:xfrm>
          <a:prstGeom prst="roundRect">
            <a:avLst>
              <a:gd name="adj" fmla="val 2192"/>
            </a:avLst>
          </a:prstGeom>
          <a:solidFill>
            <a:srgbClr val="EEF2F7"/>
          </a:solidFill>
          <a:ln w="12700">
            <a:solidFill>
              <a:srgbClr val="EEF2F7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685800" y="1188720"/>
            <a:ext cx="35661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0089C2"/>
                </a:solidFill>
              </a:rPr>
              <a:t>What we bring</a:t>
            </a:r>
            <a:endParaRPr lang="en-US" sz="1700" dirty="0"/>
          </a:p>
        </p:txBody>
      </p:sp>
      <p:sp>
        <p:nvSpPr>
          <p:cNvPr id="5" name="Text 3"/>
          <p:cNvSpPr txBox="1"/>
          <p:nvPr/>
        </p:nvSpPr>
        <p:spPr>
          <a:xfrm>
            <a:off x="685800" y="1691640"/>
            <a:ext cx="3611880" cy="2560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1B1F3B"/>
                </a:solidFill>
              </a:rPr>
              <a:t>Same turnkey model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1B1F3B"/>
                </a:solidFill>
              </a:rPr>
              <a:t>Consumables-driven business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1B1F3B"/>
                </a:solidFill>
              </a:rPr>
              <a:t>Technical service in Spanish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1B1F3B"/>
                </a:solidFill>
              </a:rPr>
              <a:t>Mexico + U.S. coverage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1B1F3B"/>
                </a:solidFill>
              </a:rPr>
              <a:t>In-house importer (CEB)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4663440" y="1051560"/>
            <a:ext cx="4023360" cy="3337560"/>
          </a:xfrm>
          <a:prstGeom prst="roundRect">
            <a:avLst>
              <a:gd name="adj" fmla="val 2192"/>
            </a:avLst>
          </a:prstGeom>
          <a:solidFill>
            <a:srgbClr val="EEF2F7"/>
          </a:solidFill>
          <a:ln w="12700">
            <a:solidFill>
              <a:srgbClr val="EEF2F7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4892040" y="1188720"/>
            <a:ext cx="35661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C2185B"/>
                </a:solidFill>
              </a:rPr>
              <a:t>Gap → action</a:t>
            </a:r>
            <a:endParaRPr lang="en-US" sz="1700" dirty="0"/>
          </a:p>
        </p:txBody>
      </p:sp>
      <p:sp>
        <p:nvSpPr>
          <p:cNvPr id="8" name="Text 6"/>
          <p:cNvSpPr txBox="1"/>
          <p:nvPr/>
        </p:nvSpPr>
        <p:spPr>
          <a:xfrm>
            <a:off x="4892040" y="1691640"/>
            <a:ext cx="3611880" cy="2560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1B1F3B"/>
                </a:solidFill>
              </a:rPr>
              <a:t>Textile experience → dedicated textile division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1B1F3B"/>
                </a:solidFill>
              </a:rPr>
              <a:t>Textile chemistry → CLT certification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1B1F3B"/>
                </a:solidFill>
              </a:rPr>
              <a:t>3 technicians → +2 textile technicians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1B1F3B"/>
                </a:solidFill>
              </a:rPr>
              <a:t>Textile events → FESPA México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1B1F3B"/>
                </a:solidFill>
              </a:rPr>
              <a:t>Demonstration → showroom with hybrid line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800600"/>
            <a:ext cx="45720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7A8299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23</a:t>
            </a:fld>
            <a:endParaRPr lang="en-US"/>
          </a:p>
        </p:txBody>
      </p:sp>
    </p:spTree>
  </p:cSld>
  <p:clrMapOvr>
    <a:masterClrMapping/>
  </p:clrMapOvr>
  <p:transition spd="med">
    <p:fade/>
  </p:transition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82296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chemeClr val="tx1"/>
                </a:solidFill>
              </a:rPr>
              <a:t>Dedicated team and training</a:t>
            </a:r>
            <a:endParaRPr lang="en-US" sz="2600" dirty="0"/>
          </a:p>
        </p:txBody>
      </p:sp>
      <p:sp>
        <p:nvSpPr>
          <p:cNvPr id="3" name="Shape 1"/>
          <p:cNvSpPr/>
          <p:nvPr/>
        </p:nvSpPr>
        <p:spPr>
          <a:xfrm>
            <a:off x="457200" y="1051560"/>
            <a:ext cx="4206240" cy="960120"/>
          </a:xfrm>
          <a:prstGeom prst="roundRect">
            <a:avLst>
              <a:gd name="adj" fmla="val 7619"/>
            </a:avLst>
          </a:prstGeom>
          <a:solidFill>
            <a:srgbClr val="EEF2F7"/>
          </a:solidFill>
          <a:ln w="12700">
            <a:solidFill>
              <a:srgbClr val="EEF2F7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621792" y="1325880"/>
            <a:ext cx="411480" cy="411480"/>
          </a:xfrm>
          <a:prstGeom prst="ellipse">
            <a:avLst/>
          </a:prstGeom>
          <a:solidFill>
            <a:srgbClr val="0089C2"/>
          </a:solidFill>
          <a:ln w="12700">
            <a:solidFill>
              <a:srgbClr val="0089C2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21792" y="1325880"/>
            <a:ext cx="411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</a:rPr>
              <a:t>1</a:t>
            </a:r>
            <a:endParaRPr lang="en-US" sz="1300" dirty="0"/>
          </a:p>
        </p:txBody>
      </p:sp>
      <p:sp>
        <p:nvSpPr>
          <p:cNvPr id="6" name="Text 4"/>
          <p:cNvSpPr txBox="1"/>
          <p:nvPr/>
        </p:nvSpPr>
        <p:spPr>
          <a:xfrm>
            <a:off x="1188720" y="1143000"/>
            <a:ext cx="3337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Textile sales</a:t>
            </a:r>
            <a:endParaRPr lang="en-US" sz="1600" dirty="0"/>
          </a:p>
        </p:txBody>
      </p:sp>
      <p:sp>
        <p:nvSpPr>
          <p:cNvPr id="7" name="Text 5"/>
          <p:cNvSpPr txBox="1"/>
          <p:nvPr/>
        </p:nvSpPr>
        <p:spPr>
          <a:xfrm>
            <a:off x="1188720" y="1508760"/>
            <a:ext cx="33375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tx2"/>
                </a:solidFill>
              </a:rPr>
              <a:t>Prospecting, demos, turnkey quotes and closing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457200" y="2148840"/>
            <a:ext cx="4206240" cy="960120"/>
          </a:xfrm>
          <a:prstGeom prst="roundRect">
            <a:avLst>
              <a:gd name="adj" fmla="val 7619"/>
            </a:avLst>
          </a:prstGeom>
          <a:solidFill>
            <a:srgbClr val="EEF2F7"/>
          </a:solidFill>
          <a:ln w="12700">
            <a:solidFill>
              <a:srgbClr val="EEF2F7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621792" y="2423160"/>
            <a:ext cx="411480" cy="411480"/>
          </a:xfrm>
          <a:prstGeom prst="ellipse">
            <a:avLst/>
          </a:prstGeom>
          <a:solidFill>
            <a:srgbClr val="C2185B"/>
          </a:solidFill>
          <a:ln w="12700">
            <a:solidFill>
              <a:srgbClr val="C2185B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621792" y="2423160"/>
            <a:ext cx="411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</a:rPr>
              <a:t>2</a:t>
            </a:r>
            <a:endParaRPr lang="en-US" sz="1300" dirty="0"/>
          </a:p>
        </p:txBody>
      </p:sp>
      <p:sp>
        <p:nvSpPr>
          <p:cNvPr id="11" name="Text 9"/>
          <p:cNvSpPr txBox="1"/>
          <p:nvPr/>
        </p:nvSpPr>
        <p:spPr>
          <a:xfrm>
            <a:off x="1188720" y="2240280"/>
            <a:ext cx="3337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Customer service</a:t>
            </a:r>
            <a:endParaRPr lang="en-US" sz="1600" dirty="0"/>
          </a:p>
        </p:txBody>
      </p:sp>
      <p:sp>
        <p:nvSpPr>
          <p:cNvPr id="12" name="Text 10"/>
          <p:cNvSpPr txBox="1"/>
          <p:nvPr/>
        </p:nvSpPr>
        <p:spPr>
          <a:xfrm>
            <a:off x="1188720" y="2606040"/>
            <a:ext cx="33375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tx2"/>
                </a:solidFill>
              </a:rPr>
              <a:t>Consumables orders, after-sales, warranties and service scheduling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457200" y="3246120"/>
            <a:ext cx="4206240" cy="960120"/>
          </a:xfrm>
          <a:prstGeom prst="roundRect">
            <a:avLst>
              <a:gd name="adj" fmla="val 7619"/>
            </a:avLst>
          </a:prstGeom>
          <a:solidFill>
            <a:srgbClr val="EEF2F7"/>
          </a:solidFill>
          <a:ln w="12700">
            <a:solidFill>
              <a:srgbClr val="EEF2F7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621792" y="3520440"/>
            <a:ext cx="411480" cy="411480"/>
          </a:xfrm>
          <a:prstGeom prst="ellipse">
            <a:avLst/>
          </a:prstGeom>
          <a:solidFill>
            <a:srgbClr val="F2B705"/>
          </a:solidFill>
          <a:ln w="12700">
            <a:solidFill>
              <a:srgbClr val="F2B705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621792" y="3520440"/>
            <a:ext cx="411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B1F3B"/>
                </a:solidFill>
              </a:rPr>
              <a:t>3</a:t>
            </a:r>
            <a:endParaRPr lang="en-US" sz="1300" dirty="0"/>
          </a:p>
        </p:txBody>
      </p:sp>
      <p:sp>
        <p:nvSpPr>
          <p:cNvPr id="16" name="Text 14"/>
          <p:cNvSpPr txBox="1"/>
          <p:nvPr/>
        </p:nvSpPr>
        <p:spPr>
          <a:xfrm>
            <a:off x="1188720" y="3337560"/>
            <a:ext cx="3337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Textile technician</a:t>
            </a:r>
            <a:endParaRPr lang="en-US" sz="1600" dirty="0"/>
          </a:p>
        </p:txBody>
      </p:sp>
      <p:sp>
        <p:nvSpPr>
          <p:cNvPr id="17" name="Text 15"/>
          <p:cNvSpPr txBox="1"/>
          <p:nvPr/>
        </p:nvSpPr>
        <p:spPr>
          <a:xfrm>
            <a:off x="1188720" y="3703320"/>
            <a:ext cx="33375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tx2"/>
                </a:solidFill>
              </a:rPr>
              <a:t>Installation, maintenance and support; +1 technician in year 2</a:t>
            </a:r>
            <a:endParaRPr lang="en-US" sz="1200" dirty="0"/>
          </a:p>
        </p:txBody>
      </p:sp>
      <p:sp>
        <p:nvSpPr>
          <p:cNvPr id="18" name="Shape 16"/>
          <p:cNvSpPr/>
          <p:nvPr/>
        </p:nvSpPr>
        <p:spPr>
          <a:xfrm>
            <a:off x="4937760" y="1051560"/>
            <a:ext cx="3749040" cy="3154680"/>
          </a:xfrm>
          <a:prstGeom prst="roundRect">
            <a:avLst>
              <a:gd name="adj" fmla="val 2319"/>
            </a:avLst>
          </a:prstGeom>
          <a:solidFill>
            <a:srgbClr val="1B1F3B"/>
          </a:solidFill>
          <a:ln w="12700">
            <a:solidFill>
              <a:srgbClr val="1B1F3B"/>
            </a:solidFill>
            <a:prstDash val="solid"/>
          </a:ln>
        </p:spPr>
      </p:sp>
      <p:sp>
        <p:nvSpPr>
          <p:cNvPr id="19" name="Text 17"/>
          <p:cNvSpPr txBox="1"/>
          <p:nvPr/>
        </p:nvSpPr>
        <p:spPr>
          <a:xfrm>
            <a:off x="5166360" y="1188720"/>
            <a:ext cx="32918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F2B705"/>
                </a:solidFill>
              </a:rPr>
              <a:t>Training program</a:t>
            </a:r>
            <a:endParaRPr lang="en-US" sz="1700" dirty="0"/>
          </a:p>
        </p:txBody>
      </p:sp>
      <p:sp>
        <p:nvSpPr>
          <p:cNvPr id="20" name="Text 18"/>
          <p:cNvSpPr txBox="1"/>
          <p:nvPr/>
        </p:nvSpPr>
        <p:spPr>
          <a:xfrm>
            <a:off x="5166360" y="1691640"/>
            <a:ext cx="3337560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FFFFFF"/>
                </a:solidFill>
              </a:rPr>
              <a:t>Initial at CLT’s plant: machines, chemistry and certification</a:t>
            </a:r>
            <a:endParaRPr lang="en-US" sz="14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FFFFFF"/>
                </a:solidFill>
              </a:rPr>
              <a:t>Customers – machines: operation, calibration and maintenance</a:t>
            </a:r>
            <a:endParaRPr lang="en-US" sz="14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FFFFFF"/>
                </a:solidFill>
              </a:rPr>
              <a:t>Customers – products: silicones, pastes, curing and effects</a:t>
            </a:r>
            <a:endParaRPr lang="en-US" sz="14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FFFFFF"/>
                </a:solidFill>
              </a:rPr>
              <a:t>Ongoing updates with CLT engineers</a:t>
            </a:r>
            <a:endParaRPr lang="en-US" sz="1400" dirty="0"/>
          </a:p>
        </p:txBody>
      </p:sp>
      <p:sp>
        <p:nvSpPr>
          <p:cNvPr id="21" name="Text 19"/>
          <p:cNvSpPr txBox="1"/>
          <p:nvPr/>
        </p:nvSpPr>
        <p:spPr>
          <a:xfrm>
            <a:off x="457200" y="448056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chemeClr val="accent5"/>
                </a:solidFill>
              </a:rPr>
              <a:t>Existing support: 2 TID technicians, 1 VSP technician, CEB import and logistics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800600"/>
            <a:ext cx="45720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7A8299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24</a:t>
            </a:fld>
            <a:endParaRPr lang="en-US"/>
          </a:p>
        </p:txBody>
      </p:sp>
    </p:spTree>
  </p:cSld>
  <p:clrMapOvr>
    <a:masterClrMapping/>
  </p:clrMapOvr>
  <p:transition spd="med">
    <p:fade/>
  </p:transition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1097280"/>
            <a:ext cx="27432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000" b="1" dirty="0">
                <a:solidFill>
                  <a:schemeClr val="accent3"/>
                </a:solidFill>
              </a:rPr>
              <a:t>04</a:t>
            </a:r>
            <a:endParaRPr lang="en-US" sz="6000" dirty="0"/>
          </a:p>
        </p:txBody>
      </p:sp>
      <p:sp>
        <p:nvSpPr>
          <p:cNvPr id="3" name="Text 0"/>
          <p:cNvSpPr/>
          <p:nvPr>
            <p:ph idx="100" type="title" hasCustomPrompt="1"/>
          </p:nvPr>
        </p:nvSpPr>
        <p:spPr>
          <a:xfrm>
            <a:off x="548640" y="2103120"/>
            <a:ext cx="8046720" cy="914400"/>
          </a:xfrm>
          <a:prstGeom prst="rect">
            <a:avLst/>
          </a:prstGeom>
          <a:noFill/>
          <a:ln/>
        </p:spPr>
        <p:txBody>
          <a:bodyPr wrap="square" rtlCol="0"/>
          <a:lstStyle/>
          <a:p>
            <a:pPr algn="l" indent="0" marL="0">
              <a:buNone/>
            </a:pPr>
            <a:r>
              <a:rPr lang="en-US" sz="3600" b="1" dirty="0">
                <a:solidFill>
                  <a:schemeClr val="bg1"/>
                </a:solidFill>
              </a:rPr>
              <a:t>Plan and investment</a:t>
            </a:r>
            <a:endParaRPr lang="en-US" sz="3600" dirty="0"/>
          </a:p>
        </p:txBody>
      </p:sp>
      <p:sp>
        <p:nvSpPr>
          <p:cNvPr id="4" name="cmyk-dot"/>
          <p:cNvSpPr/>
          <p:nvPr/>
        </p:nvSpPr>
        <p:spPr>
          <a:xfrm>
            <a:off x="594360" y="3246120"/>
            <a:ext cx="164592" cy="164592"/>
          </a:xfrm>
          <a:prstGeom prst="ellipse">
            <a:avLst/>
          </a:prstGeom>
          <a:solidFill>
            <a:srgbClr val="0089C2"/>
          </a:solidFill>
          <a:ln w="12700">
            <a:solidFill>
              <a:srgbClr val="0089C2"/>
            </a:solidFill>
            <a:prstDash val="solid"/>
          </a:ln>
        </p:spPr>
      </p:sp>
      <p:sp>
        <p:nvSpPr>
          <p:cNvPr id="5" name="cmyk-dot"/>
          <p:cNvSpPr/>
          <p:nvPr/>
        </p:nvSpPr>
        <p:spPr>
          <a:xfrm>
            <a:off x="832104" y="3246120"/>
            <a:ext cx="164592" cy="164592"/>
          </a:xfrm>
          <a:prstGeom prst="ellipse">
            <a:avLst/>
          </a:prstGeom>
          <a:solidFill>
            <a:srgbClr val="C2185B"/>
          </a:solidFill>
          <a:ln w="12700">
            <a:solidFill>
              <a:srgbClr val="C2185B"/>
            </a:solidFill>
            <a:prstDash val="solid"/>
          </a:ln>
        </p:spPr>
      </p:sp>
      <p:sp>
        <p:nvSpPr>
          <p:cNvPr id="6" name="cmyk-dot"/>
          <p:cNvSpPr/>
          <p:nvPr/>
        </p:nvSpPr>
        <p:spPr>
          <a:xfrm>
            <a:off x="1069848" y="3246120"/>
            <a:ext cx="164592" cy="164592"/>
          </a:xfrm>
          <a:prstGeom prst="ellipse">
            <a:avLst/>
          </a:prstGeom>
          <a:solidFill>
            <a:srgbClr val="F2B705"/>
          </a:solidFill>
          <a:ln w="12700">
            <a:solidFill>
              <a:srgbClr val="F2B705"/>
            </a:solidFill>
            <a:prstDash val="solid"/>
          </a:ln>
        </p:spPr>
      </p:sp>
      <p:sp>
        <p:nvSpPr>
          <p:cNvPr id="7" name="cmyk-dot"/>
          <p:cNvSpPr/>
          <p:nvPr/>
        </p:nvSpPr>
        <p:spPr>
          <a:xfrm>
            <a:off x="1307592" y="3246120"/>
            <a:ext cx="164592" cy="164592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</p:spTree>
  </p:cSld>
  <p:clrMapOvr>
    <a:masterClrMapping/>
  </p:clrMapOvr>
  <p:transition spd="med">
    <p:fade/>
  </p:transition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82296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chemeClr val="tx1"/>
                </a:solidFill>
              </a:rPr>
              <a:t>A four-phase commercial plan</a:t>
            </a:r>
            <a:endParaRPr lang="en-US" sz="2600" dirty="0"/>
          </a:p>
        </p:txBody>
      </p:sp>
      <p:sp>
        <p:nvSpPr>
          <p:cNvPr id="3" name="Shape 1"/>
          <p:cNvSpPr/>
          <p:nvPr/>
        </p:nvSpPr>
        <p:spPr>
          <a:xfrm>
            <a:off x="731520" y="1691640"/>
            <a:ext cx="7680960" cy="0"/>
          </a:xfrm>
          <a:prstGeom prst="line">
            <a:avLst/>
          </a:prstGeom>
          <a:noFill/>
          <a:ln w="25400">
            <a:solidFill>
              <a:srgbClr val="7A8299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548640" y="1463040"/>
            <a:ext cx="457200" cy="457200"/>
          </a:xfrm>
          <a:prstGeom prst="ellipse">
            <a:avLst/>
          </a:prstGeom>
          <a:solidFill>
            <a:srgbClr val="0089C2"/>
          </a:solidFill>
          <a:ln w="12700">
            <a:solidFill>
              <a:srgbClr val="0089C2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548640" y="146304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</a:rPr>
              <a:t>1</a:t>
            </a:r>
            <a:endParaRPr lang="en-US" sz="1300" dirty="0"/>
          </a:p>
        </p:txBody>
      </p:sp>
      <p:sp>
        <p:nvSpPr>
          <p:cNvPr id="6" name="Text 4"/>
          <p:cNvSpPr txBox="1"/>
          <p:nvPr/>
        </p:nvSpPr>
        <p:spPr>
          <a:xfrm>
            <a:off x="457200" y="2057400"/>
            <a:ext cx="19202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chemeClr val="accent1"/>
                </a:solidFill>
              </a:rPr>
              <a:t>Months 0–6</a:t>
            </a:r>
            <a:endParaRPr lang="en-US" sz="1200" dirty="0"/>
          </a:p>
        </p:txBody>
      </p:sp>
      <p:sp>
        <p:nvSpPr>
          <p:cNvPr id="7" name="Text 5"/>
          <p:cNvSpPr txBox="1"/>
          <p:nvPr/>
        </p:nvSpPr>
        <p:spPr>
          <a:xfrm>
            <a:off x="457200" y="2377440"/>
            <a:ext cx="19202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chemeClr val="tx1"/>
                </a:solidFill>
              </a:rPr>
              <a:t>Launch</a:t>
            </a:r>
            <a:endParaRPr lang="en-US" sz="1700" dirty="0"/>
          </a:p>
        </p:txBody>
      </p:sp>
      <p:sp>
        <p:nvSpPr>
          <p:cNvPr id="8" name="Text 6"/>
          <p:cNvSpPr txBox="1"/>
          <p:nvPr/>
        </p:nvSpPr>
        <p:spPr>
          <a:xfrm>
            <a:off x="457200" y="2834640"/>
            <a:ext cx="192024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tx2"/>
                </a:solidFill>
              </a:rPr>
              <a:t>Agreement, hiring, training, consumables, FESPA</a:t>
            </a:r>
            <a:endParaRPr lang="en-US" sz="1200" dirty="0"/>
          </a:p>
        </p:txBody>
      </p:sp>
      <p:sp>
        <p:nvSpPr>
          <p:cNvPr id="9" name="Shape 7"/>
          <p:cNvSpPr/>
          <p:nvPr/>
        </p:nvSpPr>
        <p:spPr>
          <a:xfrm>
            <a:off x="2651760" y="1463040"/>
            <a:ext cx="457200" cy="457200"/>
          </a:xfrm>
          <a:prstGeom prst="ellipse">
            <a:avLst/>
          </a:prstGeom>
          <a:solidFill>
            <a:srgbClr val="C2185B"/>
          </a:solidFill>
          <a:ln w="12700">
            <a:solidFill>
              <a:srgbClr val="C2185B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2651760" y="146304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</a:rPr>
              <a:t>2</a:t>
            </a:r>
            <a:endParaRPr lang="en-US" sz="1300" dirty="0"/>
          </a:p>
        </p:txBody>
      </p:sp>
      <p:sp>
        <p:nvSpPr>
          <p:cNvPr id="11" name="Text 9"/>
          <p:cNvSpPr txBox="1"/>
          <p:nvPr/>
        </p:nvSpPr>
        <p:spPr>
          <a:xfrm>
            <a:off x="2560320" y="2057400"/>
            <a:ext cx="19202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chemeClr val="accent1"/>
                </a:solidFill>
              </a:rPr>
              <a:t>Months 6–18</a:t>
            </a:r>
            <a:endParaRPr lang="en-US" sz="1200" dirty="0"/>
          </a:p>
        </p:txBody>
      </p:sp>
      <p:sp>
        <p:nvSpPr>
          <p:cNvPr id="12" name="Text 10"/>
          <p:cNvSpPr txBox="1"/>
          <p:nvPr/>
        </p:nvSpPr>
        <p:spPr>
          <a:xfrm>
            <a:off x="2560320" y="2377440"/>
            <a:ext cx="19202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chemeClr val="tx1"/>
                </a:solidFill>
              </a:rPr>
              <a:t>Demonstration</a:t>
            </a:r>
            <a:endParaRPr lang="en-US" sz="1700" dirty="0"/>
          </a:p>
        </p:txBody>
      </p:sp>
      <p:sp>
        <p:nvSpPr>
          <p:cNvPr id="13" name="Text 11"/>
          <p:cNvSpPr txBox="1"/>
          <p:nvPr/>
        </p:nvSpPr>
        <p:spPr>
          <a:xfrm>
            <a:off x="2560320" y="2834640"/>
            <a:ext cx="192024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tx2"/>
                </a:solidFill>
              </a:rPr>
              <a:t>Demo showroom, first 2–5 lines</a:t>
            </a:r>
            <a:endParaRPr lang="en-US" sz="1200" dirty="0"/>
          </a:p>
        </p:txBody>
      </p:sp>
      <p:sp>
        <p:nvSpPr>
          <p:cNvPr id="14" name="Shape 12"/>
          <p:cNvSpPr/>
          <p:nvPr/>
        </p:nvSpPr>
        <p:spPr>
          <a:xfrm>
            <a:off x="4754880" y="1463040"/>
            <a:ext cx="457200" cy="457200"/>
          </a:xfrm>
          <a:prstGeom prst="ellipse">
            <a:avLst/>
          </a:prstGeom>
          <a:solidFill>
            <a:srgbClr val="F2B705"/>
          </a:solidFill>
          <a:ln w="12700">
            <a:solidFill>
              <a:srgbClr val="F2B705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4754880" y="146304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B1F3B"/>
                </a:solidFill>
              </a:rPr>
              <a:t>3</a:t>
            </a:r>
            <a:endParaRPr lang="en-US" sz="1300" dirty="0"/>
          </a:p>
        </p:txBody>
      </p:sp>
      <p:sp>
        <p:nvSpPr>
          <p:cNvPr id="16" name="Text 14"/>
          <p:cNvSpPr txBox="1"/>
          <p:nvPr/>
        </p:nvSpPr>
        <p:spPr>
          <a:xfrm>
            <a:off x="4663440" y="2057400"/>
            <a:ext cx="19202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chemeClr val="accent1"/>
                </a:solidFill>
              </a:rPr>
              <a:t>Months 18–36</a:t>
            </a:r>
            <a:endParaRPr lang="en-US" sz="1200" dirty="0"/>
          </a:p>
        </p:txBody>
      </p:sp>
      <p:sp>
        <p:nvSpPr>
          <p:cNvPr id="17" name="Text 15"/>
          <p:cNvSpPr txBox="1"/>
          <p:nvPr/>
        </p:nvSpPr>
        <p:spPr>
          <a:xfrm>
            <a:off x="4663440" y="2377440"/>
            <a:ext cx="19202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chemeClr val="tx1"/>
                </a:solidFill>
              </a:rPr>
              <a:t>Scale</a:t>
            </a:r>
            <a:endParaRPr lang="en-US" sz="1700" dirty="0"/>
          </a:p>
        </p:txBody>
      </p:sp>
      <p:sp>
        <p:nvSpPr>
          <p:cNvPr id="18" name="Text 16"/>
          <p:cNvSpPr txBox="1"/>
          <p:nvPr/>
        </p:nvSpPr>
        <p:spPr>
          <a:xfrm>
            <a:off x="4663440" y="2834640"/>
            <a:ext cx="192024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tx2"/>
                </a:solidFill>
              </a:rPr>
              <a:t>Priority clusters, U.S. via VSP</a:t>
            </a:r>
            <a:endParaRPr lang="en-US" sz="1200" dirty="0"/>
          </a:p>
        </p:txBody>
      </p:sp>
      <p:sp>
        <p:nvSpPr>
          <p:cNvPr id="19" name="Shape 17"/>
          <p:cNvSpPr/>
          <p:nvPr/>
        </p:nvSpPr>
        <p:spPr>
          <a:xfrm>
            <a:off x="6858000" y="1463040"/>
            <a:ext cx="457200" cy="457200"/>
          </a:xfrm>
          <a:prstGeom prst="ellipse">
            <a:avLst/>
          </a:prstGeom>
          <a:solidFill>
            <a:srgbClr val="1B1F3B"/>
          </a:solidFill>
          <a:ln w="12700">
            <a:solidFill>
              <a:srgbClr val="1B1F3B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6858000" y="146304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</a:rPr>
              <a:t>4</a:t>
            </a:r>
            <a:endParaRPr lang="en-US" sz="1300" dirty="0"/>
          </a:p>
        </p:txBody>
      </p:sp>
      <p:sp>
        <p:nvSpPr>
          <p:cNvPr id="21" name="Text 19"/>
          <p:cNvSpPr txBox="1"/>
          <p:nvPr/>
        </p:nvSpPr>
        <p:spPr>
          <a:xfrm>
            <a:off x="6766560" y="2057400"/>
            <a:ext cx="19202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chemeClr val="accent1"/>
                </a:solidFill>
              </a:rPr>
              <a:t>Year 3+</a:t>
            </a:r>
            <a:endParaRPr lang="en-US" sz="1200" dirty="0"/>
          </a:p>
        </p:txBody>
      </p:sp>
      <p:sp>
        <p:nvSpPr>
          <p:cNvPr id="22" name="Text 20"/>
          <p:cNvSpPr txBox="1"/>
          <p:nvPr/>
        </p:nvSpPr>
        <p:spPr>
          <a:xfrm>
            <a:off x="6766560" y="2377440"/>
            <a:ext cx="19202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chemeClr val="tx1"/>
                </a:solidFill>
              </a:rPr>
              <a:t>Latin America</a:t>
            </a:r>
            <a:endParaRPr lang="en-US" sz="1700" dirty="0"/>
          </a:p>
        </p:txBody>
      </p:sp>
      <p:sp>
        <p:nvSpPr>
          <p:cNvPr id="23" name="Text 21"/>
          <p:cNvSpPr txBox="1"/>
          <p:nvPr/>
        </p:nvSpPr>
        <p:spPr>
          <a:xfrm>
            <a:off x="6766560" y="2834640"/>
            <a:ext cx="192024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tx2"/>
                </a:solidFill>
              </a:rPr>
              <a:t>Central America, Colombia, Peru, D.R.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800600"/>
            <a:ext cx="45720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7A8299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26</a:t>
            </a:fld>
            <a:endParaRPr lang="en-US"/>
          </a:p>
        </p:txBody>
      </p:sp>
    </p:spTree>
  </p:cSld>
  <p:clrMapOvr>
    <a:masterClrMapping/>
  </p:clrMapOvr>
  <p:transition spd="med">
    <p:fade/>
  </p:transition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82296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chemeClr val="tx1"/>
                </a:solidFill>
              </a:rPr>
              <a:t>Marketing plan: becoming No. 1 in Mexico</a:t>
            </a:r>
            <a:endParaRPr lang="en-US" sz="2600" dirty="0"/>
          </a:p>
        </p:txBody>
      </p:sp>
      <p:sp>
        <p:nvSpPr>
          <p:cNvPr id="3" name="Shape 1"/>
          <p:cNvSpPr/>
          <p:nvPr/>
        </p:nvSpPr>
        <p:spPr>
          <a:xfrm>
            <a:off x="457200" y="960120"/>
            <a:ext cx="8229600" cy="502920"/>
          </a:xfrm>
          <a:prstGeom prst="roundRect">
            <a:avLst>
              <a:gd name="adj" fmla="val 14545"/>
            </a:avLst>
          </a:prstGeom>
          <a:solidFill>
            <a:srgbClr val="1B1F3B"/>
          </a:solidFill>
          <a:ln w="12700">
            <a:solidFill>
              <a:srgbClr val="1B1F3B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640080" y="960120"/>
            <a:ext cx="78638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2B705"/>
                </a:solidFill>
              </a:rPr>
              <a:t>“Screen + digital. One pass.” — with chemistry and service in Mexico</a:t>
            </a:r>
            <a:endParaRPr lang="en-US" sz="1500" dirty="0"/>
          </a:p>
        </p:txBody>
      </p:sp>
      <p:sp>
        <p:nvSpPr>
          <p:cNvPr id="5" name="Shape 3"/>
          <p:cNvSpPr/>
          <p:nvPr/>
        </p:nvSpPr>
        <p:spPr>
          <a:xfrm>
            <a:off x="457200" y="1645920"/>
            <a:ext cx="4846320" cy="621792"/>
          </a:xfrm>
          <a:prstGeom prst="roundRect">
            <a:avLst>
              <a:gd name="adj" fmla="val 11765"/>
            </a:avLst>
          </a:prstGeom>
          <a:solidFill>
            <a:srgbClr val="EEF2F7"/>
          </a:solidFill>
          <a:ln w="12700">
            <a:solidFill>
              <a:srgbClr val="EEF2F7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594360" y="1773936"/>
            <a:ext cx="365760" cy="365760"/>
          </a:xfrm>
          <a:prstGeom prst="ellipse">
            <a:avLst/>
          </a:prstGeom>
          <a:solidFill>
            <a:srgbClr val="0089C2"/>
          </a:solidFill>
          <a:ln w="12700">
            <a:solidFill>
              <a:srgbClr val="0089C2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594360" y="1773936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</a:rPr>
              <a:t>1</a:t>
            </a:r>
            <a:endParaRPr lang="en-US" sz="1300" dirty="0"/>
          </a:p>
        </p:txBody>
      </p:sp>
      <p:sp>
        <p:nvSpPr>
          <p:cNvPr id="8" name="Text 6"/>
          <p:cNvSpPr txBox="1"/>
          <p:nvPr/>
        </p:nvSpPr>
        <p:spPr>
          <a:xfrm>
            <a:off x="1097280" y="1682496"/>
            <a:ext cx="4114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chemeClr val="tx1"/>
                </a:solidFill>
              </a:rPr>
              <a:t>80/20 accounts</a:t>
            </a:r>
            <a:endParaRPr lang="en-US" sz="1300" dirty="0"/>
          </a:p>
        </p:txBody>
      </p:sp>
      <p:sp>
        <p:nvSpPr>
          <p:cNvPr id="9" name="Text 7"/>
          <p:cNvSpPr txBox="1"/>
          <p:nvPr/>
        </p:nvSpPr>
        <p:spPr>
          <a:xfrm>
            <a:off x="1097280" y="1956816"/>
            <a:ext cx="4114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chemeClr val="tx2"/>
                </a:solidFill>
              </a:rPr>
              <a:t>Sample with their design, demo and pilot on their fabric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457200" y="2359152"/>
            <a:ext cx="4846320" cy="621792"/>
          </a:xfrm>
          <a:prstGeom prst="roundRect">
            <a:avLst>
              <a:gd name="adj" fmla="val 11765"/>
            </a:avLst>
          </a:prstGeom>
          <a:solidFill>
            <a:srgbClr val="EEF2F7"/>
          </a:solidFill>
          <a:ln w="12700">
            <a:solidFill>
              <a:srgbClr val="EEF2F7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594360" y="2487168"/>
            <a:ext cx="365760" cy="365760"/>
          </a:xfrm>
          <a:prstGeom prst="ellipse">
            <a:avLst/>
          </a:prstGeom>
          <a:solidFill>
            <a:srgbClr val="C2185B"/>
          </a:solidFill>
          <a:ln w="12700">
            <a:solidFill>
              <a:srgbClr val="C2185B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594360" y="2487168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</a:rPr>
              <a:t>2</a:t>
            </a:r>
            <a:endParaRPr lang="en-US" sz="1300" dirty="0"/>
          </a:p>
        </p:txBody>
      </p:sp>
      <p:sp>
        <p:nvSpPr>
          <p:cNvPr id="13" name="Text 11"/>
          <p:cNvSpPr txBox="1"/>
          <p:nvPr/>
        </p:nvSpPr>
        <p:spPr>
          <a:xfrm>
            <a:off x="1097280" y="2395728"/>
            <a:ext cx="4114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chemeClr val="tx1"/>
                </a:solidFill>
              </a:rPr>
              <a:t>Demo room</a:t>
            </a:r>
            <a:endParaRPr lang="en-US" sz="1300" dirty="0"/>
          </a:p>
        </p:txBody>
      </p:sp>
      <p:sp>
        <p:nvSpPr>
          <p:cNvPr id="14" name="Text 12"/>
          <p:cNvSpPr txBox="1"/>
          <p:nvPr/>
        </p:nvSpPr>
        <p:spPr>
          <a:xfrm>
            <a:off x="1097280" y="2670048"/>
            <a:ext cx="4114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chemeClr val="tx2"/>
                </a:solidFill>
              </a:rPr>
              <a:t>Demos, workshops and CLT Hybrid Academy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457200" y="3072384"/>
            <a:ext cx="4846320" cy="621792"/>
          </a:xfrm>
          <a:prstGeom prst="roundRect">
            <a:avLst>
              <a:gd name="adj" fmla="val 11765"/>
            </a:avLst>
          </a:prstGeom>
          <a:solidFill>
            <a:srgbClr val="EEF2F7"/>
          </a:solidFill>
          <a:ln w="12700">
            <a:solidFill>
              <a:srgbClr val="EEF2F7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594360" y="3200400"/>
            <a:ext cx="365760" cy="365760"/>
          </a:xfrm>
          <a:prstGeom prst="ellipse">
            <a:avLst/>
          </a:prstGeom>
          <a:solidFill>
            <a:srgbClr val="F2B705"/>
          </a:solidFill>
          <a:ln w="12700">
            <a:solidFill>
              <a:srgbClr val="F2B705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594360" y="320040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B1F3B"/>
                </a:solidFill>
              </a:rPr>
              <a:t>3</a:t>
            </a:r>
            <a:endParaRPr lang="en-US" sz="1300" dirty="0"/>
          </a:p>
        </p:txBody>
      </p:sp>
      <p:sp>
        <p:nvSpPr>
          <p:cNvPr id="18" name="Text 16"/>
          <p:cNvSpPr txBox="1"/>
          <p:nvPr/>
        </p:nvSpPr>
        <p:spPr>
          <a:xfrm>
            <a:off x="1097280" y="3108960"/>
            <a:ext cx="4114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chemeClr val="tx1"/>
                </a:solidFill>
              </a:rPr>
              <a:t>Content</a:t>
            </a:r>
            <a:endParaRPr lang="en-US" sz="1300" dirty="0"/>
          </a:p>
        </p:txBody>
      </p:sp>
      <p:sp>
        <p:nvSpPr>
          <p:cNvPr id="19" name="Text 17"/>
          <p:cNvSpPr txBox="1"/>
          <p:nvPr/>
        </p:nvSpPr>
        <p:spPr>
          <a:xfrm>
            <a:off x="1097280" y="3383280"/>
            <a:ext cx="4114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chemeClr val="tx2"/>
                </a:solidFill>
              </a:rPr>
              <a:t>Effect reels, cases, LinkedIn and WhatsApp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457200" y="3785616"/>
            <a:ext cx="4846320" cy="621792"/>
          </a:xfrm>
          <a:prstGeom prst="roundRect">
            <a:avLst>
              <a:gd name="adj" fmla="val 11765"/>
            </a:avLst>
          </a:prstGeom>
          <a:solidFill>
            <a:srgbClr val="EEF2F7"/>
          </a:solidFill>
          <a:ln w="12700">
            <a:solidFill>
              <a:srgbClr val="EEF2F7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594360" y="3913632"/>
            <a:ext cx="365760" cy="365760"/>
          </a:xfrm>
          <a:prstGeom prst="ellipse">
            <a:avLst/>
          </a:prstGeom>
          <a:solidFill>
            <a:srgbClr val="1B1F3B"/>
          </a:solidFill>
          <a:ln w="12700">
            <a:solidFill>
              <a:srgbClr val="1B1F3B"/>
            </a:solidFill>
            <a:prstDash val="solid"/>
          </a:ln>
        </p:spPr>
      </p:sp>
      <p:sp>
        <p:nvSpPr>
          <p:cNvPr id="22" name="Text 20"/>
          <p:cNvSpPr txBox="1"/>
          <p:nvPr/>
        </p:nvSpPr>
        <p:spPr>
          <a:xfrm>
            <a:off x="594360" y="3913632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</a:rPr>
              <a:t>4</a:t>
            </a:r>
            <a:endParaRPr lang="en-US" sz="1300" dirty="0"/>
          </a:p>
        </p:txBody>
      </p:sp>
      <p:sp>
        <p:nvSpPr>
          <p:cNvPr id="23" name="Text 21"/>
          <p:cNvSpPr txBox="1"/>
          <p:nvPr/>
        </p:nvSpPr>
        <p:spPr>
          <a:xfrm>
            <a:off x="1097280" y="3822192"/>
            <a:ext cx="4114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chemeClr val="tx1"/>
                </a:solidFill>
              </a:rPr>
              <a:t>Events</a:t>
            </a:r>
            <a:endParaRPr lang="en-US" sz="1300" dirty="0"/>
          </a:p>
        </p:txBody>
      </p:sp>
      <p:sp>
        <p:nvSpPr>
          <p:cNvPr id="24" name="Text 22"/>
          <p:cNvSpPr txBox="1"/>
          <p:nvPr/>
        </p:nvSpPr>
        <p:spPr>
          <a:xfrm>
            <a:off x="1097280" y="4096512"/>
            <a:ext cx="4114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chemeClr val="tx2"/>
                </a:solidFill>
              </a:rPr>
              <a:t>FESPA, Hybrid Days in 6 cities, PRINTING United</a:t>
            </a:r>
            <a:endParaRPr lang="en-US" sz="1100" dirty="0"/>
          </a:p>
        </p:txBody>
      </p:sp>
      <p:sp>
        <p:nvSpPr>
          <p:cNvPr id="25" name="Shape 23"/>
          <p:cNvSpPr/>
          <p:nvPr/>
        </p:nvSpPr>
        <p:spPr>
          <a:xfrm>
            <a:off x="5486400" y="1645920"/>
            <a:ext cx="3200400" cy="2761488"/>
          </a:xfrm>
          <a:prstGeom prst="roundRect">
            <a:avLst>
              <a:gd name="adj" fmla="val 2649"/>
            </a:avLst>
          </a:prstGeom>
          <a:solidFill>
            <a:srgbClr val="EEF2F7"/>
          </a:solidFill>
          <a:ln w="12700">
            <a:solidFill>
              <a:srgbClr val="EEF2F7"/>
            </a:solidFill>
            <a:prstDash val="solid"/>
          </a:ln>
        </p:spPr>
      </p:sp>
      <p:sp>
        <p:nvSpPr>
          <p:cNvPr id="26" name="Text 24"/>
          <p:cNvSpPr txBox="1"/>
          <p:nvPr/>
        </p:nvSpPr>
        <p:spPr>
          <a:xfrm>
            <a:off x="5669280" y="1737360"/>
            <a:ext cx="28346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chemeClr val="accent1"/>
                </a:solidFill>
              </a:rPr>
              <a:t>Year-1 targets</a:t>
            </a:r>
            <a:endParaRPr lang="en-US" sz="1400" dirty="0"/>
          </a:p>
        </p:txBody>
      </p:sp>
      <p:sp>
        <p:nvSpPr>
          <p:cNvPr id="27" name="Text 25"/>
          <p:cNvSpPr txBox="1"/>
          <p:nvPr/>
        </p:nvSpPr>
        <p:spPr>
          <a:xfrm>
            <a:off x="5669280" y="2148840"/>
            <a:ext cx="1143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B1F3B"/>
                </a:solidFill>
              </a:rPr>
              <a:t>300</a:t>
            </a:r>
            <a:endParaRPr lang="en-US" sz="1800" dirty="0"/>
          </a:p>
        </p:txBody>
      </p:sp>
      <p:sp>
        <p:nvSpPr>
          <p:cNvPr id="28" name="Text 26"/>
          <p:cNvSpPr txBox="1"/>
          <p:nvPr/>
        </p:nvSpPr>
        <p:spPr>
          <a:xfrm>
            <a:off x="6812280" y="2148840"/>
            <a:ext cx="1783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chemeClr val="tx2"/>
                </a:solidFill>
              </a:rPr>
              <a:t>qualified leads</a:t>
            </a:r>
            <a:endParaRPr lang="en-US" sz="1100" dirty="0"/>
          </a:p>
        </p:txBody>
      </p:sp>
      <p:sp>
        <p:nvSpPr>
          <p:cNvPr id="29" name="Text 27"/>
          <p:cNvSpPr txBox="1"/>
          <p:nvPr/>
        </p:nvSpPr>
        <p:spPr>
          <a:xfrm>
            <a:off x="5669280" y="2697480"/>
            <a:ext cx="1143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B1F3B"/>
                </a:solidFill>
              </a:rPr>
              <a:t>40</a:t>
            </a:r>
            <a:endParaRPr lang="en-US" sz="1800" dirty="0"/>
          </a:p>
        </p:txBody>
      </p:sp>
      <p:sp>
        <p:nvSpPr>
          <p:cNvPr id="30" name="Text 28"/>
          <p:cNvSpPr txBox="1"/>
          <p:nvPr/>
        </p:nvSpPr>
        <p:spPr>
          <a:xfrm>
            <a:off x="6812280" y="2697480"/>
            <a:ext cx="1783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chemeClr val="tx2"/>
                </a:solidFill>
              </a:rPr>
              <a:t>demos</a:t>
            </a:r>
            <a:endParaRPr lang="en-US" sz="1100" dirty="0"/>
          </a:p>
        </p:txBody>
      </p:sp>
      <p:sp>
        <p:nvSpPr>
          <p:cNvPr id="31" name="Text 29"/>
          <p:cNvSpPr txBox="1"/>
          <p:nvPr/>
        </p:nvSpPr>
        <p:spPr>
          <a:xfrm>
            <a:off x="5669280" y="3246120"/>
            <a:ext cx="1143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B1F3B"/>
                </a:solidFill>
              </a:rPr>
              <a:t>30</a:t>
            </a:r>
            <a:endParaRPr lang="en-US" sz="1800" dirty="0"/>
          </a:p>
        </p:txBody>
      </p:sp>
      <p:sp>
        <p:nvSpPr>
          <p:cNvPr id="32" name="Text 30"/>
          <p:cNvSpPr txBox="1"/>
          <p:nvPr/>
        </p:nvSpPr>
        <p:spPr>
          <a:xfrm>
            <a:off x="6812280" y="3246120"/>
            <a:ext cx="1783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chemeClr val="tx2"/>
                </a:solidFill>
              </a:rPr>
              <a:t>shops on consumables</a:t>
            </a:r>
            <a:endParaRPr lang="en-US" sz="1100" dirty="0"/>
          </a:p>
        </p:txBody>
      </p:sp>
      <p:sp>
        <p:nvSpPr>
          <p:cNvPr id="33" name="Text 31"/>
          <p:cNvSpPr txBox="1"/>
          <p:nvPr/>
        </p:nvSpPr>
        <p:spPr>
          <a:xfrm>
            <a:off x="5669280" y="3794760"/>
            <a:ext cx="1143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B1F3B"/>
                </a:solidFill>
              </a:rPr>
              <a:t>US$50k</a:t>
            </a:r>
            <a:endParaRPr lang="en-US" sz="1800" dirty="0"/>
          </a:p>
        </p:txBody>
      </p:sp>
      <p:sp>
        <p:nvSpPr>
          <p:cNvPr id="34" name="Text 32"/>
          <p:cNvSpPr txBox="1"/>
          <p:nvPr/>
        </p:nvSpPr>
        <p:spPr>
          <a:xfrm>
            <a:off x="6812280" y="3794760"/>
            <a:ext cx="1783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chemeClr val="tx2"/>
                </a:solidFill>
              </a:rPr>
              <a:t>budget (US$65k · 80k years 2–3)</a:t>
            </a:r>
            <a:endParaRPr lang="en-US" sz="1100" dirty="0"/>
          </a:p>
        </p:txBody>
      </p:sp>
      <p:sp>
        <p:nvSpPr>
          <p:cNvPr id="35" name="Text 33"/>
          <p:cNvSpPr txBox="1"/>
          <p:nvPr/>
        </p:nvSpPr>
        <p:spPr>
          <a:xfrm>
            <a:off x="457200" y="448056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chemeClr val="accent5"/>
                </a:solidFill>
              </a:rPr>
              <a:t>Latam: Central America years 2–3; Peru and Colombia year 3. Full plan in Excel.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800600"/>
            <a:ext cx="45720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7A8299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27</a:t>
            </a:fld>
            <a:endParaRPr lang="en-US"/>
          </a:p>
        </p:txBody>
      </p:sp>
    </p:spTree>
  </p:cSld>
  <p:clrMapOvr>
    <a:masterClrMapping/>
  </p:clrMapOvr>
  <p:transition spd="med">
    <p:fade/>
  </p:transition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82296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chemeClr val="tx1"/>
                </a:solidFill>
              </a:rPr>
              <a:t>Initial investment</a:t>
            </a:r>
            <a:endParaRPr lang="en-US" sz="2600" dirty="0"/>
          </a:p>
        </p:txBody>
      </p:sp>
      <p:sp>
        <p:nvSpPr>
          <p:cNvPr id="3" name="Shape 1"/>
          <p:cNvSpPr/>
          <p:nvPr/>
        </p:nvSpPr>
        <p:spPr>
          <a:xfrm>
            <a:off x="457200" y="1097280"/>
            <a:ext cx="2606040" cy="2834640"/>
          </a:xfrm>
          <a:prstGeom prst="roundRect">
            <a:avLst>
              <a:gd name="adj" fmla="val 2807"/>
            </a:avLst>
          </a:prstGeom>
          <a:solidFill>
            <a:srgbClr val="EEF2F7"/>
          </a:solidFill>
          <a:ln w="12700">
            <a:solidFill>
              <a:srgbClr val="EEF2F7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640080" y="1554480"/>
            <a:ext cx="22402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B1F3B"/>
                </a:solidFill>
              </a:rPr>
              <a:t>Light</a:t>
            </a:r>
            <a:endParaRPr lang="en-US" sz="1700" dirty="0"/>
          </a:p>
        </p:txBody>
      </p:sp>
      <p:sp>
        <p:nvSpPr>
          <p:cNvPr id="5" name="Text 3"/>
          <p:cNvSpPr txBox="1"/>
          <p:nvPr/>
        </p:nvSpPr>
        <p:spPr>
          <a:xfrm>
            <a:off x="640080" y="1965960"/>
            <a:ext cx="22402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C2185B"/>
                </a:solidFill>
              </a:rPr>
              <a:t>~US$53k</a:t>
            </a:r>
            <a:endParaRPr lang="en-US" sz="3200" dirty="0"/>
          </a:p>
        </p:txBody>
      </p:sp>
      <p:sp>
        <p:nvSpPr>
          <p:cNvPr id="6" name="Text 4"/>
          <p:cNvSpPr txBox="1"/>
          <p:nvPr/>
        </p:nvSpPr>
        <p:spPr>
          <a:xfrm>
            <a:off x="640080" y="2743200"/>
            <a:ext cx="224028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3A4060"/>
                </a:solidFill>
              </a:rPr>
              <a:t>Demo on consignment or at an anchor shop; consumables first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3246120" y="1097280"/>
            <a:ext cx="2606040" cy="2834640"/>
          </a:xfrm>
          <a:prstGeom prst="roundRect">
            <a:avLst>
              <a:gd name="adj" fmla="val 2807"/>
            </a:avLst>
          </a:prstGeom>
          <a:solidFill>
            <a:srgbClr val="1B1F3B"/>
          </a:solidFill>
          <a:ln w="12700">
            <a:solidFill>
              <a:srgbClr val="1B1F3B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3429000" y="1234440"/>
            <a:ext cx="2240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2B705"/>
                </a:solidFill>
              </a:rPr>
              <a:t>Recommended</a:t>
            </a:r>
            <a:endParaRPr lang="en-US" sz="1100" dirty="0"/>
          </a:p>
        </p:txBody>
      </p:sp>
      <p:sp>
        <p:nvSpPr>
          <p:cNvPr id="9" name="Text 7"/>
          <p:cNvSpPr txBox="1"/>
          <p:nvPr/>
        </p:nvSpPr>
        <p:spPr>
          <a:xfrm>
            <a:off x="3429000" y="1554480"/>
            <a:ext cx="22402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FFFFFF"/>
                </a:solidFill>
              </a:rPr>
              <a:t>Base</a:t>
            </a:r>
            <a:endParaRPr lang="en-US" sz="1700" dirty="0"/>
          </a:p>
        </p:txBody>
      </p:sp>
      <p:sp>
        <p:nvSpPr>
          <p:cNvPr id="10" name="Text 8"/>
          <p:cNvSpPr txBox="1"/>
          <p:nvPr/>
        </p:nvSpPr>
        <p:spPr>
          <a:xfrm>
            <a:off x="3429000" y="1965960"/>
            <a:ext cx="22402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F2B705"/>
                </a:solidFill>
              </a:rPr>
              <a:t>~US$262k</a:t>
            </a:r>
            <a:endParaRPr lang="en-US" sz="3200" dirty="0"/>
          </a:p>
        </p:txBody>
      </p:sp>
      <p:sp>
        <p:nvSpPr>
          <p:cNvPr id="11" name="Text 9"/>
          <p:cNvSpPr txBox="1"/>
          <p:nvPr/>
        </p:nvSpPr>
        <p:spPr>
          <a:xfrm>
            <a:off x="3429000" y="2743200"/>
            <a:ext cx="224028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DDE3EE"/>
                </a:solidFill>
              </a:rPr>
              <a:t>Press + hybrid station, inventory, showroom, launch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6035040" y="1097280"/>
            <a:ext cx="2606040" cy="2834640"/>
          </a:xfrm>
          <a:prstGeom prst="roundRect">
            <a:avLst>
              <a:gd name="adj" fmla="val 2807"/>
            </a:avLst>
          </a:prstGeom>
          <a:solidFill>
            <a:srgbClr val="EEF2F7"/>
          </a:solidFill>
          <a:ln w="12700">
            <a:solidFill>
              <a:srgbClr val="EEF2F7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6217920" y="1554480"/>
            <a:ext cx="22402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B1F3B"/>
                </a:solidFill>
              </a:rPr>
              <a:t>Full</a:t>
            </a:r>
            <a:endParaRPr lang="en-US" sz="1700" dirty="0"/>
          </a:p>
        </p:txBody>
      </p:sp>
      <p:sp>
        <p:nvSpPr>
          <p:cNvPr id="14" name="Text 12"/>
          <p:cNvSpPr txBox="1"/>
          <p:nvPr/>
        </p:nvSpPr>
        <p:spPr>
          <a:xfrm>
            <a:off x="6217920" y="1965960"/>
            <a:ext cx="22402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C2185B"/>
                </a:solidFill>
              </a:rPr>
              <a:t>~US$450k</a:t>
            </a:r>
            <a:endParaRPr lang="en-US" sz="3200" dirty="0"/>
          </a:p>
        </p:txBody>
      </p:sp>
      <p:sp>
        <p:nvSpPr>
          <p:cNvPr id="15" name="Text 13"/>
          <p:cNvSpPr txBox="1"/>
          <p:nvPr/>
        </p:nvSpPr>
        <p:spPr>
          <a:xfrm>
            <a:off x="6217920" y="2743200"/>
            <a:ext cx="224028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3A4060"/>
                </a:solidFill>
              </a:rPr>
              <a:t>Complete line incl. 6-station DTG</a:t>
            </a:r>
            <a:endParaRPr lang="en-US" sz="1200" dirty="0"/>
          </a:p>
        </p:txBody>
      </p:sp>
      <p:sp>
        <p:nvSpPr>
          <p:cNvPr id="16" name="Text 14"/>
          <p:cNvSpPr txBox="1"/>
          <p:nvPr/>
        </p:nvSpPr>
        <p:spPr>
          <a:xfrm>
            <a:off x="457200" y="4069080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chemeClr val="tx1"/>
                </a:solidFill>
              </a:rPr>
              <a:t>Year-1 operating expense: ~US$131k (sales, customer service, technician, training, shows)</a:t>
            </a:r>
            <a:endParaRPr lang="en-US" sz="1300" dirty="0"/>
          </a:p>
        </p:txBody>
      </p:sp>
      <p:sp>
        <p:nvSpPr>
          <p:cNvPr id="17" name="Text 15"/>
          <p:cNvSpPr txBox="1"/>
          <p:nvPr/>
        </p:nvSpPr>
        <p:spPr>
          <a:xfrm>
            <a:off x="457200" y="448056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chemeClr val="accent5"/>
                </a:solidFill>
              </a:rPr>
              <a:t>Estimate — to be confirmed with CLT’s quotation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800600"/>
            <a:ext cx="45720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7A8299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28</a:t>
            </a:fld>
            <a:endParaRPr lang="en-US"/>
          </a:p>
        </p:txBody>
      </p:sp>
    </p:spTree>
  </p:cSld>
  <p:clrMapOvr>
    <a:masterClrMapping/>
  </p:clrMapOvr>
  <p:transition spd="med">
    <p:fade/>
  </p:transition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82296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chemeClr val="tx1"/>
                </a:solidFill>
              </a:rPr>
              <a:t>Projection: recurring revenue grows every year</a:t>
            </a:r>
            <a:endParaRPr lang="en-US" sz="2600" dirty="0"/>
          </a:p>
        </p:txBody>
      </p:sp>
      <p:graphicFrame>
        <p:nvGraphicFramePr>
          <p:cNvPr id="3" name="Chart 0" descr=""/>
          <p:cNvGraphicFramePr/>
          <p:nvPr/>
        </p:nvGraphicFramePr>
        <p:xfrm>
          <a:off x="457200" y="1005840"/>
          <a:ext cx="5120640" cy="338328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4" name="Text 1"/>
          <p:cNvSpPr txBox="1"/>
          <p:nvPr/>
        </p:nvSpPr>
        <p:spPr>
          <a:xfrm>
            <a:off x="5943600" y="1051560"/>
            <a:ext cx="2743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chemeClr val="tx1"/>
                </a:solidFill>
              </a:rPr>
              <a:t>Annual result</a:t>
            </a:r>
            <a:endParaRPr lang="en-US" sz="1500" dirty="0"/>
          </a:p>
        </p:txBody>
      </p:sp>
      <p:sp>
        <p:nvSpPr>
          <p:cNvPr id="5" name="Shape 2"/>
          <p:cNvSpPr/>
          <p:nvPr/>
        </p:nvSpPr>
        <p:spPr>
          <a:xfrm>
            <a:off x="5943600" y="1508760"/>
            <a:ext cx="2743200" cy="731520"/>
          </a:xfrm>
          <a:prstGeom prst="roundRect">
            <a:avLst>
              <a:gd name="adj" fmla="val 10000"/>
            </a:avLst>
          </a:prstGeom>
          <a:solidFill>
            <a:srgbClr val="EEF2F7"/>
          </a:solidFill>
          <a:ln w="12700">
            <a:solidFill>
              <a:srgbClr val="EEF2F7"/>
            </a:solidFill>
            <a:prstDash val="solid"/>
          </a:ln>
        </p:spPr>
      </p:sp>
      <p:sp>
        <p:nvSpPr>
          <p:cNvPr id="6" name="Text 3"/>
          <p:cNvSpPr txBox="1"/>
          <p:nvPr/>
        </p:nvSpPr>
        <p:spPr>
          <a:xfrm>
            <a:off x="6080760" y="1508760"/>
            <a:ext cx="10058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3A4060"/>
                </a:solidFill>
              </a:rPr>
              <a:t>Year 1</a:t>
            </a:r>
            <a:endParaRPr lang="en-US" sz="1300" dirty="0"/>
          </a:p>
        </p:txBody>
      </p:sp>
      <p:sp>
        <p:nvSpPr>
          <p:cNvPr id="7" name="Text 4"/>
          <p:cNvSpPr txBox="1"/>
          <p:nvPr/>
        </p:nvSpPr>
        <p:spPr>
          <a:xfrm>
            <a:off x="7040880" y="1508760"/>
            <a:ext cx="1554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200" b="1" dirty="0">
                <a:solidFill>
                  <a:srgbClr val="C2185B"/>
                </a:solidFill>
              </a:rPr>
              <a:t>-US$37k</a:t>
            </a:r>
            <a:endParaRPr lang="en-US" sz="2200" dirty="0"/>
          </a:p>
        </p:txBody>
      </p:sp>
      <p:sp>
        <p:nvSpPr>
          <p:cNvPr id="8" name="Shape 5"/>
          <p:cNvSpPr/>
          <p:nvPr/>
        </p:nvSpPr>
        <p:spPr>
          <a:xfrm>
            <a:off x="5943600" y="2377440"/>
            <a:ext cx="2743200" cy="731520"/>
          </a:xfrm>
          <a:prstGeom prst="roundRect">
            <a:avLst>
              <a:gd name="adj" fmla="val 10000"/>
            </a:avLst>
          </a:prstGeom>
          <a:solidFill>
            <a:srgbClr val="EEF2F7"/>
          </a:solidFill>
          <a:ln w="12700">
            <a:solidFill>
              <a:srgbClr val="EEF2F7"/>
            </a:solidFill>
            <a:prstDash val="solid"/>
          </a:ln>
        </p:spPr>
      </p:sp>
      <p:sp>
        <p:nvSpPr>
          <p:cNvPr id="9" name="Text 6"/>
          <p:cNvSpPr txBox="1"/>
          <p:nvPr/>
        </p:nvSpPr>
        <p:spPr>
          <a:xfrm>
            <a:off x="6080760" y="2377440"/>
            <a:ext cx="10058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3A4060"/>
                </a:solidFill>
              </a:rPr>
              <a:t>Year 2</a:t>
            </a:r>
            <a:endParaRPr lang="en-US" sz="1300" dirty="0"/>
          </a:p>
        </p:txBody>
      </p:sp>
      <p:sp>
        <p:nvSpPr>
          <p:cNvPr id="10" name="Text 7"/>
          <p:cNvSpPr txBox="1"/>
          <p:nvPr/>
        </p:nvSpPr>
        <p:spPr>
          <a:xfrm>
            <a:off x="7040880" y="2377440"/>
            <a:ext cx="1554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200" b="1" dirty="0">
                <a:solidFill>
                  <a:srgbClr val="2E7D32"/>
                </a:solidFill>
              </a:rPr>
              <a:t>+US$89k</a:t>
            </a:r>
            <a:endParaRPr lang="en-US" sz="2200" dirty="0"/>
          </a:p>
        </p:txBody>
      </p:sp>
      <p:sp>
        <p:nvSpPr>
          <p:cNvPr id="11" name="Shape 8"/>
          <p:cNvSpPr/>
          <p:nvPr/>
        </p:nvSpPr>
        <p:spPr>
          <a:xfrm>
            <a:off x="5943600" y="3246120"/>
            <a:ext cx="2743200" cy="731520"/>
          </a:xfrm>
          <a:prstGeom prst="roundRect">
            <a:avLst>
              <a:gd name="adj" fmla="val 10000"/>
            </a:avLst>
          </a:prstGeom>
          <a:solidFill>
            <a:srgbClr val="EEF2F7"/>
          </a:solidFill>
          <a:ln w="12700">
            <a:solidFill>
              <a:srgbClr val="EEF2F7"/>
            </a:solidFill>
            <a:prstDash val="solid"/>
          </a:ln>
        </p:spPr>
      </p:sp>
      <p:sp>
        <p:nvSpPr>
          <p:cNvPr id="12" name="Text 9"/>
          <p:cNvSpPr txBox="1"/>
          <p:nvPr/>
        </p:nvSpPr>
        <p:spPr>
          <a:xfrm>
            <a:off x="6080760" y="3246120"/>
            <a:ext cx="10058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3A4060"/>
                </a:solidFill>
              </a:rPr>
              <a:t>Year 3</a:t>
            </a:r>
            <a:endParaRPr lang="en-US" sz="1300" dirty="0"/>
          </a:p>
        </p:txBody>
      </p:sp>
      <p:sp>
        <p:nvSpPr>
          <p:cNvPr id="13" name="Text 10"/>
          <p:cNvSpPr txBox="1"/>
          <p:nvPr/>
        </p:nvSpPr>
        <p:spPr>
          <a:xfrm>
            <a:off x="7040880" y="3246120"/>
            <a:ext cx="1554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200" b="1" dirty="0">
                <a:solidFill>
                  <a:srgbClr val="2E7D32"/>
                </a:solidFill>
              </a:rPr>
              <a:t>+US$269k</a:t>
            </a:r>
            <a:endParaRPr lang="en-US" sz="2200" dirty="0"/>
          </a:p>
        </p:txBody>
      </p:sp>
      <p:sp>
        <p:nvSpPr>
          <p:cNvPr id="14" name="Text 11"/>
          <p:cNvSpPr txBox="1"/>
          <p:nvPr/>
        </p:nvSpPr>
        <p:spPr>
          <a:xfrm>
            <a:off x="457200" y="448056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chemeClr val="accent5"/>
                </a:solidFill>
              </a:rPr>
              <a:t>Assumptions: US$150k line, 20% equipment / 35% consumables margin, ~US$36k consumption per line per year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800600"/>
            <a:ext cx="45720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7A8299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29</a:t>
            </a:fld>
            <a:endParaRPr lang="en-US"/>
          </a:p>
        </p:txBody>
      </p:sp>
    </p:spTree>
  </p:cSld>
  <p:clrMapOvr>
    <a:masterClrMapping/>
  </p:clrMapOvr>
  <p:transition spd="med">
    <p:fade/>
  </p:transition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1097280"/>
            <a:ext cx="27432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000" b="1" dirty="0">
                <a:solidFill>
                  <a:schemeClr val="accent3"/>
                </a:solidFill>
              </a:rPr>
              <a:t>05</a:t>
            </a:r>
            <a:endParaRPr lang="en-US" sz="6000" dirty="0"/>
          </a:p>
        </p:txBody>
      </p:sp>
      <p:sp>
        <p:nvSpPr>
          <p:cNvPr id="3" name="Text 0"/>
          <p:cNvSpPr/>
          <p:nvPr>
            <p:ph idx="100" type="title" hasCustomPrompt="1"/>
          </p:nvPr>
        </p:nvSpPr>
        <p:spPr>
          <a:xfrm>
            <a:off x="548640" y="2103120"/>
            <a:ext cx="8046720" cy="914400"/>
          </a:xfrm>
          <a:prstGeom prst="rect">
            <a:avLst/>
          </a:prstGeom>
          <a:noFill/>
          <a:ln/>
        </p:spPr>
        <p:txBody>
          <a:bodyPr wrap="square" rtlCol="0"/>
          <a:lstStyle/>
          <a:p>
            <a:pPr algn="l" indent="0" marL="0">
              <a:buNone/>
            </a:pPr>
            <a:r>
              <a:rPr lang="en-US" sz="3600" b="1" dirty="0">
                <a:solidFill>
                  <a:schemeClr val="bg1"/>
                </a:solidFill>
              </a:rPr>
              <a:t>The proposal</a:t>
            </a:r>
            <a:endParaRPr lang="en-US" sz="3600" dirty="0"/>
          </a:p>
        </p:txBody>
      </p:sp>
      <p:sp>
        <p:nvSpPr>
          <p:cNvPr id="4" name="cmyk-dot"/>
          <p:cNvSpPr/>
          <p:nvPr/>
        </p:nvSpPr>
        <p:spPr>
          <a:xfrm>
            <a:off x="594360" y="3246120"/>
            <a:ext cx="164592" cy="164592"/>
          </a:xfrm>
          <a:prstGeom prst="ellipse">
            <a:avLst/>
          </a:prstGeom>
          <a:solidFill>
            <a:srgbClr val="0089C2"/>
          </a:solidFill>
          <a:ln w="12700">
            <a:solidFill>
              <a:srgbClr val="0089C2"/>
            </a:solidFill>
            <a:prstDash val="solid"/>
          </a:ln>
        </p:spPr>
      </p:sp>
      <p:sp>
        <p:nvSpPr>
          <p:cNvPr id="5" name="cmyk-dot"/>
          <p:cNvSpPr/>
          <p:nvPr/>
        </p:nvSpPr>
        <p:spPr>
          <a:xfrm>
            <a:off x="832104" y="3246120"/>
            <a:ext cx="164592" cy="164592"/>
          </a:xfrm>
          <a:prstGeom prst="ellipse">
            <a:avLst/>
          </a:prstGeom>
          <a:solidFill>
            <a:srgbClr val="C2185B"/>
          </a:solidFill>
          <a:ln w="12700">
            <a:solidFill>
              <a:srgbClr val="C2185B"/>
            </a:solidFill>
            <a:prstDash val="solid"/>
          </a:ln>
        </p:spPr>
      </p:sp>
      <p:sp>
        <p:nvSpPr>
          <p:cNvPr id="6" name="cmyk-dot"/>
          <p:cNvSpPr/>
          <p:nvPr/>
        </p:nvSpPr>
        <p:spPr>
          <a:xfrm>
            <a:off x="1069848" y="3246120"/>
            <a:ext cx="164592" cy="164592"/>
          </a:xfrm>
          <a:prstGeom prst="ellipse">
            <a:avLst/>
          </a:prstGeom>
          <a:solidFill>
            <a:srgbClr val="F2B705"/>
          </a:solidFill>
          <a:ln w="12700">
            <a:solidFill>
              <a:srgbClr val="F2B705"/>
            </a:solidFill>
            <a:prstDash val="solid"/>
          </a:ln>
        </p:spPr>
      </p:sp>
      <p:sp>
        <p:nvSpPr>
          <p:cNvPr id="7" name="cmyk-dot"/>
          <p:cNvSpPr/>
          <p:nvPr/>
        </p:nvSpPr>
        <p:spPr>
          <a:xfrm>
            <a:off x="1307592" y="3246120"/>
            <a:ext cx="164592" cy="164592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</p:spTree>
  </p:cSld>
  <p:clrMapOvr>
    <a:masterClrMapping/>
  </p:clrMapOvr>
  <p:transition spd="med">
    <p:fade/>
  </p:transition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82296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chemeClr val="tx1"/>
                </a:solidFill>
              </a:rPr>
              <a:t>What we request and what we commit</a:t>
            </a:r>
            <a:endParaRPr lang="en-US" sz="2600" dirty="0"/>
          </a:p>
        </p:txBody>
      </p:sp>
      <p:sp>
        <p:nvSpPr>
          <p:cNvPr id="3" name="Shape 1"/>
          <p:cNvSpPr/>
          <p:nvPr/>
        </p:nvSpPr>
        <p:spPr>
          <a:xfrm>
            <a:off x="457200" y="1051560"/>
            <a:ext cx="4023360" cy="3337560"/>
          </a:xfrm>
          <a:prstGeom prst="roundRect">
            <a:avLst>
              <a:gd name="adj" fmla="val 2192"/>
            </a:avLst>
          </a:prstGeom>
          <a:solidFill>
            <a:srgbClr val="EEF2F7"/>
          </a:solidFill>
          <a:ln w="12700">
            <a:solidFill>
              <a:srgbClr val="EEF2F7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685800" y="1188720"/>
            <a:ext cx="35661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C2185B"/>
                </a:solidFill>
              </a:rPr>
              <a:t>We request from CLT</a:t>
            </a:r>
            <a:endParaRPr lang="en-US" sz="1700" dirty="0"/>
          </a:p>
        </p:txBody>
      </p:sp>
      <p:sp>
        <p:nvSpPr>
          <p:cNvPr id="5" name="Text 3"/>
          <p:cNvSpPr txBox="1"/>
          <p:nvPr/>
        </p:nvSpPr>
        <p:spPr>
          <a:xfrm>
            <a:off x="685800" y="1691640"/>
            <a:ext cx="3611880" cy="2606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400" dirty="0">
                <a:solidFill>
                  <a:srgbClr val="1B1F3B"/>
                </a:solidFill>
              </a:rPr>
              <a:t>Exclusivity in Mexico; LatAm subject to targets</a:t>
            </a:r>
            <a:endParaRPr lang="en-US" sz="1400" dirty="0"/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400" dirty="0">
                <a:solidFill>
                  <a:srgbClr val="1B1F3B"/>
                </a:solidFill>
              </a:rPr>
              <a:t>~20% equipment / ~35% consumables margin</a:t>
            </a:r>
            <a:endParaRPr lang="en-US" sz="1400" dirty="0"/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400" dirty="0">
                <a:solidFill>
                  <a:srgbClr val="1B1F3B"/>
                </a:solidFill>
              </a:rPr>
              <a:t>Demo on consignment or 30–50% off</a:t>
            </a:r>
            <a:endParaRPr lang="en-US" sz="1400" dirty="0"/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400" dirty="0">
                <a:solidFill>
                  <a:srgbClr val="1B1F3B"/>
                </a:solidFill>
              </a:rPr>
              <a:t>Initial inventory on consignment or 90 days</a:t>
            </a:r>
            <a:endParaRPr lang="en-US" sz="1400" dirty="0"/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400" dirty="0">
                <a:solidFill>
                  <a:srgbClr val="1B1F3B"/>
                </a:solidFill>
              </a:rPr>
              <a:t>Free training and certification</a:t>
            </a:r>
            <a:endParaRPr lang="en-US" sz="1400" dirty="0"/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400" dirty="0">
                <a:solidFill>
                  <a:srgbClr val="1B1F3B"/>
                </a:solidFill>
              </a:rPr>
              <a:t>Mexican leads referred to TID / CEB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4663440" y="1051560"/>
            <a:ext cx="4023360" cy="3337560"/>
          </a:xfrm>
          <a:prstGeom prst="roundRect">
            <a:avLst>
              <a:gd name="adj" fmla="val 2192"/>
            </a:avLst>
          </a:prstGeom>
          <a:solidFill>
            <a:srgbClr val="EEF2F7"/>
          </a:solidFill>
          <a:ln w="12700">
            <a:solidFill>
              <a:srgbClr val="EEF2F7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4892040" y="1188720"/>
            <a:ext cx="35661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0089C2"/>
                </a:solidFill>
              </a:rPr>
              <a:t>We commit to</a:t>
            </a:r>
            <a:endParaRPr lang="en-US" sz="1700" dirty="0"/>
          </a:p>
        </p:txBody>
      </p:sp>
      <p:sp>
        <p:nvSpPr>
          <p:cNvPr id="8" name="Text 6"/>
          <p:cNvSpPr txBox="1"/>
          <p:nvPr/>
        </p:nvSpPr>
        <p:spPr>
          <a:xfrm>
            <a:off x="4892040" y="1691640"/>
            <a:ext cx="3611880" cy="2606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400" dirty="0">
                <a:solidFill>
                  <a:srgbClr val="1B1F3B"/>
                </a:solidFill>
              </a:rPr>
              <a:t>Import and local inventory (CEB)</a:t>
            </a:r>
            <a:endParaRPr lang="en-US" sz="1400" dirty="0"/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400" dirty="0">
                <a:solidFill>
                  <a:srgbClr val="1B1F3B"/>
                </a:solidFill>
              </a:rPr>
              <a:t>Demo showroom and Spanish service</a:t>
            </a:r>
            <a:endParaRPr lang="en-US" sz="1400" dirty="0"/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400" dirty="0">
                <a:solidFill>
                  <a:srgbClr val="1B1F3B"/>
                </a:solidFill>
              </a:rPr>
              <a:t>Sales, customer service and textile technician</a:t>
            </a:r>
            <a:endParaRPr lang="en-US" sz="1400" dirty="0"/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400" dirty="0">
                <a:solidFill>
                  <a:srgbClr val="1B1F3B"/>
                </a:solidFill>
              </a:rPr>
              <a:t>Machine and product training</a:t>
            </a:r>
            <a:endParaRPr lang="en-US" sz="1400" dirty="0"/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400" dirty="0">
                <a:solidFill>
                  <a:srgbClr val="1B1F3B"/>
                </a:solidFill>
              </a:rPr>
              <a:t>Targets: 2 · 5 · 8 lines in years 1–3</a:t>
            </a:r>
            <a:endParaRPr lang="en-US" sz="1400" dirty="0"/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400" dirty="0">
                <a:solidFill>
                  <a:srgbClr val="1B1F3B"/>
                </a:solidFill>
              </a:rPr>
              <a:t>Quarterly reports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800600"/>
            <a:ext cx="45720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7A8299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31</a:t>
            </a:fld>
            <a:endParaRPr lang="en-US"/>
          </a:p>
        </p:txBody>
      </p:sp>
    </p:spTree>
  </p:cSld>
  <p:clrMapOvr>
    <a:masterClrMapping/>
  </p:clrMapOvr>
  <p:transition spd="med">
    <p:fade/>
  </p:transition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82296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chemeClr val="tx1"/>
                </a:solidFill>
              </a:rPr>
              <a:t>Risks and mitigation</a:t>
            </a:r>
            <a:endParaRPr lang="en-US" sz="2600" dirty="0"/>
          </a:p>
        </p:txBody>
      </p:sp>
      <p:sp>
        <p:nvSpPr>
          <p:cNvPr id="3" name="Shape 1"/>
          <p:cNvSpPr/>
          <p:nvPr/>
        </p:nvSpPr>
        <p:spPr>
          <a:xfrm>
            <a:off x="457200" y="1097280"/>
            <a:ext cx="4023360" cy="1417320"/>
          </a:xfrm>
          <a:prstGeom prst="roundRect">
            <a:avLst>
              <a:gd name="adj" fmla="val 5161"/>
            </a:avLst>
          </a:prstGeom>
          <a:solidFill>
            <a:srgbClr val="EEF2F7"/>
          </a:solidFill>
          <a:ln w="12700">
            <a:solidFill>
              <a:srgbClr val="EEF2F7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640080" y="1280160"/>
            <a:ext cx="384048" cy="384048"/>
          </a:xfrm>
          <a:prstGeom prst="ellipse">
            <a:avLst/>
          </a:prstGeom>
          <a:solidFill>
            <a:srgbClr val="0089C2"/>
          </a:solidFill>
          <a:ln w="12700">
            <a:solidFill>
              <a:srgbClr val="0089C2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40080" y="128016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</a:rPr>
              <a:t>!</a:t>
            </a:r>
            <a:endParaRPr lang="en-US" sz="1300" dirty="0"/>
          </a:p>
        </p:txBody>
      </p:sp>
      <p:sp>
        <p:nvSpPr>
          <p:cNvPr id="6" name="Text 4"/>
          <p:cNvSpPr txBox="1"/>
          <p:nvPr/>
        </p:nvSpPr>
        <p:spPr>
          <a:xfrm>
            <a:off x="1188720" y="1280160"/>
            <a:ext cx="31089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Cash-strapped industry</a:t>
            </a:r>
            <a:endParaRPr lang="en-US" sz="1600" dirty="0"/>
          </a:p>
        </p:txBody>
      </p:sp>
      <p:sp>
        <p:nvSpPr>
          <p:cNvPr id="7" name="Text 5"/>
          <p:cNvSpPr txBox="1"/>
          <p:nvPr/>
        </p:nvSpPr>
        <p:spPr>
          <a:xfrm>
            <a:off x="640080" y="1828800"/>
            <a:ext cx="3657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tx2"/>
                </a:solidFill>
              </a:rPr>
              <a:t>Phased investment and financing</a:t>
            </a: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4663440" y="1097280"/>
            <a:ext cx="4023360" cy="1417320"/>
          </a:xfrm>
          <a:prstGeom prst="roundRect">
            <a:avLst>
              <a:gd name="adj" fmla="val 5161"/>
            </a:avLst>
          </a:prstGeom>
          <a:solidFill>
            <a:srgbClr val="EEF2F7"/>
          </a:solidFill>
          <a:ln w="12700">
            <a:solidFill>
              <a:srgbClr val="EEF2F7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4846320" y="1280160"/>
            <a:ext cx="384048" cy="384048"/>
          </a:xfrm>
          <a:prstGeom prst="ellipse">
            <a:avLst/>
          </a:prstGeom>
          <a:solidFill>
            <a:srgbClr val="C2185B"/>
          </a:solidFill>
          <a:ln w="12700">
            <a:solidFill>
              <a:srgbClr val="C2185B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4846320" y="128016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</a:rPr>
              <a:t>!</a:t>
            </a:r>
            <a:endParaRPr lang="en-US" sz="1300" dirty="0"/>
          </a:p>
        </p:txBody>
      </p:sp>
      <p:sp>
        <p:nvSpPr>
          <p:cNvPr id="11" name="Text 9"/>
          <p:cNvSpPr txBox="1"/>
          <p:nvPr/>
        </p:nvSpPr>
        <p:spPr>
          <a:xfrm>
            <a:off x="5394960" y="1280160"/>
            <a:ext cx="31089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DTF in short runs</a:t>
            </a:r>
            <a:endParaRPr lang="en-US" sz="1600" dirty="0"/>
          </a:p>
        </p:txBody>
      </p:sp>
      <p:sp>
        <p:nvSpPr>
          <p:cNvPr id="12" name="Text 10"/>
          <p:cNvSpPr txBox="1"/>
          <p:nvPr/>
        </p:nvSpPr>
        <p:spPr>
          <a:xfrm>
            <a:off x="4846320" y="1828800"/>
            <a:ext cx="3657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tx2"/>
                </a:solidFill>
              </a:rPr>
              <a:t>Focus on volume and effects</a:t>
            </a:r>
            <a:endParaRPr lang="en-US" sz="1300" dirty="0"/>
          </a:p>
        </p:txBody>
      </p:sp>
      <p:sp>
        <p:nvSpPr>
          <p:cNvPr id="13" name="Shape 11"/>
          <p:cNvSpPr/>
          <p:nvPr/>
        </p:nvSpPr>
        <p:spPr>
          <a:xfrm>
            <a:off x="457200" y="2697480"/>
            <a:ext cx="4023360" cy="1417320"/>
          </a:xfrm>
          <a:prstGeom prst="roundRect">
            <a:avLst>
              <a:gd name="adj" fmla="val 5161"/>
            </a:avLst>
          </a:prstGeom>
          <a:solidFill>
            <a:srgbClr val="EEF2F7"/>
          </a:solidFill>
          <a:ln w="12700">
            <a:solidFill>
              <a:srgbClr val="EEF2F7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640080" y="2880360"/>
            <a:ext cx="384048" cy="384048"/>
          </a:xfrm>
          <a:prstGeom prst="ellipse">
            <a:avLst/>
          </a:prstGeom>
          <a:solidFill>
            <a:srgbClr val="F2B705"/>
          </a:solidFill>
          <a:ln w="12700">
            <a:solidFill>
              <a:srgbClr val="F2B705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640080" y="288036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B1F3B"/>
                </a:solidFill>
              </a:rPr>
              <a:t>!</a:t>
            </a:r>
            <a:endParaRPr lang="en-US" sz="1300" dirty="0"/>
          </a:p>
        </p:txBody>
      </p:sp>
      <p:sp>
        <p:nvSpPr>
          <p:cNvPr id="16" name="Text 14"/>
          <p:cNvSpPr txBox="1"/>
          <p:nvPr/>
        </p:nvSpPr>
        <p:spPr>
          <a:xfrm>
            <a:off x="1188720" y="2880360"/>
            <a:ext cx="31089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Tariffs</a:t>
            </a:r>
            <a:endParaRPr lang="en-US" sz="1600" dirty="0"/>
          </a:p>
        </p:txBody>
      </p:sp>
      <p:sp>
        <p:nvSpPr>
          <p:cNvPr id="17" name="Text 15"/>
          <p:cNvSpPr txBox="1"/>
          <p:nvPr/>
        </p:nvSpPr>
        <p:spPr>
          <a:xfrm>
            <a:off x="640080" y="3429000"/>
            <a:ext cx="3657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tx2"/>
                </a:solidFill>
              </a:rPr>
              <a:t>Confirmed lines; PROSEC; CEB</a:t>
            </a:r>
            <a:endParaRPr lang="en-US" sz="1300" dirty="0"/>
          </a:p>
        </p:txBody>
      </p:sp>
      <p:sp>
        <p:nvSpPr>
          <p:cNvPr id="18" name="Shape 16"/>
          <p:cNvSpPr/>
          <p:nvPr/>
        </p:nvSpPr>
        <p:spPr>
          <a:xfrm>
            <a:off x="4663440" y="2697480"/>
            <a:ext cx="4023360" cy="1417320"/>
          </a:xfrm>
          <a:prstGeom prst="roundRect">
            <a:avLst>
              <a:gd name="adj" fmla="val 5161"/>
            </a:avLst>
          </a:prstGeom>
          <a:solidFill>
            <a:srgbClr val="EEF2F7"/>
          </a:solidFill>
          <a:ln w="12700">
            <a:solidFill>
              <a:srgbClr val="EEF2F7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4846320" y="2880360"/>
            <a:ext cx="384048" cy="384048"/>
          </a:xfrm>
          <a:prstGeom prst="ellipse">
            <a:avLst/>
          </a:prstGeom>
          <a:solidFill>
            <a:srgbClr val="1B1F3B"/>
          </a:solidFill>
          <a:ln w="12700">
            <a:solidFill>
              <a:srgbClr val="1B1F3B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4846320" y="288036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</a:rPr>
              <a:t>!</a:t>
            </a:r>
            <a:endParaRPr lang="en-US" sz="1300" dirty="0"/>
          </a:p>
        </p:txBody>
      </p:sp>
      <p:sp>
        <p:nvSpPr>
          <p:cNvPr id="21" name="Text 19"/>
          <p:cNvSpPr txBox="1"/>
          <p:nvPr/>
        </p:nvSpPr>
        <p:spPr>
          <a:xfrm>
            <a:off x="5394960" y="2880360"/>
            <a:ext cx="31089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Textile learning curve</a:t>
            </a:r>
            <a:endParaRPr lang="en-US" sz="1600" dirty="0"/>
          </a:p>
        </p:txBody>
      </p:sp>
      <p:sp>
        <p:nvSpPr>
          <p:cNvPr id="22" name="Text 20"/>
          <p:cNvSpPr txBox="1"/>
          <p:nvPr/>
        </p:nvSpPr>
        <p:spPr>
          <a:xfrm>
            <a:off x="4846320" y="3429000"/>
            <a:ext cx="3657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tx2"/>
                </a:solidFill>
              </a:rPr>
              <a:t>CLT certification and industry hires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800600"/>
            <a:ext cx="45720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7A8299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32</a:t>
            </a:fld>
            <a:endParaRPr lang="en-US"/>
          </a:p>
        </p:txBody>
      </p:sp>
    </p:spTree>
  </p:cSld>
  <p:clrMapOvr>
    <a:masterClrMapping/>
  </p:clrMapOvr>
  <p:transition spd="med">
    <p:fade/>
  </p:transition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82296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chemeClr val="tx1"/>
                </a:solidFill>
              </a:rPr>
              <a:t>Next steps</a:t>
            </a:r>
            <a:endParaRPr lang="en-US" sz="2600" dirty="0"/>
          </a:p>
        </p:txBody>
      </p:sp>
      <p:sp>
        <p:nvSpPr>
          <p:cNvPr id="3" name="Shape 1"/>
          <p:cNvSpPr/>
          <p:nvPr/>
        </p:nvSpPr>
        <p:spPr>
          <a:xfrm>
            <a:off x="457200" y="1097280"/>
            <a:ext cx="411480" cy="411480"/>
          </a:xfrm>
          <a:prstGeom prst="ellipse">
            <a:avLst/>
          </a:prstGeom>
          <a:solidFill>
            <a:srgbClr val="0089C2"/>
          </a:solidFill>
          <a:ln w="12700">
            <a:solidFill>
              <a:srgbClr val="0089C2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457200" y="1097280"/>
            <a:ext cx="411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</a:rPr>
              <a:t>1</a:t>
            </a:r>
            <a:endParaRPr lang="en-US" sz="1300" dirty="0"/>
          </a:p>
        </p:txBody>
      </p:sp>
      <p:sp>
        <p:nvSpPr>
          <p:cNvPr id="5" name="Text 3"/>
          <p:cNvSpPr txBox="1"/>
          <p:nvPr/>
        </p:nvSpPr>
        <p:spPr>
          <a:xfrm>
            <a:off x="1051560" y="1051560"/>
            <a:ext cx="75895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CLT formal quotation (CLT-016B, CLT-012R, SM60-85, consumables)</a:t>
            </a:r>
            <a:endParaRPr lang="en-US" sz="1500" dirty="0"/>
          </a:p>
        </p:txBody>
      </p:sp>
      <p:sp>
        <p:nvSpPr>
          <p:cNvPr id="6" name="Shape 4"/>
          <p:cNvSpPr/>
          <p:nvPr/>
        </p:nvSpPr>
        <p:spPr>
          <a:xfrm>
            <a:off x="457200" y="1737360"/>
            <a:ext cx="411480" cy="411480"/>
          </a:xfrm>
          <a:prstGeom prst="ellipse">
            <a:avLst/>
          </a:prstGeom>
          <a:solidFill>
            <a:srgbClr val="C2185B"/>
          </a:solidFill>
          <a:ln w="12700">
            <a:solidFill>
              <a:srgbClr val="C2185B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457200" y="1737360"/>
            <a:ext cx="411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</a:rPr>
              <a:t>2</a:t>
            </a:r>
            <a:endParaRPr lang="en-US" sz="1300" dirty="0"/>
          </a:p>
        </p:txBody>
      </p:sp>
      <p:sp>
        <p:nvSpPr>
          <p:cNvPr id="8" name="Text 6"/>
          <p:cNvSpPr txBox="1"/>
          <p:nvPr/>
        </p:nvSpPr>
        <p:spPr>
          <a:xfrm>
            <a:off x="1051560" y="1691640"/>
            <a:ext cx="75895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Meeting with CLT’s owners to review terms</a:t>
            </a:r>
            <a:endParaRPr lang="en-US" sz="1500" dirty="0"/>
          </a:p>
        </p:txBody>
      </p:sp>
      <p:sp>
        <p:nvSpPr>
          <p:cNvPr id="9" name="Shape 7"/>
          <p:cNvSpPr/>
          <p:nvPr/>
        </p:nvSpPr>
        <p:spPr>
          <a:xfrm>
            <a:off x="457200" y="2377440"/>
            <a:ext cx="411480" cy="411480"/>
          </a:xfrm>
          <a:prstGeom prst="ellipse">
            <a:avLst/>
          </a:prstGeom>
          <a:solidFill>
            <a:srgbClr val="F2B705"/>
          </a:solidFill>
          <a:ln w="12700">
            <a:solidFill>
              <a:srgbClr val="F2B705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457200" y="2377440"/>
            <a:ext cx="411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B1F3B"/>
                </a:solidFill>
              </a:rPr>
              <a:t>3</a:t>
            </a:r>
            <a:endParaRPr lang="en-US" sz="1300" dirty="0"/>
          </a:p>
        </p:txBody>
      </p:sp>
      <p:sp>
        <p:nvSpPr>
          <p:cNvPr id="11" name="Text 9"/>
          <p:cNvSpPr txBox="1"/>
          <p:nvPr/>
        </p:nvSpPr>
        <p:spPr>
          <a:xfrm>
            <a:off x="1051560" y="2331720"/>
            <a:ext cx="75895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Confirm duties with a customs broker</a:t>
            </a:r>
            <a:endParaRPr lang="en-US" sz="1500" dirty="0"/>
          </a:p>
        </p:txBody>
      </p:sp>
      <p:sp>
        <p:nvSpPr>
          <p:cNvPr id="12" name="Shape 10"/>
          <p:cNvSpPr/>
          <p:nvPr/>
        </p:nvSpPr>
        <p:spPr>
          <a:xfrm>
            <a:off x="457200" y="3017520"/>
            <a:ext cx="411480" cy="411480"/>
          </a:xfrm>
          <a:prstGeom prst="ellipse">
            <a:avLst/>
          </a:prstGeom>
          <a:solidFill>
            <a:srgbClr val="1B1F3B"/>
          </a:solidFill>
          <a:ln w="12700">
            <a:solidFill>
              <a:srgbClr val="1B1F3B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457200" y="3017520"/>
            <a:ext cx="411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</a:rPr>
              <a:t>4</a:t>
            </a:r>
            <a:endParaRPr lang="en-US" sz="1300" dirty="0"/>
          </a:p>
        </p:txBody>
      </p:sp>
      <p:sp>
        <p:nvSpPr>
          <p:cNvPr id="14" name="Text 12"/>
          <p:cNvSpPr txBox="1"/>
          <p:nvPr/>
        </p:nvSpPr>
        <p:spPr>
          <a:xfrm>
            <a:off x="1051560" y="2971800"/>
            <a:ext cx="75895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Validate consumption with 10–15 shops</a:t>
            </a:r>
            <a:endParaRPr lang="en-US" sz="1500" dirty="0"/>
          </a:p>
        </p:txBody>
      </p:sp>
      <p:sp>
        <p:nvSpPr>
          <p:cNvPr id="15" name="Shape 13"/>
          <p:cNvSpPr/>
          <p:nvPr/>
        </p:nvSpPr>
        <p:spPr>
          <a:xfrm>
            <a:off x="457200" y="3657600"/>
            <a:ext cx="411480" cy="411480"/>
          </a:xfrm>
          <a:prstGeom prst="ellipse">
            <a:avLst/>
          </a:prstGeom>
          <a:solidFill>
            <a:srgbClr val="0089C2"/>
          </a:solidFill>
          <a:ln w="12700">
            <a:solidFill>
              <a:srgbClr val="0089C2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457200" y="3657600"/>
            <a:ext cx="411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</a:rPr>
              <a:t>5</a:t>
            </a:r>
            <a:endParaRPr lang="en-US" sz="1300" dirty="0"/>
          </a:p>
        </p:txBody>
      </p:sp>
      <p:sp>
        <p:nvSpPr>
          <p:cNvPr id="17" name="Text 15"/>
          <p:cNvSpPr txBox="1"/>
          <p:nvPr/>
        </p:nvSpPr>
        <p:spPr>
          <a:xfrm>
            <a:off x="1051560" y="3611880"/>
            <a:ext cx="75895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Letter of intent and 6-month launch plan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800600"/>
            <a:ext cx="45720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7A8299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33</a:t>
            </a:fld>
            <a:endParaRPr lang="en-US"/>
          </a:p>
        </p:txBody>
      </p:sp>
    </p:spTree>
  </p:cSld>
  <p:clrMapOvr>
    <a:masterClrMapping/>
  </p:clrMapOvr>
  <p:transition spd="med">
    <p:fade/>
  </p:transition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myk-dot"/>
          <p:cNvSpPr/>
          <p:nvPr/>
        </p:nvSpPr>
        <p:spPr>
          <a:xfrm>
            <a:off x="594360" y="1097280"/>
            <a:ext cx="237744" cy="237744"/>
          </a:xfrm>
          <a:prstGeom prst="ellipse">
            <a:avLst/>
          </a:prstGeom>
          <a:solidFill>
            <a:srgbClr val="0089C2"/>
          </a:solidFill>
          <a:ln w="12700">
            <a:solidFill>
              <a:srgbClr val="0089C2"/>
            </a:solidFill>
            <a:prstDash val="solid"/>
          </a:ln>
        </p:spPr>
      </p:sp>
      <p:sp>
        <p:nvSpPr>
          <p:cNvPr id="3" name="cmyk-dot"/>
          <p:cNvSpPr/>
          <p:nvPr/>
        </p:nvSpPr>
        <p:spPr>
          <a:xfrm>
            <a:off x="923544" y="1097280"/>
            <a:ext cx="237744" cy="237744"/>
          </a:xfrm>
          <a:prstGeom prst="ellipse">
            <a:avLst/>
          </a:prstGeom>
          <a:solidFill>
            <a:srgbClr val="C2185B"/>
          </a:solidFill>
          <a:ln w="12700">
            <a:solidFill>
              <a:srgbClr val="C2185B"/>
            </a:solidFill>
            <a:prstDash val="solid"/>
          </a:ln>
        </p:spPr>
      </p:sp>
      <p:sp>
        <p:nvSpPr>
          <p:cNvPr id="4" name="cmyk-dot"/>
          <p:cNvSpPr/>
          <p:nvPr/>
        </p:nvSpPr>
        <p:spPr>
          <a:xfrm>
            <a:off x="1252728" y="1097280"/>
            <a:ext cx="237744" cy="237744"/>
          </a:xfrm>
          <a:prstGeom prst="ellipse">
            <a:avLst/>
          </a:prstGeom>
          <a:solidFill>
            <a:srgbClr val="F2B705"/>
          </a:solidFill>
          <a:ln w="12700">
            <a:solidFill>
              <a:srgbClr val="F2B705"/>
            </a:solidFill>
            <a:prstDash val="solid"/>
          </a:ln>
        </p:spPr>
      </p:sp>
      <p:sp>
        <p:nvSpPr>
          <p:cNvPr id="5" name="cmyk-dot"/>
          <p:cNvSpPr/>
          <p:nvPr/>
        </p:nvSpPr>
        <p:spPr>
          <a:xfrm>
            <a:off x="1581912" y="1097280"/>
            <a:ext cx="237744" cy="237744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Text 0"/>
          <p:cNvSpPr/>
          <p:nvPr>
            <p:ph idx="100" type="title" hasCustomPrompt="1"/>
          </p:nvPr>
        </p:nvSpPr>
        <p:spPr>
          <a:xfrm>
            <a:off x="548640" y="1463040"/>
            <a:ext cx="7680960" cy="1097280"/>
          </a:xfrm>
          <a:prstGeom prst="rect">
            <a:avLst/>
          </a:prstGeom>
          <a:noFill/>
          <a:ln/>
        </p:spPr>
        <p:txBody>
          <a:bodyPr wrap="square" rtlCol="0" anchor="b"/>
          <a:lstStyle/>
          <a:p>
            <a:pPr algn="l" indent="0" marL="0">
              <a:buNone/>
            </a:pPr>
            <a:r>
              <a:rPr lang="en-US" sz="4000" b="1" dirty="0">
                <a:solidFill>
                  <a:schemeClr val="bg1"/>
                </a:solidFill>
              </a:rPr>
              <a:t>Thank you</a:t>
            </a:r>
            <a:endParaRPr lang="en-US" sz="4000" dirty="0"/>
          </a:p>
        </p:txBody>
      </p:sp>
      <p:sp>
        <p:nvSpPr>
          <p:cNvPr id="7" name="Text 0"/>
          <p:cNvSpPr/>
          <p:nvPr>
            <p:ph idx="101" type="body" hasCustomPrompt="1"/>
          </p:nvPr>
        </p:nvSpPr>
        <p:spPr>
          <a:xfrm>
            <a:off x="548640" y="2651760"/>
            <a:ext cx="7680960" cy="731520"/>
          </a:xfrm>
          <a:prstGeom prst="rect">
            <a:avLst/>
          </a:prstGeom>
          <a:noFill/>
          <a:ln/>
        </p:spPr>
        <p:txBody>
          <a:bodyPr wrap="square" rtlCol="0"/>
          <a:lstStyle/>
          <a:p>
            <a:pPr algn="l" indent="0" marL="0">
              <a:buNone/>
            </a:pPr>
            <a:r>
              <a:rPr lang="en-US" sz="1400" dirty="0">
                <a:solidFill>
                  <a:schemeClr val="accent3"/>
                </a:solidFill>
              </a:rPr>
              <a:t>Carlos Moreno — TID México · carlos.moreno@tidmexico.com.mx · +52 446 479 4420</a:t>
            </a:r>
            <a:endParaRPr lang="en-US" sz="1800" dirty="0"/>
          </a:p>
        </p:txBody>
      </p:sp>
    </p:spTree>
  </p:cSld>
  <p:clrMapOvr>
    <a:masterClrMapping/>
  </p:clrMapOvr>
  <p:transition spd="med">
    <p:fade/>
  </p:transition>
</p:sld>
</file>

<file path=ppt/theme/theme1.xml><?xml version="1.0" encoding="utf-8"?>
<a:theme xmlns:a="http://schemas.openxmlformats.org/drawingml/2006/main" name="CLT Propuesta">
  <a:themeElements>
    <a:clrScheme name="CLT Propuesta">
      <a:dk1>
        <a:srgbClr val="1B1F3B"/>
      </a:dk1>
      <a:lt1>
        <a:srgbClr val="FFFFFF"/>
      </a:lt1>
      <a:dk2>
        <a:srgbClr val="3A4060"/>
      </a:dk2>
      <a:lt2>
        <a:srgbClr val="EEF2F7"/>
      </a:lt2>
      <a:accent1>
        <a:srgbClr val="C2185B"/>
      </a:accent1>
      <a:accent2>
        <a:srgbClr val="0089C2"/>
      </a:accent2>
      <a:accent3>
        <a:srgbClr val="F2B705"/>
      </a:accent3>
      <a:accent4>
        <a:srgbClr val="1B1F3B"/>
      </a:accent4>
      <a:accent5>
        <a:srgbClr val="7A8299"/>
      </a:accent5>
      <a:accent6>
        <a:srgbClr val="2E7D32"/>
      </a:accent6>
      <a:hlink>
        <a:srgbClr val="0089C2"/>
      </a:hlink>
      <a:folHlink>
        <a:srgbClr val="6D2E46"/>
      </a:folHlink>
    </a:clrScheme>
    <a:fontScheme name="CLT Propuesta">
      <a:majorFont>
        <a:latin typeface="Calibri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34</Slides>
  <Notes>34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34</vt:i4>
      </vt:variant>
    </vt:vector>
  </HeadingPairs>
  <TitlesOfParts>
    <vt:vector size="37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  <vt:lpstr>Slide 29</vt:lpstr>
      <vt:lpstr>Slide 30</vt:lpstr>
      <vt:lpstr>Slide 31</vt:lpstr>
      <vt:lpstr>Slide 32</vt:lpstr>
      <vt:lpstr>Slide 33</vt:lpstr>
      <vt:lpstr>Slide 34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CLT Distribution Proposal</dc:title>
  <dc:subject>PptxGenJS Presentation</dc:subject>
  <dc:creator>TID México</dc:creator>
  <cp:lastModifiedBy>TID México</cp:lastModifiedBy>
  <cp:revision>1</cp:revision>
  <dcterms:created xsi:type="dcterms:W3CDTF">2026-10-08T05:54:22Z</dcterms:created>
  <dcterms:modified xsi:type="dcterms:W3CDTF">2026-10-08T05:54:22Z</dcterms:modified>
</cp:coreProperties>
</file>