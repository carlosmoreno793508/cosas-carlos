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4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55828471-64d6-f378-c6ce-1d40cd9ddfd1}">
          <p14:sldIdLst>
            <p14:sldId id="256"/>
            <p14:sldId id="257"/>
          </p14:sldIdLst>
        </p14:section>
        <p14:section name="The manufacturer" id="{9daeed64-f679-d475-3830-b6f0db5c5251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The Mexican market" id="{cbcd46ab-53ad-5178-d549-27b4f6cb25a6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Why TID · VSP · CEB" id="{f8f4bc9b-d35f-5cd6-3447-1c598e2b42f5}">
          <p14:sldIdLst>
            <p14:sldId id="276"/>
            <p14:sldId id="277"/>
            <p14:sldId id="278"/>
            <p14:sldId id="279"/>
          </p14:sldIdLst>
        </p14:section>
        <p14:section name="Plan and investment" id="{57cfc6c2-4d41-5f7a-11fa-58a53b32867c}">
          <p14:sldIdLst>
            <p14:sldId id="280"/>
            <p14:sldId id="281"/>
            <p14:sldId id="282"/>
            <p14:sldId id="283"/>
          </p14:sldIdLst>
        </p14:section>
        <p14:section name="The proposal" id="{f7499568-7036-cd0d-58d6-fce245e2aed0}">
          <p14:sldIdLst>
            <p14:sldId id="284"/>
            <p14:sldId id="285"/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2025 revenue by line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2025 revenue by line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2185B"/>
              </a:solidFill>
              <a:effectLst/>
            </c:spPr>
          </c:dPt>
          <c:dPt>
            <c:idx val="1"/>
            <c:bubble3D val="0"/>
            <c:spPr>
              <a:solidFill>
                <a:srgbClr val="0089C2"/>
              </a:solidFill>
              <a:effectLst/>
            </c:spPr>
          </c:dPt>
          <c:dPt>
            <c:idx val="2"/>
            <c:bubble3D val="0"/>
            <c:spPr>
              <a:solidFill>
                <a:srgbClr val="7A8299"/>
              </a:solidFill>
              <a:effectLst/>
            </c:spPr>
          </c:dPt>
          <c:dPt>
            <c:idx val="3"/>
            <c:bubble3D val="0"/>
            <c:spPr>
              <a:solidFill>
                <a:srgbClr val="F2B705"/>
              </a:solidFill>
              <a:effectLst/>
            </c:spPr>
          </c:dPt>
          <c:dPt>
            <c:idx val="4"/>
            <c:bubble3D val="0"/>
            <c:spPr>
              <a:solidFill>
                <a:srgbClr val="CFD6E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Water-based pastes</c:v>
                </c:pt>
                <c:pt idx="1">
                  <c:v>Silicones</c:v>
                </c:pt>
                <c:pt idx="2">
                  <c:v>Resins</c:v>
                </c:pt>
                <c:pt idx="3">
                  <c:v>Equipment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53.6</c:v>
                </c:pt>
                <c:pt idx="1">
                  <c:v>20.7</c:v>
                </c:pt>
                <c:pt idx="2">
                  <c:v>8.1</c:v>
                </c:pt>
                <c:pt idx="3">
                  <c:v>6.5</c:v>
                </c:pt>
                <c:pt idx="4">
                  <c:v>11.1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Gross margin (US$ thousands)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 margin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150</c:v>
                </c:pt>
                <c:pt idx="2">
                  <c:v>240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Consumables margin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</c:v>
                </c:pt>
                <c:pt idx="1">
                  <c:v>99</c:v>
                </c:pt>
                <c:pt idx="2">
                  <c:v>209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99"/>
                </a:solidFill>
              </a:rPr>
              <a:t>TID · VSP · CEB proposal to CLT — Confidential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CLT Distribution Proposal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Hybrid textile printing (screen + digital) in Mexico and Latin America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6E4"/>
                </a:solidFill>
              </a:rPr>
              <a:t>TID México · VSP Printing, Inc. · CEB  |  October 2026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The opportunity on one page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89C2"/>
                </a:solidFill>
              </a:rPr>
              <a:t>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formal distributors of Chinese hybrids in Mexico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9748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185B"/>
                </a:solidFill>
              </a:rPr>
              <a:t>~1,900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reachable customers (medium/large firms and shops with carousels)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8600"/>
                </a:solidFill>
              </a:rPr>
              <a:t>30–90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potential hybrid lines in 5 years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Year 3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investment payback (base case)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We propose TID / VSP / CEB as CLT’s distributor in Mexico, expanding into the U.S. and Latin America.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manufacturer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CLT: a chemistry company that sells machines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2009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founded, Dongguan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¥568M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2025 revenue (~US$80M)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301618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Shenzhen Stock Exchange (ChiNext)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18%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 sales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663440" y="1005840"/>
          <a:ext cx="40233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Fuente / Source: CLT 2025 annual report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Hybrid technology: the best of two processes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Screen base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White and effects with low-cost paste: puff, foil, glitter, discharge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7238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Digital color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Ricoh or Brother heads: photographic gradients, unlimited colors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0702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Special effects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Glass-like, embroidery-like or 3D silicone over the print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400–450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pieces per hour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29184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40–70%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ink savings vs DTG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500–5,000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12648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pieces: profitable run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How CLT sells today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23444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Live-demo trade shows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Tests on the customer’s fabric and same-day quote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23444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Turnkey package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Machine, chemistry, installation, training and logistics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234440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Phased investment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Press first, digital stations later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468880"/>
            <a:ext cx="329184" cy="329184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ROI-based selling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Savings in ink, operators and floor space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4612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3280" y="24688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8328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79476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Linked consumables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Warranty with genuine chemistry and parts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3504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72200" y="246888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7220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Digital lead capture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17220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Multilingual site and WhatsApp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Missing in Mexico: local technical service, in-country inventory, Spanish-language support and a demo showroom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Samples: unlimited digital color</a:t>
            </a:r>
            <a:endParaRPr lang="en-US" sz="2600" dirty="0"/>
          </a:p>
        </p:txBody>
      </p:sp>
      <p:pic>
        <p:nvPicPr>
          <p:cNvPr id="3" name="Image 0" descr="Digital watercolor over white base, colored garmen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Digital watercolor over white base, colored garment</a:t>
            </a:r>
            <a:endParaRPr lang="en-US" sz="1100" dirty="0"/>
          </a:p>
        </p:txBody>
      </p:sp>
      <p:pic>
        <p:nvPicPr>
          <p:cNvPr id="5" name="Image 1" descr="Photorealism on a dark garmen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Photorealism on a dark garment</a:t>
            </a:r>
            <a:endParaRPr lang="en-US" sz="1100" dirty="0"/>
          </a:p>
        </p:txBody>
      </p:sp>
      <p:pic>
        <p:nvPicPr>
          <p:cNvPr id="7" name="Image 2" descr="Full-color photographic collage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Full-color photographic collage</a:t>
            </a:r>
            <a:endParaRPr lang="en-US" sz="1100" dirty="0"/>
          </a:p>
        </p:txBody>
      </p:sp>
      <p:pic>
        <p:nvPicPr>
          <p:cNvPr id="9" name="Image 3" descr="Breathable digital prin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Breathable digital print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Samples: special effects and uniforms</a:t>
            </a:r>
            <a:endParaRPr lang="en-US" sz="2600" dirty="0"/>
          </a:p>
        </p:txBody>
      </p:sp>
      <p:pic>
        <p:nvPicPr>
          <p:cNvPr id="3" name="Image 0" descr="High build, puff and cold foil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High build, puff and cold foil</a:t>
            </a:r>
            <a:endParaRPr lang="en-US" sz="1100" dirty="0"/>
          </a:p>
        </p:txBody>
      </p:sp>
      <p:pic>
        <p:nvPicPr>
          <p:cNvPr id="5" name="Image 1" descr="Sports crest with relief and shimmer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Sports crest with relief and shimmer</a:t>
            </a:r>
            <a:endParaRPr lang="en-US" sz="1100" dirty="0"/>
          </a:p>
        </p:txBody>
      </p:sp>
      <p:pic>
        <p:nvPicPr>
          <p:cNvPr id="7" name="Image 2" descr="Spot-color screen print on colored garmen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Spot-color screen print on colored garment</a:t>
            </a:r>
            <a:endParaRPr lang="en-US" sz="1100" dirty="0"/>
          </a:p>
        </p:txBody>
      </p:sp>
      <p:pic>
        <p:nvPicPr>
          <p:cNvPr id="9" name="Image 3" descr="Relief, gold foil and metallic sparkl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Relief, gold foil and metallic sparkle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 at PRINTING United 2026 (Las Vegas)</a:t>
            </a:r>
            <a:endParaRPr lang="en-US" sz="2600" dirty="0"/>
          </a:p>
        </p:txBody>
      </p:sp>
      <p:pic>
        <p:nvPicPr>
          <p:cNvPr id="3" name="Image 0" descr="CLT at PRINTING United 2026 (Las Vegas)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05840"/>
            <a:ext cx="5120640" cy="3291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852160" y="10515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Booth C3397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852160" y="1691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Hybrid line running live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852160" y="22402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Photos: VSP Printing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2880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VSP meeting with CLT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3429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Automatic carousel with a live digital station: this is how CLT sells, and how we will replicate it in Mexico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Mexican market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An industry that needs to differentiate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MXN 91.2 B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textile &amp; apparel GDP (2025)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102,492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businesses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519k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jobs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89%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of exports go to the U.S.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69748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Low-cost imports pressure domestic makers (GDP -8.4% in 2023)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264408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264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26440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2026 tariffs: up to 35% on garments from non-FTA countries, including China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831336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831336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answer: customization, short runs and high-value effects, exactly what hybrid printing does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2023–2024 · CANAINTEX 2026 · DOF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Market size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~102,500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Total market: all textile businesses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05840" y="214884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CFE6F2"/>
          </a:solidFill>
          <a:ln w="12700">
            <a:solidFill>
              <a:srgbClr val="CFE6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488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~1,400–1,900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Serviceable: medium/large firms and shops with carousels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554480" y="32004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8D3E1"/>
          </a:solidFill>
          <a:ln w="12700">
            <a:solidFill>
              <a:srgbClr val="F8D3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45920" y="3200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30–90 lines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Obtainable in 5 years (2–5% adoption)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188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US$3.6–22M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28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 equipment over 5 years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560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US$0.9–3M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per year in consumables (50 lines)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Estimate — to be confirmed with CLT’s quotation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Priority regions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65276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0652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0058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State of Mexico &amp; CDMX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0058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Printers, brands, promotional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81912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641348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16413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581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Jalisco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15819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Fashion, sportswear, domestic brands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157984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221742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22174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15798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Baja California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215798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Export screen printing; TID + VSP at the border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734056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79349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7934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7340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Puebla &amp; Tlaxcala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273405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Export maquila, knitwear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369564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3695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33101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Guanajuato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297680" y="331012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Knitwear, wholesale; 1–2 h from TID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8862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3945636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39456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143000" y="3886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Laguna, Ags., N.L., Yucatán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8862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Denim, IMMEX, uniforms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priority prospects (9 of 47)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Company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City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What they do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ADN Serigrafía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screen printing: 130,000+ pcs/week, up to 18 colors, production for the U.S. and Canada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Serigrafía Textil Automatizada (KW)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Automated volume screen printing: campaigns, sportswear and promo; 30+ years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Manufacturas Textiles RF (Reitex)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Guadalupe, N.L.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Integrated yarn-to-garment plant; high-volume campaign and promo T-shirts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Diermi (Playeras Mindy)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Zapopan, Jal.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Sports and promo T-shirts in a 5,000 m² automated plant; exports to the U.S.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GOCA'S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Large-scale T-shirts and hoodies with in-house screen, sublimation and embroidery; 25+ years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SerigrafiarteSP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screen printing (plastisol, water-based, discharge), DTF and sublimation for factories and brands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Martex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High-volume textile maker; uniforms (directory cites FIFA uniforms)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Uniformes Carmen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Guadalajara, Jal.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Uniforms with screen, embroidery and transfer; volume print contracting; 30+ years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Charly (Grupo Charly)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León, Gto.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Sports brand: jerseys and licensed apparel for Liga MX clubs (León, Pachuca, Atlas, Santos)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of 82 accounts (20%) get 80% of the year-1 sales effort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priority OEMs (8 of 35)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Company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City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Brands and customers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Vertical Knits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Baca, Yuc.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Nike, Fanatics, Tommy Hilfiger, Patagonia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Ink Throwers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Tijuana,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Disney, Levi's, Marvel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MD International Baja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Fanatics, Hurley, REI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Fortune Fashions Baja (Mad Engine)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Mad Engine Global,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SOIR Textiles (TJ Factory Clothing)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Factory 1 (Factory1 Group)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Codipsa (San Fernando ScreenPrinting)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Puma, Gap, Hot Topic, Macy's,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RMC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Linares, N.L.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Under Armour, Nordstrom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of 82 accounts (20%) get 80% of the year-1 sales effort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Competition: the gap is local service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Players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Reading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High-end DTG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Kornit (Sun Digital México)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High investment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Automatic presses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M&amp;R, ROQ, MHM, Anatol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Customers for digital stations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Chinese hybrids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Textalk, Hanglory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No visible local structure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Inks &amp; silicones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ScreenTec, Avient, Matsui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Price vs. brand approvals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Substitutes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DTF, sublimation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 growing in short runs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Competitors in inks, pastes and silicones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566160"/>
                <a:gridCol w="16459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Brand (origin)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Reference price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Threat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Avient: Wilflex, Rutland, Union Ink, Printop (U.S.)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High: ~US$40–60/gallon for mixing colors; specialties US$90–310/gallon (U.S. stores)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 with OEMs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ScreenTec: Seritex, Aquatex, Siltex (Mexico)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MXN 159–217/kg retail (Seritex)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 with shops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 (Japan)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Mid-high; bases from ~US$8–9/kg in Central America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Mid-high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International Coatings (U.S.)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 (Germany)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limited textile range (nylon, synthetics)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RUCO / RUCOINX (Germany)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industrial inks for plastic, glass and metal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Tampoprint (Germany)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tagless labels only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Low-cost Mexican brands: Dyssa, Celi Colors, Quitexa, De la Rana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Very low: plastisol white ~MXN 790/gallon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 with small shops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Direct Chinese suppliers (Alibaba)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Very low: silicone ~€3.5–5.2/kg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Mid: same origin as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Comex does not make textile screen printing inks: it is an architectural paint brand. Public prices as of October 2026, for reference only; CLT’s price for Mexico is to be confirmed.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SWOT by competitor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691640"/>
                <a:gridCol w="1691640"/>
                <a:gridCol w="1691640"/>
                <a:gridCol w="169164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Competitor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Strengths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Weaknesses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Opportunity for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Threat to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 (Wilflex, Rutland)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Global brand; certified inks approved by brands; full range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 price; imported; very expensive specialties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Silicones and special effects at a lower price; water-based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Export brands already have approved inks: switching is slow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Domestic maker; low price; dealer network; Siltex silicones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machines or hybrid line; focus on the domestic market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Turnkey package: machine + chemistry + service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Price war in consumables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Benchmark in water-based, discharge and specialties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Imported; mid-high price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Water-based pastes are 54% of CLT’s sales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Already inside large contractors and shops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Marabu, RUCO, Tampoprint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German quality; strong in graphics, pad printing and industry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Little offer for garment printing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Not head-on competitors in apparel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Tagless label and synthetics niche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Low-cost Mexican brands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Very low price; sold in every store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Uneven quality; no certifications or technical support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Growing shops that need consistent quality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Price war in small shops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Direct Chinese suppliers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Lowest price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service, no local stock, no warranty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Local service, stock and Spanish-speaking technicians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Same origin: customers compare price against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SWOT: our position against the competition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9C2"/>
                </a:solidFill>
              </a:rPr>
              <a:t>Strengths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Only turnkey offer: hybrid machine + chemistry + service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CLT chemistry priced below premium brands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Service in Mexico and the U.S.; own importer (CEB)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6344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8299"/>
                </a:solidFill>
              </a:rPr>
              <a:t>Weaknesses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CLT brand little known in Mexico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No export-brand ink approvals yet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Textile team still to be built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</a:rPr>
              <a:t>Opportunities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2026 tariffs on Chinese apparel: more local production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Export OEMs want high-value effects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Few local suppliers of silicones and special effects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185B"/>
                </a:solidFill>
              </a:rPr>
              <a:t>Threats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Avient tied to brands’ approved-ink lists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Low prices from ScreenTec and Mexican budget brands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DTF in short runs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Tariffs on Chinese inputs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Import and regulation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CEB imports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Group company incorporated in Mexico; direct China → Mexico shipping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2026 tariffs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5–50% on non-FTA countries; confirm lines 8443, 3215 and 3910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16% VAT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Creditable: affects cash flow, not cost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USMCA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Maquiladoras require OEKO-TEX and fast response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Why TID · VSP · CEB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 group present in Mexico and the U.S.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TID México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Querétaro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12 years in industrial decoration. Sales, installation and service in Mexico. 2 technicians.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29000" y="1280160"/>
            <a:ext cx="457200" cy="4572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VSP Printing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Los Angeles, CA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20+ years in industrial printing. U.S. service and technical backup. 1 technician.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280160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CEB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Mexico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VSP subsidiary. Imports CLT equipment and supplies.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Strengths and how we close the gaps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9C2"/>
                </a:solidFill>
              </a:rPr>
              <a:t>What we bring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Same turnkey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Consumables-driven business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Technical service in Spanish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Mexico + U.S. coverage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In-house importer (CEB)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185B"/>
                </a:solidFill>
              </a:rPr>
              <a:t>Gap → action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91640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Textile experience → dedicated textile division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Textile chemistry → CLT certification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3 technicians → +2 textile technicians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Textile events → FESPA México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Demonstration → showroom with hybrid line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Dedicated team and training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3258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25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1430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Textile sales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087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Prospecting, demos, turnkey quotes and closing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24231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" y="2423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2402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Customer service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60604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Consumables orders, after-sales, warranties and service scheduling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" y="3520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3375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Textile technician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70332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Installation, maintenance and support; +1 technician in year 2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937760" y="1051560"/>
            <a:ext cx="3749040" cy="3154680"/>
          </a:xfrm>
          <a:prstGeom prst="roundRect">
            <a:avLst>
              <a:gd name="adj" fmla="val 2319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66360" y="11887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B705"/>
                </a:solidFill>
              </a:rPr>
              <a:t>Training program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166360" y="1691640"/>
            <a:ext cx="3337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Initial at CLT’s plant: machines, chemistry and certification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Customers – machines: operation, calibration and maintenance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Customers – products: silicones, pastes, curing and effects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Ongoing updates with CLT engineers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Existing support: 2 TID technicians, 1 VSP technician, CEB import and logistics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Plan and investment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 four-phase commercial plan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691640"/>
            <a:ext cx="7680960" cy="0"/>
          </a:xfrm>
          <a:prstGeom prst="line">
            <a:avLst/>
          </a:prstGeom>
          <a:noFill/>
          <a:ln w="25400">
            <a:solidFill>
              <a:srgbClr val="7A829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463040"/>
            <a:ext cx="457200" cy="45720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Months 0–6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Launch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Agreement, hiring, training, consumables, FESPA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51760" y="1463040"/>
            <a:ext cx="457200" cy="4572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Months 6–18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Demonstration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Demo showroom, first 2–5 lines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1463040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5488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Months 18–36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Scale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Priority clusters, U.S. via VSP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58000" y="1463040"/>
            <a:ext cx="457200" cy="45720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Year 3+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Latin America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76656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Central America, Colombia, Peru, D.R.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Initial investment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</a:rPr>
              <a:t>Light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185B"/>
                </a:solidFill>
              </a:rPr>
              <a:t>~US$53k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060"/>
                </a:solidFill>
              </a:rPr>
              <a:t>Demo on consignment or at an anchor shop; consumables first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612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2344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705"/>
                </a:solidFill>
              </a:rPr>
              <a:t>Recommended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Base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B705"/>
                </a:solidFill>
              </a:rPr>
              <a:t>~US$262k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DE3EE"/>
                </a:solidFill>
              </a:rPr>
              <a:t>Press + hybrid station, inventory, showroom, launch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</a:rPr>
              <a:t>Full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185B"/>
                </a:solidFill>
              </a:rPr>
              <a:t>~US$450k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060"/>
                </a:solidFill>
              </a:rPr>
              <a:t>Complete line incl. 6-station DTG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069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Year-1 operating expense: ~US$131k (sales, customer service, technician, training, shows)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Estimate — to be confirmed with CLT’s quotation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Projection: recurring revenue grows every year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05840"/>
          <a:ext cx="51206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43600" y="1051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Annual result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943600" y="150876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080760" y="150876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Year 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040880" y="15087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2185B"/>
                </a:solidFill>
              </a:rPr>
              <a:t>-US$37k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943600" y="237744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080760" y="237744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Year 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040880" y="23774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7D32"/>
                </a:solidFill>
              </a:rPr>
              <a:t>+US$89k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5943600" y="324612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080760" y="32461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Year 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32461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7D32"/>
                </a:solidFill>
              </a:rPr>
              <a:t>+US$269k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Assumptions: US$150k line, 20% equipment / 35% consumables margin, ~US$36k consumption per line per year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proposal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What we request and what we commit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185B"/>
                </a:solidFill>
              </a:rPr>
              <a:t>We request from CLT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Exclusivity in Mexico; LatAm subject to targets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~20% equipment / ~35% consumables margin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 on consignment or 30–50% off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Initial inventory on consignment or 90 days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Free training and certification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Mexican leads referred to TID / CEB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9C2"/>
                </a:solidFill>
              </a:rPr>
              <a:t>We commit to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91640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Import and local inventory (CEB)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 showroom and Spanish service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Sales, customer service and textile technician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Machine and product training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Targets: 2 · 5 · 8 lines in years 1–3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Quarterly reports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Risks and mitigation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Cash-strapped industry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Phased investment and financing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DTF in short runs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Focus on volume and effects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!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Tariffs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429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Confirmed lines; PROSEC; CEB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Textile learning curve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429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CLT certification and industry hires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Next steps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5156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CLT formal quotation (CLT-016B, CLT-012R, SM60-85, consumables)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Meeting with CLT’s owners to review terms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317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Confirm duties with a customs broker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9718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Validate consumption with 10–15 shops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6118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Letter of intent and 6-month launch plan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Thank you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Carlos Moreno — TID México · carlos.moreno@tidmexico.com.mx · +52 446 479 4420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LT Propuesta">
  <a:themeElements>
    <a:clrScheme name="CLT Propuesta">
      <a:dk1>
        <a:srgbClr val="1B1F3B"/>
      </a:dk1>
      <a:lt1>
        <a:srgbClr val="FFFFFF"/>
      </a:lt1>
      <a:dk2>
        <a:srgbClr val="3A4060"/>
      </a:dk2>
      <a:lt2>
        <a:srgbClr val="EEF2F7"/>
      </a:lt2>
      <a:accent1>
        <a:srgbClr val="C2185B"/>
      </a:accent1>
      <a:accent2>
        <a:srgbClr val="0089C2"/>
      </a:accent2>
      <a:accent3>
        <a:srgbClr val="F2B705"/>
      </a:accent3>
      <a:accent4>
        <a:srgbClr val="1B1F3B"/>
      </a:accent4>
      <a:accent5>
        <a:srgbClr val="7A8299"/>
      </a:accent5>
      <a:accent6>
        <a:srgbClr val="2E7D32"/>
      </a:accent6>
      <a:hlink>
        <a:srgbClr val="0089C2"/>
      </a:hlink>
      <a:folHlink>
        <a:srgbClr val="6D2E46"/>
      </a:folHlink>
    </a:clrScheme>
    <a:fontScheme name="CLT Propuest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CLT Distribution Proposal</dc:title>
  <dc:subject>PptxGenJS Presentation</dc:subject>
  <dc:creator>TID México</dc:creator>
  <cp:lastModifiedBy>TID México</cp:lastModifiedBy>
  <cp:revision>1</cp:revision>
  <dcterms:created xsi:type="dcterms:W3CDTF">2026-10-08T04:53:24Z</dcterms:created>
  <dcterms:modified xsi:type="dcterms:W3CDTF">2026-10-08T04:53:24Z</dcterms:modified>
</cp:coreProperties>
</file>