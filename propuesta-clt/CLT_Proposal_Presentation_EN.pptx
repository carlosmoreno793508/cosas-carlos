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4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4e0d74ca-efd8-53d4-a9c8-821d6f4f639d}">
          <p14:sldIdLst>
            <p14:sldId id="256"/>
            <p14:sldId id="257"/>
          </p14:sldIdLst>
        </p14:section>
        <p14:section name="The manufacturer" id="{bc10433b-aa8b-f61c-32b5-4ec9f2072733}">
          <p14:sldIdLst>
            <p14:sldId id="258"/>
            <p14:sldId id="259"/>
            <p14:sldId id="260"/>
            <p14:sldId id="261"/>
          </p14:sldIdLst>
        </p14:section>
        <p14:section name="The Mexican market" id="{0019e513-e050-f1ce-8538-8fa91806373c}">
          <p14:sldIdLst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Why TID · VSP · CEB" id="{85702685-46eb-c2a9-22d6-55ab6de973b6}">
          <p14:sldIdLst>
            <p14:sldId id="268"/>
            <p14:sldId id="269"/>
            <p14:sldId id="270"/>
            <p14:sldId id="271"/>
          </p14:sldIdLst>
        </p14:section>
        <p14:section name="Plan and investment" id="{a0f01e3b-0336-8787-5a93-b6c071ce0ba7}">
          <p14:sldIdLst>
            <p14:sldId id="272"/>
            <p14:sldId id="273"/>
            <p14:sldId id="274"/>
            <p14:sldId id="275"/>
          </p14:sldIdLst>
        </p14:section>
        <p14:section name="The proposal" id="{3d49454a-49a7-b881-a2d3-25a2eb485ec8}">
          <p14:sldIdLst>
            <p14:sldId id="276"/>
            <p14:sldId id="277"/>
            <p14:sldId id="278"/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2025 revenue by line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2025 revenue by line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2185B"/>
              </a:solidFill>
              <a:effectLst/>
            </c:spPr>
          </c:dPt>
          <c:dPt>
            <c:idx val="1"/>
            <c:bubble3D val="0"/>
            <c:spPr>
              <a:solidFill>
                <a:srgbClr val="0089C2"/>
              </a:solidFill>
              <a:effectLst/>
            </c:spPr>
          </c:dPt>
          <c:dPt>
            <c:idx val="2"/>
            <c:bubble3D val="0"/>
            <c:spPr>
              <a:solidFill>
                <a:srgbClr val="7A8299"/>
              </a:solidFill>
              <a:effectLst/>
            </c:spPr>
          </c:dPt>
          <c:dPt>
            <c:idx val="3"/>
            <c:bubble3D val="0"/>
            <c:spPr>
              <a:solidFill>
                <a:srgbClr val="F2B705"/>
              </a:solidFill>
              <a:effectLst/>
            </c:spPr>
          </c:dPt>
          <c:dPt>
            <c:idx val="4"/>
            <c:bubble3D val="0"/>
            <c:spPr>
              <a:solidFill>
                <a:srgbClr val="CFD6E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Water-based pastes</c:v>
                </c:pt>
                <c:pt idx="1">
                  <c:v>Silicones</c:v>
                </c:pt>
                <c:pt idx="2">
                  <c:v>Resins</c:v>
                </c:pt>
                <c:pt idx="3">
                  <c:v>Equipment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53.6</c:v>
                </c:pt>
                <c:pt idx="1">
                  <c:v>20.7</c:v>
                </c:pt>
                <c:pt idx="2">
                  <c:v>8.1</c:v>
                </c:pt>
                <c:pt idx="3">
                  <c:v>6.5</c:v>
                </c:pt>
                <c:pt idx="4">
                  <c:v>11.1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Gross margin (US$ thousands)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 margin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150</c:v>
                </c:pt>
                <c:pt idx="2">
                  <c:v>240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Consumables margin</c:v>
                </c:pt>
              </c:strCache>
            </c:strRef>
          </c:tx>
          <c:spPr>
            <a:solidFill>
              <a:srgbClr val="C218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</c:v>
                </c:pt>
                <c:pt idx="1">
                  <c:v>99</c:v>
                </c:pt>
                <c:pt idx="2">
                  <c:v>209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299"/>
                </a:solidFill>
              </a:rPr>
              <a:t>TID · VSP · CEB proposal to CLT — Confidential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CLT Distribution Proposal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Hybrid textile printing (screen + digital) in Mexico and Latin America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D6E4"/>
                </a:solidFill>
              </a:rPr>
              <a:t>TID México · VSP Printing, Inc. · CEB  |  October 2026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The opportunity on one page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89C2"/>
                </a:solidFill>
              </a:rPr>
              <a:t>0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formal distributors of Chinese hybrids in Mexico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9748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185B"/>
                </a:solidFill>
              </a:rPr>
              <a:t>~1,900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reachable customers (medium/large firms and shops with carousels)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8600"/>
                </a:solidFill>
              </a:rPr>
              <a:t>30–90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potential hybrid lines in 5 years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0372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Year 3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investment payback (base case)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4290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We propose TID / VSP / CEB as CLT’s distributor in Mexico, expanding into the U.S. and Latin America.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The manufacturer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CLT: a chemistry company that sells machines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2009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founded, Dongguan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¥568M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2025 revenue (~US$80M)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301618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Shenzhen Stock Exchange (ChiNext)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18%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 sales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4663440" y="1005840"/>
          <a:ext cx="40233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Fuente / Source: CLT 2025 annual report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Hybrid technology: the best of two processes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6187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Screen base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White and effects with low-cost paste: puff, foil, glitter, discharge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07238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1261872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Digital color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Ricoh or Brother heads: photographic gradients, unlimited colors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0702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1261872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Special effects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Glass-like, embroidery-like or 3D silicone over the print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400–450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pieces per hour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29184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40–70%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329184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ink savings vs DTG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500–5,000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612648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pieces: profitable run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How CLT sells today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23444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Live-demo trade shows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Tests on the customer’s fabric and same-day quote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23444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79476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Turnkey package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Machine, chemistry, installation, training and logistics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1234440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7220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Phased investment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Press first, digital stations later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468880"/>
            <a:ext cx="329184" cy="329184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ROI-based selling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Savings in ink, operators and floor space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4612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3280" y="24688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38328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379476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Linked consumables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338328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Warranty with genuine chemistry and parts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3504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72200" y="246888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7220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Digital lead capture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17220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Multilingual site and WhatsApp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0080" y="3657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Missing in Mexico: local technical service, in-country inventory, Spanish-language support and a demo showroom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The Mexican market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An industry that needs to differentiate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MXN 91.2 B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textile &amp; apparel GDP (2025)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102,492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businesses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519k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jobs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89%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of exports go to the U.S.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69748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Low-cost imports pressure domestic makers (GDP -8.4% in 2023)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264408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264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264408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2026 tariffs: up to 35% on garments from non-FTA countries, including China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831336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31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3831336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answer: customization, short runs and high-value effects, exactly what hybrid printing does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INEGI 2023–2024 · CANAINTEX 2026 · DOF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Market size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~102,500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Total market: all textile businesses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005840" y="214884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CFE6F2"/>
          </a:solidFill>
          <a:ln w="12700">
            <a:solidFill>
              <a:srgbClr val="CFE6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1488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~1,400–1,900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Serviceable: medium/large firms and shops with carousels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554480" y="320040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F8D3E1"/>
          </a:solidFill>
          <a:ln w="12700">
            <a:solidFill>
              <a:srgbClr val="F8D3E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45920" y="32004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30–90 lines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Obtainable in 5 years (2–5% adoption)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11887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US$3.6–22M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288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 equipment over 5 years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2560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US$0.9–3M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3200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per year in consumables (50 lines)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Estimate — to be confirmed with CLT’s quotation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Priority regions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14300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05156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State of Mexico &amp; CDMX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05156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Printers, brands, promotional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709928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1801368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709928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Jalisco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1709928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Fashion, sportswear, domestic brands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368296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2459736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2459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368296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Puebla &amp; Tlaxcala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2368296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Export maquila, knitwear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026664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3118104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3118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302666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Guanajuato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297680" y="3026664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Knitwear, wholesale; 1–2 h from TID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685032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3776472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3776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3685032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Laguna, Ags., N.L., Yucatán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297680" y="3685032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Denim, IMMEX, uniforms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Competition: the gap is local service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Players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Reading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High-end DTG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Kornit (Sun Digital México)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High investment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Automatic presses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M&amp;R, ROQ, MHM, Anatol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Customers for digital stations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Chinese hybrids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Textalk, Hanglory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No visible local structure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Silicones &amp; pastes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ScreenTec (Siltex)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Consumables competition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Substitutes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DTF, sublimation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 growing in short runs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Import and regulation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CEB imports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Group company incorporated in Mexico; direct China → Mexico shipping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2026 tariffs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5–50% on non-FTA countries; confirm lines 8443, 3215 and 3910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803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16% VAT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Creditable: affects cash flow, not cost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8036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USMCA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Maquiladoras require OEKO-TEX and fast response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Why TID · VSP · CEB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 group present in Mexico and the U.S.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TID México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Querétaro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12 years in industrial decoration. Sales, installation and service in Mexico. 2 technicians.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29000" y="1280160"/>
            <a:ext cx="457200" cy="45720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900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VSP Printing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Los Angeles, CA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20+ years in industrial printing. U.S. service and technical backup. 1 technician.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1280160"/>
            <a:ext cx="457200" cy="4572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CEB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Mexico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VSP subsidiary. Imports CLT equipment and supplies.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Strengths and how we close the gaps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9C2"/>
                </a:solidFill>
              </a:rPr>
              <a:t>What we bring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3611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Same turnkey model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Consumables-driven business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Technical service in Spanish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Mexico + U.S. coverage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In-house importer (CEB)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185B"/>
                </a:solidFill>
              </a:rPr>
              <a:t>Gap → action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691640"/>
            <a:ext cx="3611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Textile experience → dedicated textile division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Textile chemistry → CLT certification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3 technicians → +2 textile technicians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Textile events → FESPA México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Demonstration → showroom with hybrid line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Dedicated team and training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32588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25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1430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Textile sales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087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Prospecting, demos, turnkey quotes and closing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2423160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" y="2423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2402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Customer service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260604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Consumables orders, after-sales, warranties and service scheduling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" y="3520440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3375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Textile technician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70332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Installation, maintenance and support; +1 technician in year 2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937760" y="1051560"/>
            <a:ext cx="3749040" cy="3154680"/>
          </a:xfrm>
          <a:prstGeom prst="roundRect">
            <a:avLst>
              <a:gd name="adj" fmla="val 2319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66360" y="11887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B705"/>
                </a:solidFill>
              </a:rPr>
              <a:t>Training program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166360" y="1691640"/>
            <a:ext cx="3337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Initial at CLT’s plant: machines, chemistry and certification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Customers – machines: operation, calibration and maintenance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Customers – products: silicones, pastes, curing and effects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Ongoing updates with CLT engineers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Existing support: 2 TID technicians, 1 VSP technician, CEB import and logistics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04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Plan and investment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 four-phase commercial plan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691640"/>
            <a:ext cx="7680960" cy="0"/>
          </a:xfrm>
          <a:prstGeom prst="line">
            <a:avLst/>
          </a:prstGeom>
          <a:noFill/>
          <a:ln w="25400">
            <a:solidFill>
              <a:srgbClr val="7A829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463040"/>
            <a:ext cx="457200" cy="45720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Months 0–6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Launch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Agreement, hiring, training, consumables, FESPA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51760" y="1463040"/>
            <a:ext cx="457200" cy="45720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Months 6–18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Demonstration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Demo showroom, first 2–5 lines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0" y="1463040"/>
            <a:ext cx="457200" cy="4572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5488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66344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Months 18–36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Scale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66344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Priority clusters, U.S. via VSP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858000" y="1463040"/>
            <a:ext cx="457200" cy="45720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76656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Year 3+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76656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Latin America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76656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Central America, Colombia, Peru, D.R.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Initial investment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3B"/>
                </a:solidFill>
              </a:rPr>
              <a:t>Light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185B"/>
                </a:solidFill>
              </a:rPr>
              <a:t>~US$53k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060"/>
                </a:solidFill>
              </a:rPr>
              <a:t>Demo on consignment or at an anchor shop; consumables first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612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12344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705"/>
                </a:solidFill>
              </a:rPr>
              <a:t>Recommended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Base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B705"/>
                </a:solidFill>
              </a:rPr>
              <a:t>~US$262k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DE3EE"/>
                </a:solidFill>
              </a:rPr>
              <a:t>Press + hybrid station, inventory, showroom, launch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3B"/>
                </a:solidFill>
              </a:rPr>
              <a:t>Full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185B"/>
                </a:solidFill>
              </a:rPr>
              <a:t>~US$450k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060"/>
                </a:solidFill>
              </a:rPr>
              <a:t>Complete line incl. 6-station DTG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069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Year-1 operating expense: ~US$131k (sales, customer service, technician, training, shows)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Estimate — to be confirmed with CLT’s quotation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Projection: recurring revenue grows every year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05840"/>
          <a:ext cx="51206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943600" y="1051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Annual result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943600" y="150876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080760" y="150876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Year 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040880" y="15087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2185B"/>
                </a:solidFill>
              </a:rPr>
              <a:t>-US$37k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943600" y="237744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080760" y="237744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Year 2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040880" y="23774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7D32"/>
                </a:solidFill>
              </a:rPr>
              <a:t>+US$89k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5943600" y="324612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080760" y="32461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Year 3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040880" y="32461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7D32"/>
                </a:solidFill>
              </a:rPr>
              <a:t>+US$269k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Assumptions: US$150k line, 20% equipment / 35% consumables margin, ~US$36k consumption per line per year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05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The proposal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What we request and what we commit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185B"/>
                </a:solidFill>
              </a:rPr>
              <a:t>We request from CLT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36118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Exclusivity in Mexico; LatAm subject to targets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~20% equipment / ~35% consumables margin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Demo on consignment or 30–50% off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Initial inventory on consignment or 90 days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Free training and certification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Mexican leads referred to TID / CEB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9C2"/>
                </a:solidFill>
              </a:rPr>
              <a:t>We commit to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691640"/>
            <a:ext cx="36118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Import and local inventory (CEB)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Demo showroom and Spanish service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Sales, customer service and textile technician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Machine and product training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Targets: 2 · 5 · 8 lines in years 1–3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Quarterly reports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Risks and mitigation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Cash-strapped industry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28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Phased investment and financing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DTF in short runs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828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Focus on volume and effects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803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!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Tariffs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4290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Confirmed lines; PROSEC; CEB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8036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Textile learning curve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4290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CLT certification and industry hires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Next steps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05156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CLT formal quotation (CLT-016B, CLT-012R, SM60-85, consumables)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37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6916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Meeting with CLT’s owners to review terms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317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Confirm duties with a customs broker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97180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Validate consumption with 10–15 shops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657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6118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Letter of intent and 6-month launch plan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Thank you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Carlos Moreno — TID México · carlos.moreno@tidmexico.com.mx · +52 446 479 4420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CLT Propuesta">
  <a:themeElements>
    <a:clrScheme name="CLT Propuesta">
      <a:dk1>
        <a:srgbClr val="1B1F3B"/>
      </a:dk1>
      <a:lt1>
        <a:srgbClr val="FFFFFF"/>
      </a:lt1>
      <a:dk2>
        <a:srgbClr val="3A4060"/>
      </a:dk2>
      <a:lt2>
        <a:srgbClr val="EEF2F7"/>
      </a:lt2>
      <a:accent1>
        <a:srgbClr val="C2185B"/>
      </a:accent1>
      <a:accent2>
        <a:srgbClr val="0089C2"/>
      </a:accent2>
      <a:accent3>
        <a:srgbClr val="F2B705"/>
      </a:accent3>
      <a:accent4>
        <a:srgbClr val="1B1F3B"/>
      </a:accent4>
      <a:accent5>
        <a:srgbClr val="7A8299"/>
      </a:accent5>
      <a:accent6>
        <a:srgbClr val="2E7D32"/>
      </a:accent6>
      <a:hlink>
        <a:srgbClr val="0089C2"/>
      </a:hlink>
      <a:folHlink>
        <a:srgbClr val="6D2E46"/>
      </a:folHlink>
    </a:clrScheme>
    <a:fontScheme name="CLT Propuesta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CLT Distribution Proposal</dc:title>
  <dc:subject>PptxGenJS Presentation</dc:subject>
  <dc:creator>TID México</dc:creator>
  <cp:lastModifiedBy>TID México</cp:lastModifiedBy>
  <cp:revision>1</cp:revision>
  <dcterms:created xsi:type="dcterms:W3CDTF">2026-10-08T02:37:29Z</dcterms:created>
  <dcterms:modified xsi:type="dcterms:W3CDTF">2026-10-08T02:37:29Z</dcterms:modified>
</cp:coreProperties>
</file>