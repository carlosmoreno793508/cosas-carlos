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4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2826b6a-84fc-bf56-e0ce-38b57c5184c0}">
          <p14:sldIdLst>
            <p14:sldId id="256"/>
            <p14:sldId id="257"/>
          </p14:sldIdLst>
        </p14:section>
        <p14:section name="The manufacturer" id="{fbc6f1a4-b551-2614-458b-c3722c3752ad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The Mexican market" id="{068d48d4-4d83-733c-ebe3-b5e73474db3d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Why TID · VSP · CEB" id="{cf684f60-a510-88db-f1d7-1f4852658d7a}">
          <p14:sldIdLst>
            <p14:sldId id="276"/>
            <p14:sldId id="277"/>
            <p14:sldId id="278"/>
            <p14:sldId id="279"/>
          </p14:sldIdLst>
        </p14:section>
        <p14:section name="Plan and investment" id="{eacd4fdf-e02a-e23e-6351-dedbf2a27f22}">
          <p14:sldIdLst>
            <p14:sldId id="280"/>
            <p14:sldId id="281"/>
            <p14:sldId id="282"/>
            <p14:sldId id="283"/>
            <p14:sldId id="284"/>
          </p14:sldIdLst>
        </p14:section>
        <p14:section name="The proposal" id="{e373942f-88bd-e4b0-dbf0-48f001c99a5b}">
          <p14:sldIdLst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2025 revenue by line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 revenue by line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Water-based pastes</c:v>
                </c:pt>
                <c:pt idx="1">
                  <c:v>Silicones</c:v>
                </c:pt>
                <c:pt idx="2">
                  <c:v>Resins</c:v>
                </c:pt>
                <c:pt idx="3">
                  <c:v>Equipment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Gross margin (US$ thousands)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 margin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150</c:v>
                </c:pt>
                <c:pt idx="2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Consumables margin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99</c:v>
                </c:pt>
                <c:pt idx="2">
                  <c:v>209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TID · VSP · CEB proposal to CLT — Confidential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CLT Distribution Proposal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Hybrid textile printing (screen + digital) in Mexico and Latin America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October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opportunity on one page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formal distributors of Chinese hybrids in Mexico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~1,900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reachable customers (medium/large firms and shops with carousels)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30–90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potential hybrid lines in 5 years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Year 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investment payback (base case)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We propose TID / VSP / CEB as CLT’s distributor in Mexico, expanding into the U.S. and Latin America.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manufacturer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a chemistry company that sells machines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founded,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2025 revenue (~US$80M)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Shenzhen Stock Exchange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sales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 / 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Hybrid technology: the best of two processes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Screen base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White and effects with low-cost paste: puff, foil, glitter, discharge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Digital color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Ricoh or Brother heads: photographic gradients, unlimited colors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 effects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Glass-like, embroidery-like or 3D silicone over the print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 per hour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ink savings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pieces: profitable 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How CLT sells today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Live-demo trade shows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Tests on the customer’s fabric and same-day quote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Turnkey package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Machine, chemistry, installation, training and logistics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Phased investment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Press first, digital stations later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ROI-based selling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Savings in ink, operators and floor space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Linked consumables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Warranty with genuine chemistry and parts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Digital lead capture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Multilingual site and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Missing in Mexico: local technical service, in-country inventory, Spanish-language support and a demo showroom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unlimited digital color</a:t>
            </a:r>
            <a:endParaRPr lang="en-US" sz="2600" dirty="0"/>
          </a:p>
        </p:txBody>
      </p:sp>
      <p:pic>
        <p:nvPicPr>
          <p:cNvPr id="3" name="Image 0" descr="Digital watercolor over white base, colored garmen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Digital watercolor over white base, colored garment</a:t>
            </a:r>
            <a:endParaRPr lang="en-US" sz="1100" dirty="0"/>
          </a:p>
        </p:txBody>
      </p:sp>
      <p:pic>
        <p:nvPicPr>
          <p:cNvPr id="5" name="Image 1" descr="Photorealism on a dark garmen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Photorealism on a dark garment</a:t>
            </a:r>
            <a:endParaRPr lang="en-US" sz="1100" dirty="0"/>
          </a:p>
        </p:txBody>
      </p:sp>
      <p:pic>
        <p:nvPicPr>
          <p:cNvPr id="7" name="Image 2" descr="Full-color photographic collag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Full-color photographic collage</a:t>
            </a:r>
            <a:endParaRPr lang="en-US" sz="1100" dirty="0"/>
          </a:p>
        </p:txBody>
      </p:sp>
      <p:pic>
        <p:nvPicPr>
          <p:cNvPr id="9" name="Image 3" descr="Breathable digital prin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Breathable digital print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special effects and uniforms</a:t>
            </a:r>
            <a:endParaRPr lang="en-US" sz="2600" dirty="0"/>
          </a:p>
        </p:txBody>
      </p:sp>
      <p:pic>
        <p:nvPicPr>
          <p:cNvPr id="3" name="Image 0" descr="High build, puff and cold foi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High build, puff and cold foil</a:t>
            </a:r>
            <a:endParaRPr lang="en-US" sz="1100" dirty="0"/>
          </a:p>
        </p:txBody>
      </p:sp>
      <p:pic>
        <p:nvPicPr>
          <p:cNvPr id="5" name="Image 1" descr="Sports crest with relief and shimme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Sports crest with relief and shimmer</a:t>
            </a:r>
            <a:endParaRPr lang="en-US" sz="1100" dirty="0"/>
          </a:p>
        </p:txBody>
      </p:sp>
      <p:pic>
        <p:nvPicPr>
          <p:cNvPr id="7" name="Image 2" descr="Spot-color screen print on colored garmen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Spot-color screen print on colored garment</a:t>
            </a:r>
            <a:endParaRPr lang="en-US" sz="1100" dirty="0"/>
          </a:p>
        </p:txBody>
      </p:sp>
      <p:pic>
        <p:nvPicPr>
          <p:cNvPr id="9" name="Image 3" descr="Relief, gold foil and metallic spark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Relief, gold foil and metallic sparkle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at PRINTING United 2026 (Las Vegas)</a:t>
            </a:r>
            <a:endParaRPr lang="en-US" sz="2600" dirty="0"/>
          </a:p>
        </p:txBody>
      </p:sp>
      <p:pic>
        <p:nvPicPr>
          <p:cNvPr id="3" name="Image 0" descr="CLT at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Booth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Hybrid line running live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Photos: VSP Printing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meeting with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Automatic carousel with a live digital station: this is how CLT sells, and how we will replicate it in Mexico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Mexican market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 industry that needs to differentiate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MXN 91.2 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textile &amp; apparel GDP (2025)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businesses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519k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jobs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exports go to the U.S.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imports pressure domestic makers (GDP -8.4% in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tariffs: up to 35% on garments from non-FTA countries, including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answer: customization, short runs and high-value effects, exactly what hybrid printing does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Market size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Total market: all textile businesses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Serviceable: medium/large firms and shops with carousels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lines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Obtainable in 5 years (2–5% adoption)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equipment over 5 years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year in consumables (50 lines)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Priority regions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State of Mexico &amp;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Printers, brands, promotional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Fashion, sportswear, domestic brands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screen printing; TID + VSP at the border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&amp;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maquila, knitwear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Knitwear, wholesale; 1–2 h from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Denim, IMMEX, uniforms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priority prospects (9 of 47)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What they do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printing: 130,000+ pcs/week, up to 18 colors, production for the U.S. and Canada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Automated volume screen printing: campaigns, sportswear and promo; 30+ years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Integrated yarn-to-garment plant; high-volume campaign and promo T-shirts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and promo T-shirts in a 5,000 m² automated plant; exports to the U.S.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Large-scale T-shirts and hoodies with in-house screen, sublimation and embroidery; 25+ years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 (plastisol, water-based, discharge), DTF and sublimation for factories and brands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High-volume textile maker; uniforms (directory cites FIFA uniforms)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Uniforms with screen, embroidery and transfer; volume print contracting; 30+ years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brand: jerseys and licensed apparel for Liga MX clubs (León, Pachuca, Atlas, Santos)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get 80% of the year-1 sales effort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priority OEMs (8 of 35)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Brands and customers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RMC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Linares, N.L.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Under Armour, Nordstrom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get 80% of the year-1 sales effort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Competition: the gap is local service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Players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Reading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High-end DTG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High investment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Automatic presses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Customers for digital stations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Chinese hybrids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No visible local structure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Inks &amp; silicones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Price vs. brand approvals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Substitutes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growing in short runs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Competitors in inks, pastes and silicones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 (origin)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Reference price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(U.S.)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High: ~US$40–60/gallon for mixing colors; specialties US$90–310/gallon (U.S. stores)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OEMs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(Mexico)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MXN 159–217/kg retail (Seritex)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shops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(Japan)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Mid-high; bases from ~US$8–9/kg in Central America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(U.S.)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(Germany)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limited textile range (nylon, synthetics)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(Germany)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industrial inks for plastic, glass and metal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(Germany)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tagless labels only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brands: Dyssa, Celi Colors, Quitexa, De la Rana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plastisol white ~MXN 790/gallon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 with small shops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 (Alibaba)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silicone ~€3.5–5.2/kg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Mid: same origin as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does not make textile screen printing inks: it is an architectural paint brand. Public prices as of October 2026, for reference only; CLT’s price for Mexico is to be confirmed.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 by competitor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Competitor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Strengths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Weaknesses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Opportunity for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 to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Global brand; certified inks approved by brands; full range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price; imported; very expensive specialties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Silicones and special effects at a lower price; water-based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Export brands already have approved inks: switching is slow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Domestic maker; low price; dealer network; Siltex silicones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machines or hybrid line; focus on the domestic market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Turnkey package: machine + chemistry + service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consumables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Benchmark in water-based, discharge and specialties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Imported; mid-high price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Water-based pastes are 54% of CLT’s sales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Already inside large contractors and shops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German quality; strong in graphics, pad printing and industry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Little offer for garment printing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Not head-on competitors in apparel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Tagless label and synthetics niche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 price; sold in every store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Uneven quality; no certifications or technical support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Growing shops that need consistent quality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small shops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Lowest price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service, no local stock, no warranty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Local service, stock and Spanish-speaking technicians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Same origin: customers compare price against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SWOT: our position against the competition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Strengths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Only turnkey offer: hybrid machine + chemistry + service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chemistry priced below premium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Service in Mexico and the U.S.; own importer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Weaknesses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brand little known in Mexico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No export-brand ink approvals yet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Textile team still to be built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Opportunities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2026 tariffs on Chinese apparel: more local production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Export OEMs want high-value effects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Few local suppliers of silicones and special effects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Threats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tied to brands’ approved-ink lists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Low prices from ScreenTec and Mexican budget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in short runs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Tariffs on Chinese inputs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 and regulation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Group company incorporated in Mexico; direct China → Mexico shipping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2026 tariffs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on non-FTA countries; confirm lines 8443, 3215 and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16% VAT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Creditable: affects cash flow, not cost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USMCA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require OEKO-TEX and fast response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Why TID · VSP · CEB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group present in Mexico and the U.S.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TID México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Querétaro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years in industrial decoration. Sales, installation and service in Mexico. 2 technicians.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28016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VSP Printing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Los Angeles, CA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20+ years in industrial printing. U.S. service and technical backup. 1 technician.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Mexico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subsidiary. Imports CLT equipment and supplies.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Strengths and how we close the gaps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What we bring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Same turnkey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Consumables-driven business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Technical service in Spanish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Mexico + U.S. coverage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In-house importer (CEB)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Gap → action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experience → dedicated textile division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chemistry → CLT certification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3 technicians → +2 textile technicians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events → FESPA México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Demonstration → showroom with hybrid line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Dedicated team and training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258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sales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Prospecting, demos, turnkey quotes and closing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4231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Customer service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606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Consumables orders, after-sales, warranties and service scheduling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520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337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technician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033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Installation, maintenance and support; +1 technician in year 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1051560"/>
            <a:ext cx="3749040" cy="3154680"/>
          </a:xfrm>
          <a:prstGeom prst="roundRect">
            <a:avLst>
              <a:gd name="adj" fmla="val 2319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1188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705"/>
                </a:solidFill>
              </a:rPr>
              <a:t>Training program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1691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Initial at CLT’s plant: machines, chemistry and certification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Customers – machines: operation, calibration and maintenance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Customers – products: silicones, pastes, curing and effects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Ongoing updates with CLT engineers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Existing support: 2 TID technicians, 1 VSP technician, CEB import and logistics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Plan and investment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four-phase commercial plan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25400">
            <a:solidFill>
              <a:srgbClr val="7A82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0–6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Launch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Agreement, hiring, training, consumables, FESPA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146304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6–18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Demonstration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Demo showroom, first 2–5 lines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18–36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Scale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clusters, U.S. via VSP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0" y="1463040"/>
            <a:ext cx="457200" cy="45720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Year 3+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Latin America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Central America, Colombia, Peru, D.R.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Marketing plan: becoming No. 1 in Mexico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705"/>
                </a:solidFill>
              </a:rPr>
              <a:t>“Screen + digital. One pass.” — with chemistry and service in Mexico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73936"/>
            <a:ext cx="365760" cy="36576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68249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80/20 accounts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95681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Sample with their design, demo and pilot on their fabric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487168"/>
            <a:ext cx="365760" cy="36576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395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Demo room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6700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Demos, workshops and CLT Hybrid Academy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72384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200400"/>
            <a:ext cx="365760" cy="36576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Content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3383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Effect reels, cases, LinkedIn and WhatsApp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85616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913632"/>
            <a:ext cx="365760" cy="36576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38221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Events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0965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FESPA, Hybrid Days in 6 cities, PRINTING United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0" y="1645920"/>
            <a:ext cx="3200400" cy="2761488"/>
          </a:xfrm>
          <a:prstGeom prst="roundRect">
            <a:avLst>
              <a:gd name="adj" fmla="val 264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0" y="17373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Year-1 targets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21488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300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812280" y="21488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qualified leads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26974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40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812280" y="2697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demos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32461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30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812280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shops on consumables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0" y="37947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US$50k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812280" y="3794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budget (US$65k · 80k years 2–3)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Latam: Central America years 2–3; Peru and Colombia year 3. Full plan in Excel.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Initial investment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Light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~US$53k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Demo on consignment or at an anchor shop; consumables first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34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705"/>
                </a:solidFill>
              </a:rPr>
              <a:t>Recommended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Base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705"/>
                </a:solidFill>
              </a:rPr>
              <a:t>~US$262k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E3EE"/>
                </a:solidFill>
              </a:rPr>
              <a:t>Press + hybrid station, inventory, showroom, launch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Full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~US$450k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Complete line incl. 6-station DTG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Year-1 operating expense: ~US$131k (sales, customer service, technician, training, shows)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Projection: recurring revenue grows every year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Annual result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15087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1508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2185B"/>
                </a:solidFill>
              </a:rPr>
              <a:t>-US$37k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94360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80760" y="237744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+US$89k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943600" y="3246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2461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+US$269k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Assumptions: US$150k line, 20% equipment / 35% consumables margin, ~US$36k consumption per line per year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proposal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we request and what we commit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We request from CLT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Exclusivity in Mexico; LatAm subject to targets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~20% equipment / ~35% consumables margin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on consignment or 30–50% off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Initial inventory on consignment or 90 days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Free training and certification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Mexican leads referred to TID / CEB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We commit to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 and local inventory (CEB)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showroom and Spanish service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Sales, customer service and textile technician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Machine and product training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Targets: 2 · 5 · 8 lines in years 1–3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Quarterly reports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Risks and mitigation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Cash-strapped industry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Phased investment and financing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DTF in short runs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Focus on volume and effects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!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Tariffs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Confirmed lines; PROSEC; CEB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learning curve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CLT certification and industry hires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CLT formal quotation (CLT-016B, CLT-012R, SM60-85, consumables)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Meeting with CLT’s owners to review terms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 duties with a customs broker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Validate consumption with 10–15 shops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Letter of intent and 6-month launch plan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CLT Distribution Proposal</dc:title>
  <dc:subject>PptxGenJS Presentation</dc:subject>
  <dc:creator>TID México</dc:creator>
  <cp:lastModifiedBy>TID México</cp:lastModifiedBy>
  <cp:revision>1</cp:revision>
  <dcterms:created xsi:type="dcterms:W3CDTF">2026-10-08T05:12:35Z</dcterms:created>
  <dcterms:modified xsi:type="dcterms:W3CDTF">2026-10-08T05:12:35Z</dcterms:modified>
</cp:coreProperties>
</file>