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2cff86a-2f45-b63d-f5eb-4702830b049c}">
          <p14:sldIdLst>
            <p14:sldId id="256"/>
            <p14:sldId id="257"/>
            <p14:sldId id="258"/>
          </p14:sldIdLst>
        </p14:section>
        <p14:section name="Alcance y metodología" id="{bb1c0f36-55d6-2e11-d246-24e1a7f249d4}">
          <p14:sldIdLst>
            <p14:sldId id="259"/>
            <p14:sldId id="260"/>
          </p14:sldIdLst>
        </p14:section>
        <p14:section name="El fabricante: CLT" id="{7a801aa2-26e8-cd7a-270f-7ef898abca8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Mercado mexicano" id="{39bd8ad7-d3d4-9805-5fee-2243d02550af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ientes prioritarios" id="{679bdb13-ddc0-e8fa-b98d-4a67e4b84f69}">
          <p14:sldIdLst>
            <p14:sldId id="276"/>
            <p14:sldId id="277"/>
            <p14:sldId id="278"/>
          </p14:sldIdLst>
        </p14:section>
        <p14:section name="Competencia" id="{282fb759-9817-962d-c602-fc9d42a54f7b}">
          <p14:sldIdLst>
            <p14:sldId id="279"/>
            <p14:sldId id="280"/>
            <p14:sldId id="281"/>
            <p14:sldId id="282"/>
            <p14:sldId id="283"/>
          </p14:sldIdLst>
        </p14:section>
        <p14:section name="Comercio exterior" id="{1ff2d368-25d4-7045-bb55-c503e9ba6dbf}">
          <p14:sldIdLst>
            <p14:sldId id="284"/>
            <p14:sldId id="285"/>
          </p14:sldIdLst>
        </p14:section>
        <p14:section name="Latinoamérica y EE. UU." id="{ce6d5587-b11b-e1bf-cce2-6e1b49274f7c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onclusiones" id="{5137cd1a-452e-4f7d-cf0e-e3b617f3e980}">
          <p14:sldIdLst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Ingresos 2025 por línea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2025 por línea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bubble3D val="0"/>
            <c:spPr>
              <a:solidFill>
                <a:srgbClr val="0089C2"/>
              </a:solidFill>
              <a:effectLst/>
            </c:spPr>
          </c:dPt>
          <c:dPt>
            <c:idx val="2"/>
            <c:bubble3D val="0"/>
            <c:spPr>
              <a:solidFill>
                <a:srgbClr val="7A8299"/>
              </a:solidFill>
              <a:effectLst/>
            </c:spPr>
          </c:dPt>
          <c:dPt>
            <c:idx val="3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bubble3D val="0"/>
            <c:spPr>
              <a:solidFill>
                <a:srgbClr val="CFD6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Pastas base agua</c:v>
                </c:pt>
                <c:pt idx="1">
                  <c:v>Siliconas</c:v>
                </c:pt>
                <c:pt idx="2">
                  <c:v>Resinas</c:v>
                </c:pt>
                <c:pt idx="3">
                  <c:v>Equipos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53.6</c:v>
                </c:pt>
                <c:pt idx="1">
                  <c:v>20.7</c:v>
                </c:pt>
                <c:pt idx="2">
                  <c:v>8.1</c:v>
                </c:pt>
                <c:pt idx="3">
                  <c:v>6.5</c:v>
                </c:pt>
                <c:pt idx="4">
                  <c:v>11.1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Empresas por tamaño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Empresas por tamaño (%)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Micro</c:v>
                  </c:pt>
                  <c:pt idx="1">
                    <c:v>Pequeña</c:v>
                  </c:pt>
                  <c:pt idx="2">
                    <c:v>Mediana</c:v>
                  </c:pt>
                  <c:pt idx="3">
                    <c:v>Grande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95.6</c:v>
                </c:pt>
                <c:pt idx="1">
                  <c:v>3.3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Millones de US$ · +11.5% anual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(proy.)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116.5</c:v>
                </c:pt>
                <c:pt idx="1">
                  <c:v>217.6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Prospectos por zona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Estampadores y fabricantes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Puebla/Tlax.</c:v>
                  </c:pt>
                  <c:pt idx="1">
                    <c:v>Edomex/CDMX</c:v>
                  </c:pt>
                  <c:pt idx="2">
                    <c:v>Jalisco</c:v>
                  </c:pt>
                  <c:pt idx="3">
                    <c:v>Guanajuato</c:v>
                  </c:pt>
                  <c:pt idx="4">
                    <c:v>Baja California</c:v>
                  </c:pt>
                  <c:pt idx="5">
                    <c:v>Nuevo León</c:v>
                  </c:pt>
                  <c:pt idx="6">
                    <c:v>Yucatán</c:v>
                  </c:pt>
                  <c:pt idx="7">
                    <c:v>La Laguna</c:v>
                  </c:pt>
                  <c:pt idx="8">
                    <c:v>Querétaro</c:v>
                  </c:pt>
                  <c:pt idx="9">
                    <c:v>Aguascalientes</c:v>
                  </c:pt>
                  <c:pt idx="10">
                    <c:v>Veracruz</c:v>
                  </c:pt>
                  <c:pt idx="11">
                    <c:v>Tamaulipas</c:v>
                  </c:pt>
                  <c:pt idx="12">
                    <c:v>Hidalgo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8</c:v>
                </c:pt>
                <c:pt idx="4">
                  <c:v>0</c:v>
                </c:pt>
                <c:pt idx="5">
                  <c:v>4</c:v>
                </c:pt>
                <c:pt idx="6">
                  <c:v>3</c:v>
                </c:pt>
                <c:pt idx="7">
                  <c:v>1</c:v>
                </c:pt>
                <c:pt idx="8">
                  <c:v>4</c:v>
                </c:pt>
                <c:pt idx="9">
                  <c:v>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OEM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Puebla/Tlax.</c:v>
                  </c:pt>
                  <c:pt idx="1">
                    <c:v>Edomex/CDMX</c:v>
                  </c:pt>
                  <c:pt idx="2">
                    <c:v>Jalisco</c:v>
                  </c:pt>
                  <c:pt idx="3">
                    <c:v>Guanajuato</c:v>
                  </c:pt>
                  <c:pt idx="4">
                    <c:v>Baja California</c:v>
                  </c:pt>
                  <c:pt idx="5">
                    <c:v>Nuevo León</c:v>
                  </c:pt>
                  <c:pt idx="6">
                    <c:v>Yucatán</c:v>
                  </c:pt>
                  <c:pt idx="7">
                    <c:v>La Laguna</c:v>
                  </c:pt>
                  <c:pt idx="8">
                    <c:v>Querétaro</c:v>
                  </c:pt>
                  <c:pt idx="9">
                    <c:v>Aguascalientes</c:v>
                  </c:pt>
                  <c:pt idx="10">
                    <c:v>Veracruz</c:v>
                  </c:pt>
                  <c:pt idx="11">
                    <c:v>Tamaulipas</c:v>
                  </c:pt>
                  <c:pt idx="12">
                    <c:v>Hidalgo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+mn-lt"/>
              </a:rPr>
              <a:t>Prospectos por región y prioridad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Prioridad A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Centroamérica</c:v>
                  </c:pt>
                  <c:pt idx="1">
                    <c:v>Caribe</c:v>
                  </c:pt>
                  <c:pt idx="2">
                    <c:v>Sudamérica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6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Prioridad B</c:v>
                </c:pt>
              </c:strCache>
            </c:strRef>
          </c:tx>
          <c:spPr>
            <a:solidFill>
              <a:srgbClr val="008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Centroamérica</c:v>
                  </c:pt>
                  <c:pt idx="1">
                    <c:v>Caribe</c:v>
                  </c:pt>
                  <c:pt idx="2">
                    <c:v>Sudamérica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16</c:v>
                </c:pt>
                <c:pt idx="2">
                  <c:v>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Prioridad C</c:v>
                </c:pt>
              </c:strCache>
            </c:strRef>
          </c:tx>
          <c:spPr>
            <a:solidFill>
              <a:srgbClr val="CFD6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Centroamérica</c:v>
                  </c:pt>
                  <c:pt idx="1">
                    <c:v>Caribe</c:v>
                  </c:pt>
                  <c:pt idx="2">
                    <c:v>Sudamérica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</c:v>
                </c:pt>
                <c:pt idx="1">
                  <c:v>11</c:v>
                </c:pt>
                <c:pt idx="2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Estudio de Mercado: Impresión Híbrida Textil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Oportunidad para CLT en México, Latinoamérica y EE. UU.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E4"/>
                </a:solidFill>
              </a:rPr>
              <a:t>TID México · VSP Printing, Inc. · CEB  |  Octubre 2026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El estudio en una página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C2"/>
                </a:solidFill>
              </a:rPr>
              <a:t>~1,900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empresas alcanzables en México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185B"/>
                </a:solidFill>
              </a:rPr>
              <a:t>82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prospectos en México (35 OEM)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600"/>
                </a:solidFill>
              </a:rPr>
              <a:t>217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prospectos en Latinoamérica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1430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distribuidores formales de híbridos chinos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Hay un mercado sin dueño: la industria necesita diferenciarse y nadie ofrece en México una solución híbrida con química y servicio local.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Contenido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9C2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Alcance y metodología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051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fabricante: CLT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745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8600"/>
                </a:solidFill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Mercado mexicano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745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Clientes prioritarios (80/20)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9C2"/>
                </a:solidFill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Competencia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697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Comercio exterior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520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8600"/>
                </a:solidFill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Latinoamérica y EE. UU.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520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Alcance y metodología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Parámetros del estudio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Qué se analizó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Mercado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Equipos híbridos, consumibles (siliconas, pastas, tintas) y servicio; sustitutos: serigrafía, DTG, DTF, sublimación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Segmentos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Maquila de exportación, estampadores industriales, uniformes y deportivo, marcas, talleres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Tamaño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Mercado total, alcanzable y capturable (TAM / SAM / SOM)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Geografía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9 zonas en México + Centroamérica, Caribe y Sudamérica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Competencia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DTG, pulpos automáticos, híbridos chinos, tintas y siliconas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</a:rPr>
                        <a:t>Comercio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Aranceles 2026, importación vía CEB, T-MEC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Fuentes: CLT (sitio y reporte anual 2025), INEGI, CANAINTEX, FESPA México, DOF, Open Supply Hub, sitios de cada empresa y tiendas en línea.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El fabricante: CLT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CLT: una empresa química que vende máquinas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fundación, Dongguan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¥568 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ingresos 2025 (~US$80 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301618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Bolsa de Shenzhen (ChiNext)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ventas de exportación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63440" y="10058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Fuente: reporte anual 2025 de CLT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Portafolio de CLT relevante para México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Híbridas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CLT-012R/015R/018R (Ricoh, 450 pzs/h) y CLT-014B/016B/018B (Brother, 400 pzs/h)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Pulpos ovalados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SM45-85, SM60-85, SM70-95: hasta 800 pzs/h, ±0.02 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DTG y DTF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DTG de 6 estaciones con pretratamiento en línea; DTF industrial CLT-6900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3464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Química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Siliconas 3D, vidrio y especiales (S-1701, S-1703, S-1704-1, S-1714-1); pastas base agua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Certificaciones declaradas por CLT: OEKO-TEX, GOTS, ISO 9001 e ISO 14001.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 tecnología híbrida: lo mejor de dos procesos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serigráfica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Blanco y efectos con pasta económica: relieve, foil, glitter, descarga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238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Color digital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Cabezales Ricoh o Brother: degradados fotográficos, colores ilimitados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7024" y="1874520"/>
            <a:ext cx="164592" cy="274320"/>
          </a:xfrm>
          <a:prstGeom prst="chevron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Efectos especiales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Silicona tipo vidrio, bordado o 3D sobre la impresión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400–450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piezas por hora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40–70%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ahorro de tinta vs DTG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500–5,000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piezas: tiraje rentable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Cómo vende CLT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Ferias con demo en vivo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Prueba con la tela del cliente y cotización el mismo día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23444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Paquete llave en mano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Máquina, química, instalación, capacitación y logística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34440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207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Inversión por etapas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Pulpo primero, estaciones digitales después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468880"/>
            <a:ext cx="329184" cy="329184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Venta por ROI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Ahorro de tinta, operadores y espacio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4688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Consumibles vinculados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Garantía con química y refacciones originales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468880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24414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Captación digital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Sitio multilingüe y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 que falta en México: servicio técnico local, inventario en el país, atención en español y sala de demostración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Muestras: color digital ilimitado</a:t>
            </a:r>
            <a:endParaRPr lang="en-US" sz="2600" dirty="0"/>
          </a:p>
        </p:txBody>
      </p:sp>
      <p:pic>
        <p:nvPicPr>
          <p:cNvPr id="3" name="Image 0" descr="Acuarela digital sobre base blanca, prenda de col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Acuarela digital sobre base blanca, prenda de color</a:t>
            </a:r>
            <a:endParaRPr lang="en-US" sz="1100" dirty="0"/>
          </a:p>
        </p:txBody>
      </p:sp>
      <p:pic>
        <p:nvPicPr>
          <p:cNvPr id="5" name="Image 1" descr="Fotorrealismo sobre prenda oscur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Fotorrealismo sobre prenda oscura</a:t>
            </a:r>
            <a:endParaRPr lang="en-US" sz="1100" dirty="0"/>
          </a:p>
        </p:txBody>
      </p:sp>
      <p:pic>
        <p:nvPicPr>
          <p:cNvPr id="7" name="Image 2" descr="Collage fotográfico a todo col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Collage fotográfico a todo color</a:t>
            </a:r>
            <a:endParaRPr lang="en-US" sz="1100" dirty="0"/>
          </a:p>
        </p:txBody>
      </p:sp>
      <p:pic>
        <p:nvPicPr>
          <p:cNvPr id="9" name="Image 3" descr="Impresión digital transpirab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Impresión digital transpirable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Muestras: efectos especiales y uniformes</a:t>
            </a:r>
            <a:endParaRPr lang="en-US" sz="2600" dirty="0"/>
          </a:p>
        </p:txBody>
      </p:sp>
      <p:pic>
        <p:nvPicPr>
          <p:cNvPr id="3" name="Image 0" descr="Alto relieve, espumante y foil en frí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920240" cy="2606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Alto relieve, espumante y foil en frío</a:t>
            </a:r>
            <a:endParaRPr lang="en-US" sz="1100" dirty="0"/>
          </a:p>
        </p:txBody>
      </p:sp>
      <p:pic>
        <p:nvPicPr>
          <p:cNvPr id="5" name="Image 1" descr="Escudo deportivo con relieve y brill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51560"/>
            <a:ext cx="192024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Escudo deportivo con relieve y brillo</a:t>
            </a:r>
            <a:endParaRPr lang="en-US" sz="1100" dirty="0"/>
          </a:p>
        </p:txBody>
      </p:sp>
      <p:pic>
        <p:nvPicPr>
          <p:cNvPr id="7" name="Image 2" descr="Serigrafía de tintas planas en prenda de col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51560"/>
            <a:ext cx="1920240" cy="2606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Serigrafía de tintas planas en prenda de color</a:t>
            </a:r>
            <a:endParaRPr lang="en-US" sz="1100" dirty="0"/>
          </a:p>
        </p:txBody>
      </p:sp>
      <p:pic>
        <p:nvPicPr>
          <p:cNvPr id="9" name="Image 3" descr="Relieve, foil dorado y destellos metálico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51560"/>
            <a:ext cx="1920240" cy="26060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Relieve, foil dorado y destellos metálicos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CLT en PRINTING United 2026 (Las Vegas)</a:t>
            </a:r>
            <a:endParaRPr lang="en-US" sz="2600" dirty="0"/>
          </a:p>
        </p:txBody>
      </p:sp>
      <p:pic>
        <p:nvPicPr>
          <p:cNvPr id="3" name="Image 0" descr="CLT en PRINTING United 2026 (Las Vegas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12064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051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Stand C3397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Línea híbrida en operación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Fotos: VSP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Reunión de VSP Printing con CLT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Pulpo automático con estación digital funcionando en vivo: así vende CLT, y así lo replicaremos en México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Mercado mexicano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Una industria que necesita diferenciarse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$91,165 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PIB textil-confección (MXN, 2025)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102,492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unidades económicas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519 mil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puestos de trabajo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exportaciones a EE. UU.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97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importación de bajo costo presiona al fabricante nacional (PIB -8.4% en 2023)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29184" cy="32918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644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Aranceles 2026: hasta 35% a prendas de países sin tratado, incluida China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329184" cy="32918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8313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salida: personalización, tirajes cortos y efectos de alto valor, justo lo que hace el híbrido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2023–2024 · CANAINTEX 2026 · DOF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Estructura de la industria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US$9,300 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exportaciones (89% a EE. UU.)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US$13,300 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importaciones (35% de China)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1,130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empresas medianas y grandes: el núcleo del mercado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INEGI (Censo 2019 y 2023)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Tamaño del mercado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~102,500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Mercado total: todas las empresas textiles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CFE6F2"/>
          </a:solidFill>
          <a:ln w="12700">
            <a:solidFill>
              <a:srgbClr val="CF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</a:rPr>
              <a:t>~1,400–1,900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Alcanzable: medianas/grandes y talleres con pulpo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4480" y="32004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8D3E1"/>
          </a:solidFill>
          <a:ln w="12700">
            <a:solidFill>
              <a:srgbClr val="F8D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</a:rPr>
              <a:t>30–90 líneas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4060"/>
                </a:solidFill>
              </a:rPr>
              <a:t>Capturable a 5 años (2–5% de adopción)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US$3.6–22 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equipos a 5 años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US$0.9–3 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 año en consumibles (50 líneas)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Estimación — confirmar con cotización CLT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Mercado en valor: impresión textil digital en México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74%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directo a tela (rollo) en 2024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DTG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directo a prenda: el segmento que más crece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~60%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Epson en digital, según Epson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Fuente: Grand View Research (2024–2030); Epson en FESPA 2026. Solo impresión digital: no incluye la serigrafía ni la química que también vende CLT.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Zonas prioritarias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65276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65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Edomex y CDMX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005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Estampadores, marcas, promocionales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1348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413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581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Jalisco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819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Moda, deportivo, marcas nacionales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742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174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Baja California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579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Serigrafía de exportación; TID + VSP en la frontera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79349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93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7340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Puebla y Tlaxcala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340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Maquila de exportación, punto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69564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69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Guanajuato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Punto y mayoreo; a 1–2 h de TID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945636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945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Laguna, Ags., N.L., Yucatán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Mezclilla, IMMEX, uniformes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82 prospectos en 13 zonas de México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prioridad 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33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prioridad 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OEM de exportación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Fuente: sitios de cada empresa, Open Supply Hub y directorios; detalle en el Excel de prospectos.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Clientes prioritarios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estampadores y fabricantes (9 de 47)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Ciudad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 qué se dedica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ADN Serigrafía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Maquila de serigrafía: 130,000+ piezas/semana, hasta 18 tintas, producción para EE. UU. y Canadá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Serigrafía Textil Automatizada (KW)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Serigrafía automatizada por volumen: campañas, deportivo y promocional; 30+ años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Manufacturas Textiles RF (Reitex)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Guadalupe, N.L.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Fábrica integrada de hilo a prenda; playeras de campaña y publicitarias de alto volumen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Diermi (Playeras Mindy)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Zapopan, Jal.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Playeras deportivas y publicitarias en nave automatizada de 5,000 m²; exporta a EE. UU.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GOCA'S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Playeras y sudaderas a gran escala con serigrafía, sublimación y bordado propios; 25+ años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SerigrafiarteSP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Ciudad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Maquila de serigrafía (plastisol, base agua, corrosión), DTF y sublimación para fábricas y marcas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Martex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Naucalpan, Edo. Méx.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Fabricante textil de gran volumen; uniformes (el directorio menciona uniformes FIFA)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Uniformes Carmen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Guadalajara, Jal.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Uniformes con serigrafía, bordado y transfer; maquila de estampado por volumen; 30+ años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Charly (Grupo Charly)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León, Gto.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deportiva: jerseys y licencias de clubes de Liga MX (León, Pachuca, Atlas, Santos)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de 82 cuentas (20%) concentran el esfuerzo comercial del año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80/20: OEM de exportación (8 de 35)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4754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Ciudad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Marcas y clientes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Vertical Knits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Baca, Yuc.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Nike, Fanatics, Tommy Hilfiger, Patagonia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Ink Throwers de México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Tijuana,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Disney, Levi's, Marvel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MD International Baja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Fanatics, Hurley, REI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Fortune Fashions Baja (Mad Engine)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Mad Engine Global,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SOIR Textiles (TJ Factory Clothing)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Factory 1 (Factory1 Group)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Ensenada, B.C.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Columbia,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Codipsa (San Fernando ScreenPrinting)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Puebla, Pue.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Puma, Gap, Hot Topic, Macy's, Disney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Manufactureras MYR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Irapuato, Gto.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adidas, Puma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17 de 82 cuentas (20%) concentran el esfuerzo comercial del año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Competencia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Competencia: el hueco está en el servicio local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Jugadores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Lectura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DTG alta gama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Kornit (Sun Digital México)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Inversión alta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Pulpos automáticos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M&amp;R, ROQ, MHM, Anatol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Clientes para estaciones digitales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Híbridos chinos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Textalk, Hanglory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Sin estructura local visible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Tintas y siliconas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ScreenTec, Avient, Matsui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Precio vs. aprobaciones de marca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Sustitutos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DTF, sublimación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DTF crece en tirajes cortos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Competidores en tintas, pastas y siliconas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66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Marca (origen)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Precio de referencia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Amenaza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Avient: Wilflex, Rutland, Union Ink, Printop (EE. UU.)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Alto: ~US$40–60/galón en colores de mezcla; especialidades US$90–310/galón (tiendas de EE. UU.)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Alta en OEM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ScreenTec: Seritex, Aquatex, Siltex (México)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Bajo: MXN 159–217/kg al menudeo (Seritex)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Alta en talleres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 (Japón)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Medio-alto; bases desde ~US$8–9/kg en Centroamérica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Media-alta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International Coatings (EE. UU.)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 (Alemania)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textil limitado (nylon, sintéticos)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RUCO / RUCOINX (Alemania)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tintas industriales para plástico, vidrio y metal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Tampoprint (Alemania)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Baja: solo etiquetas sin costura (tagless)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Marcas nacionales económicas: Dyssa, Celi Colors, Quitexa, De la Rana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Muy bajo: galón de blanco plastisol ~MXN 790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 en talleres chicos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Proveedores chinos directos (Alibaba)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Muy bajo: silicona ~€3.5–5.2/kg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Media: mismo origen que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Comex no fabrica tintas para serigrafía textil: es una marca de pinturas arquitectónicas. Precios públicos de octubre de 2026, solo como referencia; el precio de CLT para México está por confirmar.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FODA por competidor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Competidor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Fortalezas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Debilidades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Oportunidad para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Amenaza para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Avient (Wilflex, Rutland)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global; tintas certificadas y aprobadas por marcas; gama completa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alto; importado; especialidades muy caras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Siliconas y efectos especiales a menor precio; base agua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Las marcas de exportación ya tienen tintas aprobadas: cambiar es lento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Sánchez / ScreenTec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Fabricante nacional; precio bajo; red de distribución; siliconas Siltex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vende máquinas ni línea híbrida; enfoque en mercado nacional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Paquete llave en mano: máquina + química + servicio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Guerra de precios en consumibles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Matsui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Referencia en base agua, descarga y especialidades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Importado; precio medio-alto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Las pastas base agua son el 54% de las ventas de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Ya está dentro de maquilas y talleres grandes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Marabu, RUCO, Tampoprint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Calidad alemana; fuertes en gráfica, tampografía e industria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Poca oferta para estampado de prenda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No compiten de frente en ropa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Nicho de etiquetas sin costura y sintéticos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Marcas económicas nacionales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muy bajo; disponibles en cualquier tienda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Calidad variable; sin certificaciones ni soporte técnico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Talleres que crecen y necesitan calidad constante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Guerra de precios en talleres chicos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Proveedores chinos directos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Precio más bajo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Sin servicio, sin inventario local, sin garantía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Servicio local, inventario y técnicos en español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Mismo origen: el cliente compara precio contra CLT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FODA: posición de CLT + TID frente a la competencia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9C2"/>
                </a:solidFill>
              </a:rPr>
              <a:t>Fortalezas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Única oferta llave en mano: máquina híbrida + química + servicio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Química CLT de menor precio que las marcas premium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Servicio en México y EE. UU.; importación propia (CEB)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8299"/>
                </a:solidFill>
              </a:rPr>
              <a:t>Debilidades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Marca CLT poco conocida en México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Sin aprobaciones de marcas de exportación todavía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Equipo textil por formar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Oportunidades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Aranceles 2026 a China en prendas: más producción local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OEM de exportación buscan efectos de alto valor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Siliconas y efectos especiales con poca oferta local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</a:rPr>
              <a:t>Amenazas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Avient atado a las listas de tintas aprobadas de las marcas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Precio bajo de ScreenTec y de marcas económicas nacionales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DTF en tirajes cortos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</a:rPr>
              <a:t>Aranceles a insumos chinos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Comercio exterior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Importación y regulación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CEB importa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Empresa del grupo constituida en México; envío directo China → México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80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Aranceles 2026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5–50% a países sin tratado; confirmar fracciones 8443, 3215 y 3910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IVA 16%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Acreditable: afecta flujo, no costo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880360"/>
            <a:ext cx="384048" cy="384048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T-MEC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Maquiladoras exigen OEKO-TEX y respuesta rápida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Latinoamérica y EE. UU.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Latinoamérica: 217 prospectos en 16 países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47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prioridad 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Centroamérica: maquila para marcas de EE. UU.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62 + 51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Colombia y Brasil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Latinoamérica: cuentas prioridad A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2743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Empresa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País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TCPL The Caribbean Print Limitada S.R.L.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República Dominicana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Estampador por contrato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The Willbes Dominicana Inc.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República Dominicana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maquila de paquete completo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The Willbes Haitian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Haití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Estampador por contrato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Cygnus Investments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El Salvador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Estampador por contrato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Techno Screen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El Salvador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Estampador por contrato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ACSA Colors Printing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Guatemala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Estampador por contrato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Topy Top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Perú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maquila de paquete completo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Industrias Nettalco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Perú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OEM / maquila de paquete completo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Malwee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Lunelli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Grupo Kyly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F3B"/>
                          </a:solidFill>
                        </a:rPr>
                        <a:t>Brandili Têxtil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Brasil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F3B"/>
                          </a:solidFill>
                        </a:rPr>
                        <a:t>Marca de moda</a:t>
                      </a:r>
                      <a:endParaRPr lang="en-US" sz="9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Primero las 8 cuentas foco (estampado en volumen o equipo M&amp;R / híbrido); el resto de prioridad A está en el Excel.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Mapa LATAM: prospectos OEM (maquila de exportación)</a:t>
            </a:r>
            <a:endParaRPr lang="en-US" sz="2600" dirty="0"/>
          </a:p>
        </p:txBody>
      </p:sp>
      <p:pic>
        <p:nvPicPr>
          <p:cNvPr id="3" name="Image 0" descr="Mapa LATAM: prospectos OEM (maquila de exportació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914400"/>
            <a:ext cx="6638544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Estrella dorada: cuenta 80/20 en México o prioridad A en el resto de LATAM. Lista numerada por cuenta en la hoja Mapas del Excel del plan de marketing.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Mapa LATAM: estampadores y fabricantes</a:t>
            </a:r>
            <a:endParaRPr lang="en-US" sz="2600" dirty="0"/>
          </a:p>
        </p:txBody>
      </p:sp>
      <p:pic>
        <p:nvPicPr>
          <p:cNvPr id="3" name="Image 0" descr="Mapa LATAM: estampadores y fabrica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914400"/>
            <a:ext cx="6638544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Estrella dorada: cuenta 80/20 en México o prioridad A en el resto de LATAM. Lista numerada por cuenta en la hoja Mapas del Excel del plan de marketing.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Ruta de expansión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Ola 1 · años 2–3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Salvador, Honduras, Guatemala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Maquila con serigrafía para Hanes, Gildan, Tegra; venta desde México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261872"/>
            <a:ext cx="384048" cy="38404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Ola 2 · año 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Perú y Colombia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Algodón y punto de exportación; agente local con soporte de TID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Ola 3 · años 3–4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Rep. Dominicana, Haití y resto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Zonas francas con serigrafía (Gildan, Hansae)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EE. UU.: VSP Printing (California) da servicio local y atiende a las matrices de las OEM; CLT ya participa en PRINTING United.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4" name="cmyk-dot"/>
          <p:cNvSpPr/>
          <p:nvPr/>
        </p:nvSpPr>
        <p:spPr>
          <a:xfrm>
            <a:off x="594360" y="3246120"/>
            <a:ext cx="164592" cy="164592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832104" y="3246120"/>
            <a:ext cx="164592" cy="164592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6" name="cmyk-dot"/>
          <p:cNvSpPr/>
          <p:nvPr/>
        </p:nvSpPr>
        <p:spPr>
          <a:xfrm>
            <a:off x="1069848" y="3246120"/>
            <a:ext cx="164592" cy="164592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cmyk-dot"/>
          <p:cNvSpPr/>
          <p:nvPr/>
        </p:nvSpPr>
        <p:spPr>
          <a:xfrm>
            <a:off x="1307592" y="3246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Conclusiones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058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industria mexicana necesita diferenciarse frente a la importación: la impresión híbrida responde a esa necesidad.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mercado alcanzable es concentrado (~1,900 empresas): se gana con venta consultiva a pocas cuentas grandes.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77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Nadie es dueño de la categoría: no hay distribuidor formal de híbridos chinos ni oferta llave en mano con servicio local.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63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competencia en tintas es premium (Avient, Matsui) o barata (ScreenTec, marcas nacionales): CLT compite con paquete y servicio.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13048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aranceles 2026 y el T-MEC favorecen producir en México; Centroamérica y Perú son la siguiente ola.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Recomendaciones y próximos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Cotización formal de CLT para sustituir estimaciones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Validar consumos y precios con 10–15 talleres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317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Abrir la sala demo y trabajar las 17 cuentas 80/20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Confirmar aranceles y fracciones con agente aduanal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11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Preparar la entrada a Centroamérica (año 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myk-dot"/>
          <p:cNvSpPr/>
          <p:nvPr/>
        </p:nvSpPr>
        <p:spPr>
          <a:xfrm>
            <a:off x="594360" y="1097280"/>
            <a:ext cx="237744" cy="237744"/>
          </a:xfrm>
          <a:prstGeom prst="ellipse">
            <a:avLst/>
          </a:prstGeom>
          <a:solidFill>
            <a:srgbClr val="0089C2"/>
          </a:solidFill>
          <a:ln w="12700">
            <a:solidFill>
              <a:srgbClr val="0089C2"/>
            </a:solidFill>
            <a:prstDash val="solid"/>
          </a:ln>
        </p:spPr>
      </p:sp>
      <p:sp>
        <p:nvSpPr>
          <p:cNvPr id="3" name="cmyk-dot"/>
          <p:cNvSpPr/>
          <p:nvPr/>
        </p:nvSpPr>
        <p:spPr>
          <a:xfrm>
            <a:off x="923544" y="1097280"/>
            <a:ext cx="237744" cy="237744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cmyk-dot"/>
          <p:cNvSpPr/>
          <p:nvPr/>
        </p:nvSpPr>
        <p:spPr>
          <a:xfrm>
            <a:off x="1252728" y="1097280"/>
            <a:ext cx="237744" cy="23774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cmyk-dot"/>
          <p:cNvSpPr/>
          <p:nvPr/>
        </p:nvSpPr>
        <p:spPr>
          <a:xfrm>
            <a:off x="1581912" y="10972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Gracias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Carlos Moreno — TID México · carlos.moreno@tidmexico.com.mx · +52 446 479 4420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LT Propuesta">
  <a:themeElements>
    <a:clrScheme name="CLT Propuesta">
      <a:dk1>
        <a:srgbClr val="1B1F3B"/>
      </a:dk1>
      <a:lt1>
        <a:srgbClr val="FFFFFF"/>
      </a:lt1>
      <a:dk2>
        <a:srgbClr val="3A4060"/>
      </a:dk2>
      <a:lt2>
        <a:srgbClr val="EEF2F7"/>
      </a:lt2>
      <a:accent1>
        <a:srgbClr val="C2185B"/>
      </a:accent1>
      <a:accent2>
        <a:srgbClr val="0089C2"/>
      </a:accent2>
      <a:accent3>
        <a:srgbClr val="F2B705"/>
      </a:accent3>
      <a:accent4>
        <a:srgbClr val="1B1F3B"/>
      </a:accent4>
      <a:accent5>
        <a:srgbClr val="7A8299"/>
      </a:accent5>
      <a:accent6>
        <a:srgbClr val="2E7D32"/>
      </a:accent6>
      <a:hlink>
        <a:srgbClr val="0089C2"/>
      </a:hlink>
      <a:folHlink>
        <a:srgbClr val="6D2E46"/>
      </a:folHlink>
    </a:clrScheme>
    <a:fontScheme name="CLT Propues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Mercado: Impresión Híbrida Textil</dc:title>
  <dc:subject>PptxGenJS Presentation</dc:subject>
  <dc:creator>TID México</dc:creator>
  <cp:lastModifiedBy>TID México</cp:lastModifiedBy>
  <cp:revision>1</cp:revision>
  <dcterms:created xsi:type="dcterms:W3CDTF">2026-10-12T20:20:36Z</dcterms:created>
  <dcterms:modified xsi:type="dcterms:W3CDTF">2026-10-12T20:20:36Z</dcterms:modified>
</cp:coreProperties>
</file>