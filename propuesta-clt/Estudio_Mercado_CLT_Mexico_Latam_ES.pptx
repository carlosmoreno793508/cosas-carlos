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cdd6f909-99aa-446a-694a-647e901c8fa3}">
          <p14:sldIdLst>
            <p14:sldId id="256"/>
            <p14:sldId id="257"/>
            <p14:sldId id="258"/>
          </p14:sldIdLst>
        </p14:section>
        <p14:section name="Alcance y metodología" id="{59635f1f-0f01-adc8-20b1-3565b3767385}">
          <p14:sldIdLst>
            <p14:sldId id="259"/>
            <p14:sldId id="260"/>
          </p14:sldIdLst>
        </p14:section>
        <p14:section name="El fabricante: CLT" id="{0ce50232-2995-3d0d-1c50-e59d9bc377c6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rcado mexicano" id="{18fab30b-8f3a-1260-6f29-82fe4bd169b3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lientes prioritarios" id="{a6588296-2bd0-4af7-786b-a7334245df82}">
          <p14:sldIdLst>
            <p14:sldId id="275"/>
            <p14:sldId id="276"/>
            <p14:sldId id="277"/>
          </p14:sldIdLst>
        </p14:section>
        <p14:section name="Competencia" id="{74ff7dad-2423-687f-6d0f-21af50c0e183}">
          <p14:sldIdLst>
            <p14:sldId id="278"/>
            <p14:sldId id="279"/>
            <p14:sldId id="280"/>
            <p14:sldId id="281"/>
            <p14:sldId id="282"/>
          </p14:sldIdLst>
        </p14:section>
        <p14:section name="Comercio exterior" id="{f61edf44-1445-f388-e591-a5de80b8e40e}">
          <p14:sldIdLst>
            <p14:sldId id="283"/>
            <p14:sldId id="284"/>
          </p14:sldIdLst>
        </p14:section>
        <p14:section name="Latinoamérica y EE. UU." id="{a418e2a0-2068-f144-6147-e73723bffc4b}">
          <p14:sldIdLst>
            <p14:sldId id="285"/>
            <p14:sldId id="286"/>
            <p14:sldId id="287"/>
            <p14:sldId id="288"/>
          </p14:sldIdLst>
        </p14:section>
        <p14:section name="Conclusiones" id="{9f445820-cc6b-13bf-41e2-dbb32a0aa5b2}">
          <p14:sldIdLst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Empresas por tamaño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Empresas por tamaño (%)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Micro</c:v>
                  </c:pt>
                  <c:pt idx="1">
                    <c:v>Pequeña</c:v>
                  </c:pt>
                  <c:pt idx="2">
                    <c:v>Mediana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95.6</c:v>
                </c:pt>
                <c:pt idx="1">
                  <c:v>3.3</c:v>
                </c:pt>
                <c:pt idx="2">
                  <c:v>0.8</c:v>
                </c:pt>
                <c:pt idx="3">
                  <c:v>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Prospectos por zona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Estampadores y fabricantes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4</c:v>
                </c:pt>
                <c:pt idx="6">
                  <c:v>3</c:v>
                </c:pt>
                <c:pt idx="7">
                  <c:v>1</c:v>
                </c:pt>
                <c:pt idx="8">
                  <c:v>4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OEM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</c:v>
                </c:pt>
                <c:pt idx="1">
                  <c:v>5</c:v>
                </c:pt>
                <c:pt idx="2">
                  <c:v>1</c:v>
                </c:pt>
                <c:pt idx="3">
                  <c:v>2</c:v>
                </c:pt>
                <c:pt idx="4">
                  <c:v>7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Prospectos por región y prioridad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Prioridad A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Prioridad B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</c:v>
                </c:pt>
                <c:pt idx="1">
                  <c:v>16</c:v>
                </c:pt>
                <c:pt idx="2">
                  <c:v>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Prioridad C</c:v>
                </c:pt>
              </c:strCache>
            </c:strRef>
          </c:tx>
          <c:spPr>
            <a:solidFill>
              <a:srgbClr val="CFD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</c:v>
                </c:pt>
                <c:pt idx="1">
                  <c:v>11</c:v>
                </c:pt>
                <c:pt idx="2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Estudio de mercado CLT — TID · VSP · CEB —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Estudio de Mercado: Impresión Híbrida Textil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Oportunidad para CLT en México, Latinoamérica y EE. UU.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El estudio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~1,900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empresas alcanzables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82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prospectos en México (35 OEM)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119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prospectos en Latinoamérica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Hay un mercado sin dueño: la industria necesita diferenciarse y nadie ofrece en México una solución híbrida con química y servicio local.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Contenido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Alcance y metodología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fabricante: CLT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Mercado mexicano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Clientes prioritarios (80/20)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Competencia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Comercio exterior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Latinoamérica y EE. UU.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Alcance y metodología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Parámetros del estudio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Parámetro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Qué se analizó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Mercado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Equipos híbridos, consumibles (siliconas, pastas, tintas) y servicio; sustitutos: serigrafía, DTG, DTF, sublimación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Segmentos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Maquila de exportación, estampadores industriales, uniformes y deportivo, marcas, talleres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Tamaño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Mercado total, alcanzable y capturable (TAM / SAM / SOM)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Geografía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9 zonas en México + Centroamérica, Caribe y Sudamérica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Competencia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DTG, pulpos automáticos, híbridos chinos, tintas y siliconas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Comercio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Aranceles 2026, importación vía CEB, T-MEC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Fuentes: CLT (sitio y reporte anual 2025), INEGI, CANAINTEX, FESPA México, DOF, Open Supply Hub, sitios de cada empresa y tiendas en línea.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fabricante: CLT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Fuente: reporte anual 2025 de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Portafolio de CLT relevante para México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Híbridas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CLT-012R/015R/018R (Ricoh, 450 pzs/h) y CLT-014B/016B/018B (Brother, 400 pzs/h)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Pulpos ovalados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SM45-85, SM60-85, SM70-95: hasta 800 pzs/h, ±0.02 mm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DTG y DTF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DTG de 6 estaciones con pretratamiento en línea; DTF industrial CLT-6900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3464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Química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Siliconas 3D, vidrio y especiales (S-1701, S-1703, S-1704-1, S-1714-1); pastas base agua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Certificaciones declaradas por CLT: OEKO-TEX, GOTS, ISO 9001 e ISO 14001.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color digital ilimitado</a:t>
            </a:r>
            <a:endParaRPr lang="en-US" sz="2600" dirty="0"/>
          </a:p>
        </p:txBody>
      </p:sp>
      <p:pic>
        <p:nvPicPr>
          <p:cNvPr id="3" name="Image 0" descr="Acuarela digital sobre base blanca, prenda de col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Acuarela digital sobre base blanca, prenda de color</a:t>
            </a:r>
            <a:endParaRPr lang="en-US" sz="1100" dirty="0"/>
          </a:p>
        </p:txBody>
      </p:sp>
      <p:pic>
        <p:nvPicPr>
          <p:cNvPr id="5" name="Image 1" descr="Fotorrealismo sobre prenda oscur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Fotorrealismo sobre prenda oscura</a:t>
            </a:r>
            <a:endParaRPr lang="en-US" sz="1100" dirty="0"/>
          </a:p>
        </p:txBody>
      </p:sp>
      <p:pic>
        <p:nvPicPr>
          <p:cNvPr id="7" name="Image 2" descr="Collage fotográfico a todo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Collage fotográfico a todo color</a:t>
            </a:r>
            <a:endParaRPr lang="en-US" sz="1100" dirty="0"/>
          </a:p>
        </p:txBody>
      </p:sp>
      <p:pic>
        <p:nvPicPr>
          <p:cNvPr id="9" name="Image 3" descr="Impresión digital transpirab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Impresión digital transpirable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efectos especiales y uniformes</a:t>
            </a:r>
            <a:endParaRPr lang="en-US" sz="2600" dirty="0"/>
          </a:p>
        </p:txBody>
      </p:sp>
      <p:pic>
        <p:nvPicPr>
          <p:cNvPr id="3" name="Image 0" descr="Alto relieve, espumante y foil en frí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Alto relieve, espumante y foil en frío</a:t>
            </a:r>
            <a:endParaRPr lang="en-US" sz="1100" dirty="0"/>
          </a:p>
        </p:txBody>
      </p:sp>
      <p:pic>
        <p:nvPicPr>
          <p:cNvPr id="5" name="Image 1" descr="Escudo deportivo con relieve y brill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Escudo deportivo con relieve y brillo</a:t>
            </a:r>
            <a:endParaRPr lang="en-US" sz="1100" dirty="0"/>
          </a:p>
        </p:txBody>
      </p:sp>
      <p:pic>
        <p:nvPicPr>
          <p:cNvPr id="7" name="Image 2" descr="Serigrafía de tintas planas en prenda de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Serigrafía de tintas planas en prenda de color</a:t>
            </a:r>
            <a:endParaRPr lang="en-US" sz="1100" dirty="0"/>
          </a:p>
        </p:txBody>
      </p:sp>
      <p:pic>
        <p:nvPicPr>
          <p:cNvPr id="9" name="Image 3" descr="Relieve, foil dorado y destellos metálico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Relieve, foil dorado y destellos metálicos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en PRINTING United 2026 (Las Vegas)</a:t>
            </a:r>
            <a:endParaRPr lang="en-US" sz="2600" dirty="0"/>
          </a:p>
        </p:txBody>
      </p:sp>
      <p:pic>
        <p:nvPicPr>
          <p:cNvPr id="3" name="Image 0" descr="CLT en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Stand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 híbrida en operación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Fotos: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Reunión de VSP Printing con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Pulpo automático con estación digital funcionando en vivo: así vende CLT, y así lo replicaremos en México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Estructura de la industria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US$9,300 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(89% a EE. UU.)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US$13,300 M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importaciones (35% de China)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1,130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empresas medianas y grandes: el núcleo del mercado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(Censo 2019 y 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Serigrafía de exportación; TID + VSP en la frontera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82 prospectos en 13 zonas de México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097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33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B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OEM de exportación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Fuente: sitios de cada empresa, Open Supply Hub y directorios; detalle en el Excel de prospectos.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Clientes prioritarios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estampadores y fabricantes (9 de 47)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 qué se dedica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serigrafía: 130,000+ piezas/semana, hasta 18 tintas, producción para EE. UU. y Canadá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Serigrafía automatizada por volumen: campañas, deportivo y promocional; 30+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Fábrica integrada de hilo a prenda; playeras de campaña y publicitarias de alto volumen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deportivas y publicitarias en nave automatizada de 5,000 m²; exporta a EE. UU.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y sudaderas a gran escala con serigrafía, sublimación y bordado propios; 25+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 (plastisol, base agua, corrosión), DTF y sublimación para fábricas y marcas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textil de gran volumen; uniformes (el directorio menciona uniformes FIFA)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Uniformes con serigrafía, bordado y transfer; maquila de estampado por volumen; 30+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deportiva: jerseys y licencias de clubes de Liga MX (León, Pachuca, Atlas, Santos)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concentran 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OEM de exportación (8 de 35)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Marcas y clientes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concentran 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Competencia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Tintas y siliconas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Precio vs. aprobaciones de marca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Competidores en tintas, pastas y siliconas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 (origen)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Precio de referencia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Alto: ~US$40–60/galón en colores de mezcla; especialidades US$90–310/galón (tiendas de 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OEM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(México)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Bajo: MXN 159–217/kg al menudeo (Seritex)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talleres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(Japón)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Medio-alto; bases desde ~US$8–9/kg en Centroamérica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Media-alta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textil limitado (nylon, sintéticos)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tintas industriales para plástico, vidrio y metal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solo etiquetas sin costura (tagless)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nacionales económicas: Dyssa, Celi Colors, Quitexa, De la Rana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galón de blanco plastisol ~MXN 790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 en talleres chicos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 (Alibaba)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silicona ~€3.5–5.2/kg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Media: mismo origen que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no fabrica tintas para serigrafía textil: es una marca de pinturas arquitectónicas. Precios públicos de octubre de 2026, solo como referencia; el precio de CLT para México está por confirmar.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 por competidor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Fortalezas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Debilidades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Oportunidad para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 para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global; tintas certificadas y aprobadas por marcas; gama completa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alto; importado; especialidades muy caras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Siliconas y efectos especiales a menor precio; base agua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marcas de exportación ya tienen tintas aprobadas: cambiar es lento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nacional; precio bajo; red de distribución; siliconas Siltex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vende máquinas ni línea híbrida; enfoque en mercado nacional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Paquete llave en mano: máquina + química + servicio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consumibles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Referencia en base agua, descarga y especialidades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Importado; precio medio-alto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pastas base agua son el 54% de las ventas de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Ya está dentro de maquilas y talleres grandes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alemana; fuertes en gráfica, tampografía e industria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Poca oferta para estampado de prenda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compiten de frente en ropa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Nicho de etiquetas sin costura y sintéticos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económicas nacionales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muy bajo; disponibles en cualquier tienda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variable; sin certificaciones ni soporte técnico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Talleres que crecen y necesitan calidad constante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talleres chicos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más bajo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Sin servicio, sin inventario local, sin garantía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Servicio local, inventario y técnicos en español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Mismo origen: el cliente compara precio contra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FODA: posición de CLT + TID frente a la competencia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Fortalezas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Única oferta llave en mano: máquina híbrida + química + servicio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Química CLT de menor precio que las marcas premium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Servicio en México y EE. UU.; importación propia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Debilidades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Marca CLT poco conocida en México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Sin aprobaciones de marcas de exportación todavía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Equipo textil por formar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Oportunidades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2026 a China en prendas: más producción local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OEM de exportación buscan efectos de alto valor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Siliconas y efectos especiales con poca oferta local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Amenazas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atado a las listas de tintas aprobadas de las marcas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Precio bajo de ScreenTec y de marcas económicas nacionales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en tirajes cortos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a insumos chinos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Comercio exterior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Latinoamérica y EE. UU.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Latinoamérica: 119 prospectos en 16 países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24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44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Centroamérica: maquila para marcas de EE. UU.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19 + 14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Perú y Colombia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Latinoamérica: cuentas prioridad A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País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TCPL The Caribbean Print Limitada S.R.L.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Dominicana Inc.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Haitian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Haití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Cygnus Investments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Techno Screen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ACSA Colors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Topy Top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Nettalco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Moderna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Uniwell Apparel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Haití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Sun Island Jamaica Ltd.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Jamaica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de ropa deportiva/uniformes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Gildan Activewear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Honduras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Primero las 8 cuentas foco (estampado en volumen o equipo M&amp;R / híbrido); el resto de prioridad A está en el Excel.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Ruta de expansión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1 · años 2–3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Salvador, Honduras, Guatemala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 con serigrafía para Hanes, Gildan, Tegra; venta desde México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2 · año 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Perú y Colombia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Algodón y punto de exportación; agente local con soporte de TID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3 · años 3–4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Rep. Dominicana, Haití y resto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Zonas francas con serigrafía (Gildan, Hansae)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EE. UU.: VSP Printing (California) da servicio local y atiende a las matrices de las OEM; CLT ya participa en PRINTING United.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Conclusiones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Conclusiones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058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industria mexicana necesita diferenciarse frente a la importación: la impresión híbrida responde a esa necesidad.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mercado alcanzable es concentrado (~1,900 empresas): se gana con venta consultiva a pocas cuentas grandes.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41448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41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Nadie es dueño de la categoría: no hay distribuidor formal de híbridos chinos ni oferta llave en mano con servicio local.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63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competencia en tintas es premium (Avient, Matsui) o barata (ScreenTec, marcas nacionales): CLT compite con paquete y servicio.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7490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aranceles 2026 y el T-MEC favorecen producir en México; Centroamérica y Perú son la siguiente ola.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Recomendaciones y 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para sustituir estimaciones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y precios con 10–15 talleres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Abrir la sala demo y trabajar las 17 cuentas 80/20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y fracciones con agente aduanal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Preparar la entrada a Centroamérica (año 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Mercado: Impresión Híbrida Textil</dc:title>
  <dc:subject>PptxGenJS Presentation</dc:subject>
  <dc:creator>TID México</dc:creator>
  <cp:lastModifiedBy>TID México</cp:lastModifiedBy>
  <cp:revision>1</cp:revision>
  <dcterms:created xsi:type="dcterms:W3CDTF">2026-10-08T14:21:58Z</dcterms:created>
  <dcterms:modified xsi:type="dcterms:W3CDTF">2026-10-08T14:21:58Z</dcterms:modified>
</cp:coreProperties>
</file>