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8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9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0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7c83e1f-d84c-3a45-1d7e-4ad4d6220b8f}">
          <p14:sldIdLst>
            <p14:sldId id="256"/>
            <p14:sldId id="257"/>
            <p14:sldId id="258"/>
          </p14:sldIdLst>
        </p14:section>
        <p14:section name="Scope and methodology" id="{0f253a8f-c22e-57ab-9566-b100fc1d18de}">
          <p14:sldIdLst>
            <p14:sldId id="259"/>
            <p14:sldId id="260"/>
          </p14:sldIdLst>
        </p14:section>
        <p14:section name="The manufacturer: CLT" id="{c14d31f9-8748-98d6-4efe-09d7a85e4d3c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Mexican market" id="{9bb41fab-2eb9-951d-a99c-81ecf6c468b8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Priority accounts" id="{f62a6477-9ca8-720d-11e0-9153ef6ff9e7}">
          <p14:sldIdLst>
            <p14:sldId id="276"/>
            <p14:sldId id="277"/>
            <p14:sldId id="278"/>
          </p14:sldIdLst>
        </p14:section>
        <p14:section name="Competition" id="{16c40829-2b58-cd32-0fee-b72deaeb3742}">
          <p14:sldIdLst>
            <p14:sldId id="279"/>
            <p14:sldId id="280"/>
            <p14:sldId id="281"/>
            <p14:sldId id="282"/>
            <p14:sldId id="283"/>
          </p14:sldIdLst>
        </p14:section>
        <p14:section name="Trade" id="{570a347a-d9fa-b507-a66a-02a1f8534bab}">
          <p14:sldIdLst>
            <p14:sldId id="284"/>
            <p14:sldId id="285"/>
          </p14:sldIdLst>
        </p14:section>
        <p14:section name="Latin America and the U.S." id="{a3ff4703-78ed-ec89-af0c-b3660c748c32}">
          <p14:sldIdLst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Conclusions" id="{eda42934-a85f-6c7b-f494-fd480490df99}">
          <p14:sldIdLst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2025 revenue by line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revenue by line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185B"/>
              </a:solidFill>
              <a:effectLst/>
            </c:spPr>
          </c:dPt>
          <c:dPt>
            <c:idx val="1"/>
            <c:bubble3D val="0"/>
            <c:spPr>
              <a:solidFill>
                <a:srgbClr val="0089C2"/>
              </a:solidFill>
              <a:effectLst/>
            </c:spPr>
          </c:dPt>
          <c:dPt>
            <c:idx val="2"/>
            <c:bubble3D val="0"/>
            <c:spPr>
              <a:solidFill>
                <a:srgbClr val="7A8299"/>
              </a:solidFill>
              <a:effectLst/>
            </c:spPr>
          </c:dPt>
          <c:dPt>
            <c:idx val="3"/>
            <c:bubble3D val="0"/>
            <c:spPr>
              <a:solidFill>
                <a:srgbClr val="F2B705"/>
              </a:solidFill>
              <a:effectLst/>
            </c:spPr>
          </c:dPt>
          <c:dPt>
            <c:idx val="4"/>
            <c:bubble3D val="0"/>
            <c:spPr>
              <a:solidFill>
                <a:srgbClr val="CFD6E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Water-based pastes</c:v>
                </c:pt>
                <c:pt idx="1">
                  <c:v>Silicones</c:v>
                </c:pt>
                <c:pt idx="2">
                  <c:v>Resins</c:v>
                </c:pt>
                <c:pt idx="3">
                  <c:v>Equipment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53.6</c:v>
                </c:pt>
                <c:pt idx="1">
                  <c:v>20.7</c:v>
                </c:pt>
                <c:pt idx="2">
                  <c:v>8.1</c:v>
                </c:pt>
                <c:pt idx="3">
                  <c:v>6.5</c:v>
                </c:pt>
                <c:pt idx="4">
                  <c:v>11.1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Companies by size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Companies by size (%)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Micro</c:v>
                  </c:pt>
                  <c:pt idx="1">
                    <c:v>Small</c:v>
                  </c:pt>
                  <c:pt idx="2">
                    <c:v>Medium</c:v>
                  </c:pt>
                  <c:pt idx="3">
                    <c:v>Large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95.6</c:v>
                </c:pt>
                <c:pt idx="1">
                  <c:v>3.3</c:v>
                </c:pt>
                <c:pt idx="2">
                  <c:v>0.8</c:v>
                </c:pt>
                <c:pt idx="3">
                  <c:v>0.3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US$ millions · +11.5% a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M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2030 (fcst.)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116.5</c:v>
                </c:pt>
                <c:pt idx="1">
                  <c:v>217.6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Prospects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Printers and manufacturers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Puebla/Tlax.</c:v>
                  </c:pt>
                  <c:pt idx="1">
                    <c:v>Edomex/CDMX</c:v>
                  </c:pt>
                  <c:pt idx="2">
                    <c:v>Jalisco</c:v>
                  </c:pt>
                  <c:pt idx="3">
                    <c:v>Guanajuato</c:v>
                  </c:pt>
                  <c:pt idx="4">
                    <c:v>Baja California</c:v>
                  </c:pt>
                  <c:pt idx="5">
                    <c:v>Nuevo León</c:v>
                  </c:pt>
                  <c:pt idx="6">
                    <c:v>Yucatán</c:v>
                  </c:pt>
                  <c:pt idx="7">
                    <c:v>La Laguna</c:v>
                  </c:pt>
                  <c:pt idx="8">
                    <c:v>Querétaro</c:v>
                  </c:pt>
                  <c:pt idx="9">
                    <c:v>Aguascalientes</c:v>
                  </c:pt>
                  <c:pt idx="10">
                    <c:v>Veracruz</c:v>
                  </c:pt>
                  <c:pt idx="11">
                    <c:v>Tamaulipas</c:v>
                  </c:pt>
                  <c:pt idx="12">
                    <c:v>Hidalgo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</c:v>
                </c:pt>
                <c:pt idx="1">
                  <c:v>8</c:v>
                </c:pt>
                <c:pt idx="2">
                  <c:v>9</c:v>
                </c:pt>
                <c:pt idx="3">
                  <c:v>8</c:v>
                </c:pt>
                <c:pt idx="4">
                  <c:v>0</c:v>
                </c:pt>
                <c:pt idx="5">
                  <c:v>4</c:v>
                </c:pt>
                <c:pt idx="6">
                  <c:v>3</c:v>
                </c:pt>
                <c:pt idx="7">
                  <c:v>1</c:v>
                </c:pt>
                <c:pt idx="8">
                  <c:v>4</c:v>
                </c:pt>
                <c:pt idx="9">
                  <c:v>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OEMs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Puebla/Tlax.</c:v>
                  </c:pt>
                  <c:pt idx="1">
                    <c:v>Edomex/CDMX</c:v>
                  </c:pt>
                  <c:pt idx="2">
                    <c:v>Jalisco</c:v>
                  </c:pt>
                  <c:pt idx="3">
                    <c:v>Guanajuato</c:v>
                  </c:pt>
                  <c:pt idx="4">
                    <c:v>Baja California</c:v>
                  </c:pt>
                  <c:pt idx="5">
                    <c:v>Nuevo León</c:v>
                  </c:pt>
                  <c:pt idx="6">
                    <c:v>Yucatán</c:v>
                  </c:pt>
                  <c:pt idx="7">
                    <c:v>La Laguna</c:v>
                  </c:pt>
                  <c:pt idx="8">
                    <c:v>Querétaro</c:v>
                  </c:pt>
                  <c:pt idx="9">
                    <c:v>Aguascalientes</c:v>
                  </c:pt>
                  <c:pt idx="10">
                    <c:v>Veracruz</c:v>
                  </c:pt>
                  <c:pt idx="11">
                    <c:v>Tamaulipas</c:v>
                  </c:pt>
                  <c:pt idx="12">
                    <c:v>Hidalgo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8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  <c:pt idx="4">
                  <c:v>7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Prospects by region and priority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A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Central America</c:v>
                  </c:pt>
                  <c:pt idx="1">
                    <c:v>Caribbean</c:v>
                  </c:pt>
                  <c:pt idx="2">
                    <c:v>South America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6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 B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Central America</c:v>
                  </c:pt>
                  <c:pt idx="1">
                    <c:v>Caribbean</c:v>
                  </c:pt>
                  <c:pt idx="2">
                    <c:v>South America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</c:v>
                </c:pt>
                <c:pt idx="1">
                  <c:v>16</c:v>
                </c:pt>
                <c:pt idx="2">
                  <c:v>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Priority C</c:v>
                </c:pt>
              </c:strCache>
            </c:strRef>
          </c:tx>
          <c:spPr>
            <a:solidFill>
              <a:srgbClr val="CFD6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Central America</c:v>
                  </c:pt>
                  <c:pt idx="1">
                    <c:v>Caribbean</c:v>
                  </c:pt>
                  <c:pt idx="2">
                    <c:v>South America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</c:v>
                </c:pt>
                <c:pt idx="1">
                  <c:v>11</c:v>
                </c:pt>
                <c:pt idx="2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myk-dot"/>
          <p:cNvSpPr/>
          <p:nvPr/>
        </p:nvSpPr>
        <p:spPr>
          <a:xfrm>
            <a:off x="594360" y="1097280"/>
            <a:ext cx="237744" cy="23774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3" name="cmyk-dot"/>
          <p:cNvSpPr/>
          <p:nvPr/>
        </p:nvSpPr>
        <p:spPr>
          <a:xfrm>
            <a:off x="923544" y="1097280"/>
            <a:ext cx="237744" cy="23774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cmyk-dot"/>
          <p:cNvSpPr/>
          <p:nvPr/>
        </p:nvSpPr>
        <p:spPr>
          <a:xfrm>
            <a:off x="1252728" y="1097280"/>
            <a:ext cx="237744" cy="23774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1581912" y="109728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Market Study: Hybrid Textile Printing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Opportunity for CLT in Mexico, Latin America and the U.S.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6E4"/>
                </a:solidFill>
              </a:rPr>
              <a:t>TID México · VSP Printing, Inc. · CEB  |  October 2026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study on one page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C2"/>
                </a:solidFill>
              </a:rPr>
              <a:t>~1,900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reachable companies in Mexico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185B"/>
                </a:solidFill>
              </a:rPr>
              <a:t>82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prospects in Mexico (35 OEMs)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8600"/>
                </a:solidFill>
              </a:rPr>
              <a:t>217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prospects in Latin America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formal distributors of Chinese hybrids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market without an owner: the industry needs to stand out, and nobody in Mexico offers a hybrid solution with local chemistry and service.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9C2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Scope and methodology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515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</a:rPr>
              <a:t>02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manufacturer: CLT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8745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8600"/>
                </a:solidFill>
              </a:rPr>
              <a:t>03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Mexican market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8745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Priority accounts (80/20)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974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9C2"/>
                </a:solidFill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Competition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26974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Trade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520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8600"/>
                </a:solidFill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Latin America and the U.S.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35204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520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08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Conclusions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Scope and methodology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Study parameters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we analyzed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Market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Hybrid equipment, consumables (silicones, pastes, inks) and service; substitutes: screen, DTG, DTF, sublimation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Segments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Export contractors, industrial printers, uniforms and sportswear, brands, shops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Size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Total, reachable and capturable market (TAM / SAM / SOM)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Geography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9 regions in Mexico + Central America, the Caribbean and South America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Competition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DTG, automatic carousels, Chinese hybrids, inks and silicones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Trade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2026 tariffs, import through CEB, USMCA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Sources: CLT (website and 2025 annual report), INEGI, CANAINTEX, FESPA México, DOF, Open Supply Hub, company websites and online stores.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manufacturer: CLT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CLT: a chemistry company that sells machines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2009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founded, Dongguan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¥568M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2025 revenue (~US$80M)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301618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Shenzhen Stock Exchange (ChiNext)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18%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export sales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663440" y="100584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Source: CLT 2025 annual report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CLT portfolio relevant to Mexico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Hybrids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CLT-012R/015R/018R (Ricoh, 450 pcs/h) and CLT-014B/016B/018B (Brother, 400 pcs/h)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Oval carousels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SM45-85, SM60-85, SM70-95: up to 800 pcs/h, ±0.02 mm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DTG and DTF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37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6-station DTG with inline pretreatment; industrial DTF CLT-6900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34640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Chemistry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337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3D, glass and special silicones (S-1701, S-1703, S-1704-1, S-1714-1); water-based pastes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Certifications stated by CLT: OEKO-TEX, GOTS, ISO 9001 and ISO 14001.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Hybrid technology: the best of two processes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61872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Screen base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White and effects with low-cost paste: puff, foil, glitter, discharge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72384" y="1874520"/>
            <a:ext cx="164592" cy="274320"/>
          </a:xfrm>
          <a:prstGeom prst="chevron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261872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Digital color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Ricoh or Brother heads: photographic gradients, unlimited colors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07024" y="1874520"/>
            <a:ext cx="164592" cy="274320"/>
          </a:xfrm>
          <a:prstGeom prst="chevron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261872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Special effects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Glass-like, embroidery-like or 3D silicone over the print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400–450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pieces per hour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40–70%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ink savings vs DTG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500–5,000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pieces: profitable run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CLT sells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Live-demo trade shows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Tests on the customer’s fabric and same-day quote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234440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Turnkey package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Machine, chemistry, installation, training and logistics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234440"/>
            <a:ext cx="329184" cy="32918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Phased investment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Press first, digital stations later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468880"/>
            <a:ext cx="329184" cy="329184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ROI-based selling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Savings in ink, operators and floor space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246888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Linked consumables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Warranty with genuine chemistry and parts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468880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Digital lead capture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Multilingual site and WhatsApp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Missing in Mexico: local technical service, in-country inventory, Spanish-language support and a demo showroom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Samples: unlimited digital color</a:t>
            </a:r>
            <a:endParaRPr lang="en-US" sz="2600" dirty="0"/>
          </a:p>
        </p:txBody>
      </p:sp>
      <p:pic>
        <p:nvPicPr>
          <p:cNvPr id="3" name="Image 0" descr="Digital watercolor over white base, colored garmen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920240" cy="2606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Digital watercolor over white base, colored garment</a:t>
            </a:r>
            <a:endParaRPr lang="en-US" sz="1100" dirty="0"/>
          </a:p>
        </p:txBody>
      </p:sp>
      <p:pic>
        <p:nvPicPr>
          <p:cNvPr id="5" name="Image 1" descr="Photorealism on a dark garmen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051560"/>
            <a:ext cx="1920240" cy="2606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Photorealism on a dark garment</a:t>
            </a:r>
            <a:endParaRPr lang="en-US" sz="1100" dirty="0"/>
          </a:p>
        </p:txBody>
      </p:sp>
      <p:pic>
        <p:nvPicPr>
          <p:cNvPr id="7" name="Image 2" descr="Full-color photographic collag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051560"/>
            <a:ext cx="1920240" cy="2606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Full-color photographic collage</a:t>
            </a:r>
            <a:endParaRPr lang="en-US" sz="1100" dirty="0"/>
          </a:p>
        </p:txBody>
      </p:sp>
      <p:pic>
        <p:nvPicPr>
          <p:cNvPr id="9" name="Image 3" descr="Breathable digital prin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0" y="1051560"/>
            <a:ext cx="1920240" cy="2606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Breathable digital print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Samples: special effects and uniforms</a:t>
            </a:r>
            <a:endParaRPr lang="en-US" sz="2600" dirty="0"/>
          </a:p>
        </p:txBody>
      </p:sp>
      <p:pic>
        <p:nvPicPr>
          <p:cNvPr id="3" name="Image 0" descr="High build, puff and cold foi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920240" cy="2606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High build, puff and cold foil</a:t>
            </a:r>
            <a:endParaRPr lang="en-US" sz="1100" dirty="0"/>
          </a:p>
        </p:txBody>
      </p:sp>
      <p:pic>
        <p:nvPicPr>
          <p:cNvPr id="5" name="Image 1" descr="Sports crest with relief and shimme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051560"/>
            <a:ext cx="1920240" cy="2606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Sports crest with relief and shimmer</a:t>
            </a:r>
            <a:endParaRPr lang="en-US" sz="1100" dirty="0"/>
          </a:p>
        </p:txBody>
      </p:sp>
      <p:pic>
        <p:nvPicPr>
          <p:cNvPr id="7" name="Image 2" descr="Spot-color screen print on colored garmen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051560"/>
            <a:ext cx="1920240" cy="2606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Spot-color screen print on colored garment</a:t>
            </a:r>
            <a:endParaRPr lang="en-US" sz="1100" dirty="0"/>
          </a:p>
        </p:txBody>
      </p:sp>
      <p:pic>
        <p:nvPicPr>
          <p:cNvPr id="9" name="Image 3" descr="Relief, gold foil and metallic spark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0" y="1051560"/>
            <a:ext cx="1920240" cy="2606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Relief, gold foil and metallic sparkle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CLT at PRINTING United 2026 (Las Vegas)</a:t>
            </a:r>
            <a:endParaRPr lang="en-US" sz="2600" dirty="0"/>
          </a:p>
        </p:txBody>
      </p:sp>
      <p:pic>
        <p:nvPicPr>
          <p:cNvPr id="3" name="Image 0" descr="CLT at PRINTING United 2026 (Las Vegas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512064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Booth C3397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Hybrid line running live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2240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Photos: VSP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VSP Printing meeting with CLT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Automatic carousel with a live digital station: this is how CLT sells, and how we will replicate it in Mexico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Mexican market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An industry that needs to differentiate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MXN 91.2 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textile &amp; apparel GDP (2025)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102,492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businesses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519k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jobs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89%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exports go to the U.S.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6974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Low-cost imports pressure domestic makers (GDP -8.4% in 2023)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64408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26440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 tariffs: up to 35% on garments from non-FTA countries, including China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329184" cy="32918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83133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answer: customization, short runs and high-value effects, exactly what hybrid printing does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INEGI 2023–2024 · CANAINTEX 2026 · DOF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Industry structure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097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US$9.3 B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exports (89% to the U.S.)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US$13.3 B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imports (35% from China)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1,130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medium and large firms: the core of the market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INEGI (Censo 2019 y 2023)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Market size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~102,500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Total market: all textile businesses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" y="2148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CFE6F2"/>
          </a:solidFill>
          <a:ln w="12700">
            <a:solidFill>
              <a:srgbClr val="CF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~1,400–1,900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Serviceable: medium/large firms and shops with carousels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54480" y="32004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8D3E1"/>
          </a:solidFill>
          <a:ln w="12700">
            <a:solidFill>
              <a:srgbClr val="F8D3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185B"/>
                </a:solidFill>
              </a:rPr>
              <a:t>30–90 lines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Obtainable in 5 years (2–5% adoption)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US$3.6–22M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 equipment over 5 years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560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US$0.9–3M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 year in consumables (50 lines)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Estimate — to be confirmed with CLT’s quotation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Market value: digital textile printing in Mexico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051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74%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 to fabric (roll) in 2024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DTG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 to garment: the fastest-growing segment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~60%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Epson in digital, per Epson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Source: Grand View Research (2024–2030); Epson at FESPA 2026. Digital printing only: excludes the screen printing and chemistry CLT also sells.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Priority regions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65276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65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05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State of Mexico &amp; CDMX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005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Printers, brands, promotional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41348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413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581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Jalisco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5819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Fashion, sportswear, domestic brands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21742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2174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1579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Baja California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1579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Export screen printing; TID + VSP at the border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34056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793492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7934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7340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Puebla &amp; Tlaxcala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27340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Export maquila, knitwear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369564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3695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310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Guanajuato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310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Knitwear, wholesale; 1–2 h from TID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945636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3945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Laguna, Ags., N.L., Yucatán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Denim, IMMEX, uniforms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82 prospects in 13 regions of Mexico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17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priority 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33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priority 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35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export OEMs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Source: company websites, Open Supply Hub and directories; details in the prospects workbook.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Priority accounts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80/20: printers and manufacturers (9 of 47)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4754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What they do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ADN Serigrafía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Naucalpan, Edo. Méx.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Contract screen printing: 130,000+ pcs/week, up to 18 colors, production for the U.S. and Canada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Serigrafía Textil Automatizada (KW)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Puebla, Pue.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Automated volume screen printing: campaigns, sportswear and promo; 30+ years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Manufacturas Textiles RF (Reitex)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Guadalupe, N.L.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Integrated yarn-to-garment plant; high-volume campaign and promo T-shirts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Diermi (Playeras Mindy)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Zapopan, Jal.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Sports and promo T-shirts in a 5,000 m² automated plant; exports to the U.S.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GOCA'S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Ciudad de México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Large-scale T-shirts and hoodies with in-house screen, sublimation and embroidery; 25+ years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SerigrafiarteSP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Ciudad de México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Contract screen printing (plastisol, water-based, discharge), DTF and sublimation for factories and brands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Martex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Naucalpan, Edo. Méx.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High-volume textile maker; uniforms (directory cites FIFA uniforms)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Uniformes Carmen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Guadalajara, Jal.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Uniforms with screen, embroidery and transfer; volume print contracting; 30+ years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Charly (Grupo Charly)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León, Gto.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Sports brand: jerseys and licensed apparel for Liga MX clubs (León, Pachuca, Atlas, Santos)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17 of 82 accounts (20%) receive the year-1 sales focus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80/20: export OEMs (8 of 35)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4754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Brands and customers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Vertical Knits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Baca, Yuc.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Nike, Fanatics, Tommy Hilfiger, Patagonia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Ink Throwers de México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Tijuana, B.C.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Disney, Levi's, Marvel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MD International Baja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Fanatics, Hurley, REI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Fortune Fashions Baja (Mad Engine)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Mad Engine Global, Disney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SOIR Textiles (TJ Factory Clothing)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Columbia, Disney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Factory 1 (Factory1 Group)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Columbia, Disney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Codipsa (San Fernando ScreenPrinting)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Puebla, Pue.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Puma, Gap, Hot Topic, Macy's, Disney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Industrias Manufactureras MYR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Irapuato, Gto.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adidas, Puma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17 of 82 accounts (20%) receive the year-1 sales focus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Competition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Competition: the gap is local service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Players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Reading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High-end DTG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Kornit (Sun Digital México)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High investment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Automatic presses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M&amp;R, ROQ, MHM, Anatol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Customers for digital stations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Chinese hybrids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Textalk, Hanglory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No visible local structure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Inks &amp; silicones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ScreenTec, Avient, Matsui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Price vs. brand approvals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Substitutes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DTF, sublimation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DTF growing in short runs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Competitors in inks, pastes and silicones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Brand (origin)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Reference price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Avient: Wilflex, Rutland, Union Ink, Printop (U.S.)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High: ~US$40–60/gallon for mixing colors; specialties US$90–310/gallon (U.S. stores)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 with OEMs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Sánchez / ScreenTec: Seritex, Aquatex, Siltex (Mexico)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Low: MXN 159–217/kg retail (Seritex)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 with shops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Matsui (Japan)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Mid-high; bases from ~US$8–9/kg in Central America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Mid-high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International Coatings (U.S.)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Marabu (Germany)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Low: limited textile range (nylon, synthetics)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RUCO / RUCOINX (Germany)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Low: industrial inks for plastic, glass and metal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Tampoprint (Germany)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Low: tagless labels only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Low-cost Mexican brands: Dyssa, Celi Colors, Quitexa, De la Rana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Very low: plastisol white ~MXN 790/gallon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 with small shops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Direct Chinese suppliers (Alibaba)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Very low: silicone ~€3.5–5.2/kg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Mid: same origin as CLT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Comex does not make textile screen printing inks: it is an architectural paint brand. Public prices as of October 2026, for reference only; CLT’s price for Mexico is to be confirmed.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SWOT by competitor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91640"/>
                <a:gridCol w="1691640"/>
                <a:gridCol w="1691640"/>
                <a:gridCol w="16916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Competitor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Strengths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Weaknesses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Opportunity for CLT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Threat to CLT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Avient (Wilflex, Rutland)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Global brand; certified inks approved by brands; full range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 price; imported; very expensive specialties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Silicones and special effects at a lower price; water-based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Export brands already have approved inks: switching is slow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Sánchez / ScreenTec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Domestic maker; low price; dealer network; Siltex silicones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No machines or hybrid line; focus on the domestic market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Turnkey package: machine + chemistry + service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Price war in consumables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Matsui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Benchmark in water-based, discharge and specialties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Imported; mid-high price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Water-based pastes are 54% of CLT’s sales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Already inside large contractors and shops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Marabu, RUCO, Tampoprint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German quality; strong in graphics, pad printing and industry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Little offer for garment printing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Not head-on competitors in apparel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Tagless label and synthetics niche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Low-cost Mexican brands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Very low price; sold in every store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Uneven quality; no certifications or technical support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Growing shops that need consistent quality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Price war in small shops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Direct Chinese suppliers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Lowest price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No service, no local stock, no warranty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Local service, stock and Spanish-speaking technicians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Same origin: customers compare price against CLT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SWOT: CLT + TID position against the competition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C2"/>
                </a:solidFill>
              </a:rPr>
              <a:t>Strengths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Only turnkey offer: hybrid machine + chemistry + service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CLT chemistry priced below premium brands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Service in Mexico and the U.S.; own importer (CEB)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8299"/>
                </a:solidFill>
              </a:rPr>
              <a:t>Weaknesses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CLT brand little known in Mexico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No export-brand ink approvals yet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Textile team still to be built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Opportunities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2026 tariffs on Chinese apparel: more local production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Export OEMs want high-value effects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Few local suppliers of silicones and special effects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</a:rPr>
              <a:t>Threats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Avient tied to brands’ approved-ink lists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Low prices from ScreenTec and Mexican budget brands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DTF in short runs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Tariffs on Chinese inputs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06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Trade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Import and regulation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CEB imports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Group company incorporated in Mexico; direct China → Mexico shipping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2026 tariffs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5–50% on non-FTA countries; confirm lines 8443, 3215 and 3910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16% VAT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Creditable: affects cash flow, not cost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80360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USMCA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Maquiladoras require OEKO-TEX and fast response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07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Latin America and the U.S.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Latin America: 217 prospects in 16 countries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47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priority 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834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Central America: contractors for U.S. brands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62 + 51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Colombia and Brazil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Latin America: priority A accounts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  <a:gridCol w="274320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TCPL The Caribbean Print Limitada S.R.L.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República Dominicana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Contract printer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The Willbes Dominicana Inc.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República Dominicana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OEM / full-package contractor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The Willbes Haitian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Haití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Contract printer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Cygnus Investments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El Salvador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Contract printer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Techno Screen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El Salvador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Contract printer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ACSA Colors Printing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Guatemala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Contract printer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Topy Top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Perú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OEM / full-package contractor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Industrias Nettalco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Perú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OEM / full-package contractor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Malwee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Brasil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de moda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Lunelli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Brasil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de moda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Kyly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Brasil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de moda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Brandili Têxtil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Brasil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de moda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Focus accounts first (volume printing or M&amp;R / hybrid equipment); the rest of priority A is in the workbook.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LATAM map: OEM prospects (export contract manufacturing)</a:t>
            </a:r>
            <a:endParaRPr lang="en-US" sz="2600" dirty="0"/>
          </a:p>
        </p:txBody>
      </p:sp>
      <p:pic>
        <p:nvPicPr>
          <p:cNvPr id="3" name="Image 0" descr="LATAM map: OEM prospects (export contract manufacturi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914400"/>
            <a:ext cx="6638544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Gold star: 80/20 account in Mexico or priority A elsewhere in LATAM. Numbered account list in the Mapas sheet of the marketing plan workbook.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LATAM map: printers and manufacturers</a:t>
            </a:r>
            <a:endParaRPr lang="en-US" sz="2600" dirty="0"/>
          </a:p>
        </p:txBody>
      </p:sp>
      <p:pic>
        <p:nvPicPr>
          <p:cNvPr id="3" name="Image 0" descr="LATAM map: printers and manufactur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914400"/>
            <a:ext cx="6638544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Gold star: 80/20 account in Mexico or priority A elsewhere in LATAM. Numbered account list in the Mapas sheet of the marketing plan workbook.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Expansion path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61872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Wave 1 · years 2–3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 Salvador, Honduras, Guatemala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Contractors printing for Hanes, Gildan, Tegra; sold from Mexico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261872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Wave 2 · year 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Peru and Colombia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Export cotton and knitwear; local agent with TID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261872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Wave 3 · years 3–4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Dominican Rep., Haiti and others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Free zones with screen printing (Gildan, Hansae)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U.S.: VSP Printing (California) provides local service and covers OEM headquarters; CLT already exhibits at PRINTING United.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08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Conclusions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Conclusions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69848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69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058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Mexico’s industry must stand out against imports: hybrid printing answers that need.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411480" cy="41148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916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reachable market is concentrated (~1,900 firms): it is won with consultative selling to a few large accounts.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41448"/>
            <a:ext cx="411480" cy="4114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774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Nobody owns the category: no formal distributor of Chinese hybrids and no turnkey offer with local service.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411480" cy="4114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632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Ink competition is premium (Avient, Matsui) or cheap (ScreenTec, local brands): CLT competes with package and service.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13048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 tariffs and USMCA favor producing in Mexico; Central America and Peru are the next wave.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Recommendations and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Formal CLT quotation to replace estimates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" cy="41148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91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Validate consumption and prices with 10–15 shops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317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 the demo room and work the 17 80/20 accounts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71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 tariffs and HS codes with a customs broker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6118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Prepare the Central America entry (year 2)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myk-dot"/>
          <p:cNvSpPr/>
          <p:nvPr/>
        </p:nvSpPr>
        <p:spPr>
          <a:xfrm>
            <a:off x="594360" y="1097280"/>
            <a:ext cx="237744" cy="23774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3" name="cmyk-dot"/>
          <p:cNvSpPr/>
          <p:nvPr/>
        </p:nvSpPr>
        <p:spPr>
          <a:xfrm>
            <a:off x="923544" y="1097280"/>
            <a:ext cx="237744" cy="23774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cmyk-dot"/>
          <p:cNvSpPr/>
          <p:nvPr/>
        </p:nvSpPr>
        <p:spPr>
          <a:xfrm>
            <a:off x="1252728" y="1097280"/>
            <a:ext cx="237744" cy="23774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1581912" y="109728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Carlos Moreno — TID México · carlos.moreno@tidmexico.com.mx · +52 446 479 4420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LT Propuesta">
  <a:themeElements>
    <a:clrScheme name="CLT Propuesta">
      <a:dk1>
        <a:srgbClr val="1B1F3B"/>
      </a:dk1>
      <a:lt1>
        <a:srgbClr val="FFFFFF"/>
      </a:lt1>
      <a:dk2>
        <a:srgbClr val="3A4060"/>
      </a:dk2>
      <a:lt2>
        <a:srgbClr val="EEF2F7"/>
      </a:lt2>
      <a:accent1>
        <a:srgbClr val="C2185B"/>
      </a:accent1>
      <a:accent2>
        <a:srgbClr val="0089C2"/>
      </a:accent2>
      <a:accent3>
        <a:srgbClr val="F2B705"/>
      </a:accent3>
      <a:accent4>
        <a:srgbClr val="1B1F3B"/>
      </a:accent4>
      <a:accent5>
        <a:srgbClr val="7A8299"/>
      </a:accent5>
      <a:accent6>
        <a:srgbClr val="2E7D32"/>
      </a:accent6>
      <a:hlink>
        <a:srgbClr val="0089C2"/>
      </a:hlink>
      <a:folHlink>
        <a:srgbClr val="6D2E46"/>
      </a:folHlink>
    </a:clrScheme>
    <a:fontScheme name="CLT Propuest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Study: Hybrid Textile Printing</dc:title>
  <dc:subject>PptxGenJS Presentation</dc:subject>
  <dc:creator>TID México</dc:creator>
  <cp:lastModifiedBy>TID México</cp:lastModifiedBy>
  <cp:revision>1</cp:revision>
  <dcterms:created xsi:type="dcterms:W3CDTF">2026-10-12T20:20:37Z</dcterms:created>
  <dcterms:modified xsi:type="dcterms:W3CDTF">2026-10-12T20:20:37Z</dcterms:modified>
</cp:coreProperties>
</file>