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8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5bb2592-f380-7357-cad7-ddd68e4d7ecd}">
          <p14:sldIdLst>
            <p14:sldId id="256"/>
            <p14:sldId id="257"/>
            <p14:sldId id="258"/>
          </p14:sldIdLst>
        </p14:section>
        <p14:section name="Scope and methodology" id="{1611a80b-0d95-ed4f-bebd-666f87894a7d}">
          <p14:sldIdLst>
            <p14:sldId id="259"/>
            <p14:sldId id="260"/>
          </p14:sldIdLst>
        </p14:section>
        <p14:section name="The manufacturer: CLT" id="{198b412e-3a3e-8468-2d4a-a53d1df1ccaf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Mexican market" id="{d0870826-894d-9775-6427-9a2c2c16dbea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iority accounts" id="{5a2bfdaa-a3c3-c152-2dbe-e59c3faee96d}">
          <p14:sldIdLst>
            <p14:sldId id="275"/>
            <p14:sldId id="276"/>
            <p14:sldId id="277"/>
          </p14:sldIdLst>
        </p14:section>
        <p14:section name="Competition" id="{f87928c0-dd4a-b182-e99b-a7c191d77c15}">
          <p14:sldIdLst>
            <p14:sldId id="278"/>
            <p14:sldId id="279"/>
            <p14:sldId id="280"/>
            <p14:sldId id="281"/>
            <p14:sldId id="282"/>
          </p14:sldIdLst>
        </p14:section>
        <p14:section name="Trade" id="{b56de99a-30e3-e510-4f89-b77d7708a8c1}">
          <p14:sldIdLst>
            <p14:sldId id="283"/>
            <p14:sldId id="284"/>
          </p14:sldIdLst>
        </p14:section>
        <p14:section name="Latin America and the U.S." id="{25839813-cf15-4e66-82cf-51fd98e209c8}">
          <p14:sldIdLst>
            <p14:sldId id="285"/>
            <p14:sldId id="286"/>
            <p14:sldId id="287"/>
            <p14:sldId id="288"/>
          </p14:sldIdLst>
        </p14:section>
        <p14:section name="Conclusions" id="{767ba8e3-0d45-1b1c-f618-441d00483fb9}">
          <p14:sldIdLst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2025 revenue by line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 revenue by line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Water-based pastes</c:v>
                </c:pt>
                <c:pt idx="1">
                  <c:v>Silicones</c:v>
                </c:pt>
                <c:pt idx="2">
                  <c:v>Resins</c:v>
                </c:pt>
                <c:pt idx="3">
                  <c:v>Equipment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Companies by size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Companies by size (%)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Micro</c:v>
                  </c:pt>
                  <c:pt idx="1">
                    <c:v>Small</c:v>
                  </c:pt>
                  <c:pt idx="2">
                    <c:v>Medium</c:v>
                  </c:pt>
                  <c:pt idx="3">
                    <c:v>Large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95.6</c:v>
                </c:pt>
                <c:pt idx="1">
                  <c:v>3.3</c:v>
                </c:pt>
                <c:pt idx="2">
                  <c:v>0.8</c:v>
                </c:pt>
                <c:pt idx="3">
                  <c:v>0.3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Prospects by region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Printers and manufacturers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</c:v>
                </c:pt>
                <c:pt idx="1">
                  <c:v>8</c:v>
                </c:pt>
                <c:pt idx="2">
                  <c:v>9</c:v>
                </c:pt>
                <c:pt idx="3">
                  <c:v>8</c:v>
                </c:pt>
                <c:pt idx="4">
                  <c:v>0</c:v>
                </c:pt>
                <c:pt idx="5">
                  <c:v>4</c:v>
                </c:pt>
                <c:pt idx="6">
                  <c:v>3</c:v>
                </c:pt>
                <c:pt idx="7">
                  <c:v>1</c:v>
                </c:pt>
                <c:pt idx="8">
                  <c:v>4</c:v>
                </c:pt>
                <c:pt idx="9">
                  <c:v>4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OEMs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8</c:v>
                </c:pt>
                <c:pt idx="1">
                  <c:v>5</c:v>
                </c:pt>
                <c:pt idx="2">
                  <c:v>1</c:v>
                </c:pt>
                <c:pt idx="3">
                  <c:v>2</c:v>
                </c:pt>
                <c:pt idx="4">
                  <c:v>7</c:v>
                </c:pt>
                <c:pt idx="5">
                  <c:v>2</c:v>
                </c:pt>
                <c:pt idx="6">
                  <c:v>3</c:v>
                </c:pt>
                <c:pt idx="7">
                  <c:v>4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Prospects by region and priority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Priority A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Central America</c:v>
                  </c:pt>
                  <c:pt idx="1">
                    <c:v>Caribbean</c:v>
                  </c:pt>
                  <c:pt idx="2">
                    <c:v>South America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</c:v>
                </c:pt>
                <c:pt idx="1">
                  <c:v>6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 B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Central America</c:v>
                  </c:pt>
                  <c:pt idx="1">
                    <c:v>Caribbean</c:v>
                  </c:pt>
                  <c:pt idx="2">
                    <c:v>South America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24</c:v>
                </c:pt>
                <c:pt idx="1">
                  <c:v>16</c:v>
                </c:pt>
                <c:pt idx="2">
                  <c:v>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Priority C</c:v>
                </c:pt>
              </c:strCache>
            </c:strRef>
          </c:tx>
          <c:spPr>
            <a:solidFill>
              <a:srgbClr val="CFD6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Central America</c:v>
                  </c:pt>
                  <c:pt idx="1">
                    <c:v>Caribbean</c:v>
                  </c:pt>
                  <c:pt idx="2">
                    <c:v>South America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</c:v>
                </c:pt>
                <c:pt idx="1">
                  <c:v>11</c:v>
                </c:pt>
                <c:pt idx="2">
                  <c:v>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CLT market study — TID · VSP · CEB — Confidential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Market Study: Hybrid Textile Printing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Opportunity for CLT in Mexico, Latin America and the U.S.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October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study on one page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~1,900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reachable companies in Mexico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82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prospects in Mexico (35 OEMs)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180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prospects in Latin America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formal distributors of Chinese hybrids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market without an owner: the industry needs to stand out, and nobody in Mexico offers a hybrid solution with local chemistry and service.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Contents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Scope and methodology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53212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The manufacturer: CLT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Mexican market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6344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53212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Priority accounts (80/20)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Competition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06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Trade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07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Latin America and the U.S.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66344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08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53212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Conclusions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Scope and methodology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Study parameters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Parameter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What we analyzed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Market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Hybrid equipment, consumables (silicones, pastes, inks) and service; substitutes: screen, DTG, DTF, sublimation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Segments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Export contractors, industrial printers, uniforms and sportswear, brands, shops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Size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Total, reachable and capturable market (TAM / SAM / SOM)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Geography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9 regions in Mexico + Central America, the Caribbean and South America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Competition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DTG, automatic carousels, Chinese hybrids, inks and silicones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Trade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2026 tariffs, import through CEB, USMCA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Sources: CLT (website and 2025 annual report), INEGI, CANAINTEX, FESPA México, DOF, Open Supply Hub, company websites and online stores.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manufacturer: CLT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a chemistry company that sells machines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founded,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2025 revenue (~US$80M)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Shenzhen Stock Exchange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sales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portfolio relevant to Mexico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Hybrids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CLT-012R/015R/018R (Ricoh, 450 pcs/h) and CLT-014B/016B/018B (Brother, 400 pcs/h)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Oval carousels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SM45-85, SM60-85, SM70-95: up to 800 pcs/h, ±0.02 mm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DTG and DTF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6-station DTG with inline pretreatment; industrial DTF CLT-6900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3464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Chemistry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3D, glass and special silicones (S-1701, S-1703, S-1704-1, S-1714-1); water-based pastes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Certifications stated by CLT: OEKO-TEX, GOTS, ISO 9001 and ISO 14001.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Hybrid technology: the best of two processes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Screen base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White and effects with low-cost paste: puff, foil, glitter, discharge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Digital color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Ricoh or Brother heads: photographic gradients, unlimited colors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Special effects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Glass-like, embroidery-like or 3D silicone over the print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 per hour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ink savings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pieces: profitable run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How CLT sells today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Live-demo trade shows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Tests on the customer’s fabric and same-day quote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Turnkey package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Machine, chemistry, installation, training and logistics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Phased investment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Press first, digital stations later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ROI-based selling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Savings in ink, operators and floor space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Linked consumables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Warranty with genuine chemistry and parts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Digital lead capture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Multilingual site and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Missing in Mexico: local technical service, in-country inventory, Spanish-language support and a demo showroom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unlimited digital color</a:t>
            </a:r>
            <a:endParaRPr lang="en-US" sz="2600" dirty="0"/>
          </a:p>
        </p:txBody>
      </p:sp>
      <p:pic>
        <p:nvPicPr>
          <p:cNvPr id="3" name="Image 0" descr="Digital watercolor over white base, colored garmen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Digital watercolor over white base, colored garment</a:t>
            </a:r>
            <a:endParaRPr lang="en-US" sz="1100" dirty="0"/>
          </a:p>
        </p:txBody>
      </p:sp>
      <p:pic>
        <p:nvPicPr>
          <p:cNvPr id="5" name="Image 1" descr="Photorealism on a dark garmen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Photorealism on a dark garment</a:t>
            </a:r>
            <a:endParaRPr lang="en-US" sz="1100" dirty="0"/>
          </a:p>
        </p:txBody>
      </p:sp>
      <p:pic>
        <p:nvPicPr>
          <p:cNvPr id="7" name="Image 2" descr="Full-color photographic collag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Full-color photographic collage</a:t>
            </a:r>
            <a:endParaRPr lang="en-US" sz="1100" dirty="0"/>
          </a:p>
        </p:txBody>
      </p:sp>
      <p:pic>
        <p:nvPicPr>
          <p:cNvPr id="9" name="Image 3" descr="Breathable digital prin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Breathable digital print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special effects and uniforms</a:t>
            </a:r>
            <a:endParaRPr lang="en-US" sz="2600" dirty="0"/>
          </a:p>
        </p:txBody>
      </p:sp>
      <p:pic>
        <p:nvPicPr>
          <p:cNvPr id="3" name="Image 0" descr="High build, puff and cold foil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High build, puff and cold foil</a:t>
            </a:r>
            <a:endParaRPr lang="en-US" sz="1100" dirty="0"/>
          </a:p>
        </p:txBody>
      </p:sp>
      <p:pic>
        <p:nvPicPr>
          <p:cNvPr id="5" name="Image 1" descr="Sports crest with relief and shimme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Sports crest with relief and shimmer</a:t>
            </a:r>
            <a:endParaRPr lang="en-US" sz="1100" dirty="0"/>
          </a:p>
        </p:txBody>
      </p:sp>
      <p:pic>
        <p:nvPicPr>
          <p:cNvPr id="7" name="Image 2" descr="Spot-color screen print on colored garmen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Spot-color screen print on colored garment</a:t>
            </a:r>
            <a:endParaRPr lang="en-US" sz="1100" dirty="0"/>
          </a:p>
        </p:txBody>
      </p:sp>
      <p:pic>
        <p:nvPicPr>
          <p:cNvPr id="9" name="Image 3" descr="Relief, gold foil and metallic spark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Relief, gold foil and metallic sparkle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at PRINTING United 2026 (Las Vegas)</a:t>
            </a:r>
            <a:endParaRPr lang="en-US" sz="2600" dirty="0"/>
          </a:p>
        </p:txBody>
      </p:sp>
      <p:pic>
        <p:nvPicPr>
          <p:cNvPr id="3" name="Image 0" descr="CLT at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Booth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Hybrid line running live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Photos: VSP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VSP Printing meeting with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Automatic carousel with a live digital station: this is how CLT sells, and how we will replicate it in Mexico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Mexican market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An industry that needs to differentiate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MXN 91.2 B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textile &amp; apparel GDP (2025)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businesses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519k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jobs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exports go to the U.S.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Low-cost imports pressure domestic makers (GDP -8.4% in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 tariffs: up to 35% on garments from non-FTA countries, including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answer: customization, short runs and high-value effects, exactly what hybrid printing does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Industry structure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4937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60720" y="10972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US$9.3 B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exports (89% to the U.S.)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US$13.3 B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imports (35% from China)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291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1,130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3931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medium and large firms: the core of the market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(Censo 2019 y 2023)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Market size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Total market: all textile businesses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Serviceable: medium/large firms and shops with carousels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lines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Obtainable in 5 years (2–5% adoption)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 equipment over 5 years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 year in consumables (50 lines)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Priority regions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State of Mexico &amp;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Printers, brands, promotional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Fashion, sportswear, domestic brands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screen printing; TID + VSP at the border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&amp;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maquila, knitwear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Knitwear, wholesale; 1–2 h from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Denim, IMMEX, uniforms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82 prospects in 13 regions of Mexico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486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09360" y="1097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737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33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B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32918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OEMs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Source: company websites, Open Supply Hub and directories; details in the prospects workbook.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Priority accounts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printers and manufacturers (9 of 47)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What they do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printing: 130,000+ pcs/week, up to 18 colors, production for the U.S. and Canada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Automated volume screen printing: campaigns, sportswear and promo; 30+ years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Integrated yarn-to-garment plant; high-volume campaign and promo T-shirts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and promo T-shirts in a 5,000 m² automated plant; exports to the U.S.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Large-scale T-shirts and hoodies with in-house screen, sublimation and embroidery; 25+ years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 (plastisol, water-based, discharge), DTF and sublimation for factories and brands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High-volume textile maker; uniforms (directory cites FIFA uniforms)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Uniforms with screen, embroidery and transfer; volume print contracting; 30+ years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brand: jerseys and licensed apparel for Liga MX clubs (León, Pachuca, Atlas, Santos)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receive the year-1 sales focus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export OEMs (8 of 35)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Brands and customers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Manufactureras MYR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Irapuato,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adidas, Puma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receive the year-1 sales focus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Competition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Competition: the gap is local service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Players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Reading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High-end DTG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High investment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Automatic presses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Customers for digital stations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Chinese hybrids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No visible local structure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Inks &amp; silicones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Price vs. brand approvals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Substitutes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sublimation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growing in short runs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Competitors in inks, pastes and silicones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 (origin)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Reference price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(U.S.)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High: ~US$40–60/gallon for mixing colors; specialties US$90–310/gallon (U.S. stores)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OEMs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(Mexico)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MXN 159–217/kg retail (Seritex)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(Japan)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Mid-high; bases from ~US$8–9/kg in Central America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(U.S.)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(Germany)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limited textile range (nylon, synthetics)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(Germany)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industrial inks for plastic, glass and metal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(Germany)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tagless labels only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brands: Dyssa, Celi Colors, Quitexa, De la Rana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plastisol white ~MXN 790/gallon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 with small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 (Alibaba)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silicone ~€3.5–5.2/kg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Mid: same origin as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does not make textile screen printing inks: it is an architectural paint brand. Public prices as of October 2026, for reference only; CLT’s price for Mexico is to be confirmed.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 by competitor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Strengths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Weaknesses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Opportunity for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 to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Global brand; certified inks approved by brands; full range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price; imported; very expensive specialties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Silicones and special effects at a lower price; water-based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Export brands already have approved inks: switching is slow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Domestic maker; low price; dealer network; Siltex silicones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machines or hybrid line; focus on the domestic market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Turnkey package: machine + chemistry + service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consumables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Benchmark in water-based, discharge and specialties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Imported; mid-high price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Water-based pastes are 54% of CLT’s sales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Already inside large contractors and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German quality; strong in graphics, pad printing and industry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Little offer for garment printing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Not head-on competitors in apparel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Tagless label and synthetics niche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 price; sold in every store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Uneven quality; no certifications or technical support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Growing shops that need consistent quality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small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Lowest price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service, no local stock, no warranty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Local service, stock and Spanish-speaking technicians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Same origin: customers compare price against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SWOT: CLT + TID position against the competition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Strengths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Only turnkey offer: hybrid machine + chemistry + service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chemistry priced below premium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Service in Mexico and the U.S.; own importer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Weaknesses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brand little known in Mexico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No export-brand ink approvals yet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Textile team still to be built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Opportunities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2026 tariffs on Chinese apparel: more local production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Export OEMs want high-value effects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Few local suppliers of silicones and special effects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Threats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tied to brands’ approved-ink lists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Low prices from ScreenTec and Mexican budget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in short runs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Tariffs on Chinese inputs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Trade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 and regulation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Group company incorporated in Mexico; direct China → Mexico shipping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2026 tariffs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on non-FTA countries; confirm lines 8443, 3215 and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16% VAT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Creditable: affects cash flow, not cost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USMCA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require OEKO-TEX and fast response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Latin America and the U.S.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 America: 180 prospects in 16 countries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126480" y="1097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42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12648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21945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44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834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Central America: contractors for U.S. brands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3291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41 + 35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3931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Colombia and Brazil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 America: priority A accounts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  <a:gridCol w="2743200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Country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TCPL The Caribbean Print Limitada S.R.L.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Dominicana Inc.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Haitian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Haití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Cygnus Investments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Techno Screen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ACSA Colors Printing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Guatemala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Topy Top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Nettalco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Malwee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Lunelli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Kyly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Brandili Têxtil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Focus accounts first (volume printing or M&amp;R / hybrid equipment); the rest of priority A is in the workbook.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Expansion path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Wave 1 · years 2–3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 Salvador, Honduras, Guatemala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Contractors printing for Hanes, Gildan, Tegra; sold from Mexico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Wave 2 · year 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Peru and Colombia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cotton and knitwear; local agent with TID support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Wave 3 · years 3–4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Dominican Rep., Haiti and others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Free zones with screen printing (Gildan, Hansae)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U.S.: VSP Printing (California) provides local service and covers OEM headquarters; CLT already exhibits at PRINTING United.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08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Conclusions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Conclusions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698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69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058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Mexico’s industry must stand out against imports: hybrid printing answers that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55648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55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reachable market is concentrated (~1,900 firms): it is won with consultative selling to a few large accounts.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441448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41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774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Nobody owns the category: no formal distributor of Chinese hybrids and no turnkey offer with local service.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127248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272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0632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Ink competition is premium (Avient, Matsui) or cheap (ScreenTec, local brands): CLT competes with package and service.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8130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8130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7490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 tariffs and USMCA favor producing in Mexico; Central America and Peru are the next wave.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Recommendations and next steps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Formal CLT quotation to replace estimates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Validate consumption and prices with 10–15 shops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Open the demo room and work the 17 80/20 accounts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 tariffs and HS codes with a customs broker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Prepare the Central America entry (year 2)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Thank you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 Study: Hybrid Textile Printing</dc:title>
  <dc:subject>PptxGenJS Presentation</dc:subject>
  <dc:creator>TID México</dc:creator>
  <cp:lastModifiedBy>TID México</cp:lastModifiedBy>
  <cp:revision>1</cp:revision>
  <dcterms:created xsi:type="dcterms:W3CDTF">2026-10-08T14:39:02Z</dcterms:created>
  <dcterms:modified xsi:type="dcterms:W3CDTF">2026-10-08T14:39:02Z</dcterms:modified>
</cp:coreProperties>
</file>