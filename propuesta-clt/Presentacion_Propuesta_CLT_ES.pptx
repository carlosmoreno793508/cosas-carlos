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8c241cf5-6774-fb62-244a-d9ed99f0d955}">
          <p14:sldIdLst>
            <p14:sldId id="256"/>
            <p14:sldId id="257"/>
          </p14:sldIdLst>
        </p14:section>
        <p14:section name="El fabricante" id="{b91786fd-ecdc-6474-8d00-24ddb18be6cd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l mercado mexicano" id="{d048f9ea-728c-81d2-e88d-4de0a6c72cbd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Por qué TID · VSP · CEB" id="{ef203aa3-6e3b-f0f6-42e1-46be105e0e41}">
          <p14:sldIdLst>
            <p14:sldId id="273"/>
            <p14:sldId id="274"/>
            <p14:sldId id="275"/>
            <p14:sldId id="276"/>
          </p14:sldIdLst>
        </p14:section>
        <p14:section name="Plan e inversión" id="{a8c1c636-b049-79ad-5cdb-fc0fa54ae311}">
          <p14:sldIdLst>
            <p14:sldId id="277"/>
            <p14:sldId id="278"/>
            <p14:sldId id="279"/>
            <p14:sldId id="280"/>
          </p14:sldIdLst>
        </p14:section>
        <p14:section name="La propuesta" id="{4e7191f0-b40a-0919-b89f-7ba291811522}">
          <p14:sldIdLst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Margen bruto (miles de US$)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Margen equipos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Margen consumibles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Propuesta TID · VSP · CEB para CLT —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Propuesta de Distribución CLT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Impresión híbrida textil (serigrafía + digital) en México y Latinoamérica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oportunidad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clientes alcanzables (empresas medianas/grandes y talleres con pulpo)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líneas híbridas potenciales en 5 años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Año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recuperación de la inversión (escenario base)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Proponemos a TID / VSP / CEB como distribuidor de CLT en México, con expansión a EE. UU. y Latinoamérica.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color digital ilimitado</a:t>
            </a:r>
            <a:endParaRPr lang="en-US" sz="2600" dirty="0"/>
          </a:p>
        </p:txBody>
      </p:sp>
      <p:pic>
        <p:nvPicPr>
          <p:cNvPr id="3" name="Image 0" descr="Acuarela digital sobre base blanca, prenda de col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Acuarela digital sobre base blanca, prenda de color</a:t>
            </a:r>
            <a:endParaRPr lang="en-US" sz="1100" dirty="0"/>
          </a:p>
        </p:txBody>
      </p:sp>
      <p:pic>
        <p:nvPicPr>
          <p:cNvPr id="5" name="Image 1" descr="Fotorrealismo sobre prenda oscur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Fotorrealismo sobre prenda oscura</a:t>
            </a:r>
            <a:endParaRPr lang="en-US" sz="1100" dirty="0"/>
          </a:p>
        </p:txBody>
      </p:sp>
      <p:pic>
        <p:nvPicPr>
          <p:cNvPr id="7" name="Image 2" descr="Collage fotográfico a todo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Collage fotográfico a todo color</a:t>
            </a:r>
            <a:endParaRPr lang="en-US" sz="1100" dirty="0"/>
          </a:p>
        </p:txBody>
      </p:sp>
      <p:pic>
        <p:nvPicPr>
          <p:cNvPr id="9" name="Image 3" descr="Impresión digital transpirab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Impresión digital transpirable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efectos especiales y uniformes</a:t>
            </a:r>
            <a:endParaRPr lang="en-US" sz="2600" dirty="0"/>
          </a:p>
        </p:txBody>
      </p:sp>
      <p:pic>
        <p:nvPicPr>
          <p:cNvPr id="3" name="Image 0" descr="Alto relieve, espumante y foil en frí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Alto relieve, espumante y foil en frío</a:t>
            </a:r>
            <a:endParaRPr lang="en-US" sz="1100" dirty="0"/>
          </a:p>
        </p:txBody>
      </p:sp>
      <p:pic>
        <p:nvPicPr>
          <p:cNvPr id="5" name="Image 1" descr="Escudo deportivo con relieve y brill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Escudo deportivo con relieve y brillo</a:t>
            </a:r>
            <a:endParaRPr lang="en-US" sz="1100" dirty="0"/>
          </a:p>
        </p:txBody>
      </p:sp>
      <p:pic>
        <p:nvPicPr>
          <p:cNvPr id="7" name="Image 2" descr="Serigrafía de tintas planas en prenda de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Serigrafía de tintas planas en prenda de color</a:t>
            </a:r>
            <a:endParaRPr lang="en-US" sz="1100" dirty="0"/>
          </a:p>
        </p:txBody>
      </p:sp>
      <p:pic>
        <p:nvPicPr>
          <p:cNvPr id="9" name="Image 3" descr="Relieve, foil dorado y destellos metálico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Relieve, foil dorado y destellos metálicos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en PRINTING United 2026 (Las Vegas)</a:t>
            </a:r>
            <a:endParaRPr lang="en-US" sz="2600" dirty="0"/>
          </a:p>
        </p:txBody>
      </p:sp>
      <p:pic>
        <p:nvPicPr>
          <p:cNvPr id="3" name="Image 0" descr="CLT en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Stand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 híbrida en operación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Fotos: VSP Printing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Reunión de VSP con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Pulpo automático con estación digital funcionando en vivo: así vende CLT, y así lo replicaremos en México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Serigrafía de exportación; TID + VSP en la frontera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prospectos prioritarios (9 de 47)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 qué se dedica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serigrafía: 130,000+ piezas/semana, hasta 18 tintas, producción para EE. UU. y Canadá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Serigrafía automatizada por volumen: campañas, deportivo y promocional; 30+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Fábrica integrada de hilo a prenda; playeras de campaña y publicitarias de alto volumen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deportivas y publicitarias en nave automatizada de 5,000 m²; exporta a EE. UU.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y sudaderas a gran escala con serigrafía, sublimación y bordado propios; 25+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 (plastisol, base agua, corrosión), DTF y sublimación para fábricas y marcas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textil de gran volumen; uniformes (el directorio menciona uniformes FIFA)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Uniformes con serigrafía, bordado y transfer; maquila de estampado por volumen; 30+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deportiva: jerseys y licencias de clubes de Liga MX (León, Pachuca, Atlas, Santos)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reciben el 80% del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OEM prioritarios (8 de 35)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Marcas y clientes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RMC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Linares,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Under Armour, Nordstrom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reciben el 80% del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Siliconas y pastas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 (Siltex)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Competencia en consumibles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Por qué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 grupo con presencia en México y EE. UU.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años en decorado industrial. Venta, instalación y servicio en México. 2 técnicos.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Ángeles,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años en impresión industrial. Servicio en EE. UU. y respaldo técnico. 1 técnico.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Subsidiaria de VSP. Importación de equipos e insumos CLT.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Fortalezas y cómo cerramos las brechas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Lo que aportamos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Mismo modelo llave en mano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Negocio basado en consumibles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Servicio técnico en español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Cobertura México + EE. UU.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Importadora propia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Brecha → acción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Experiencia textil → división textil dedicada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Química textil → certificación en CLT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técnicos → +2 técnicos textiles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Eventos textiles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Demostración → sala con línea híbrida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Equipo dedicado y capacitación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Vendedor textil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Prospección, demos, cotizaciones llave en mano y cierre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Atención al cliente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Pedidos de consumibles, posventa, garantías y agenda de servicio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Técnico textil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Instalación, mantenimiento y soporte; +1 técnico en año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Programa de capacitación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Inicial en planta CLT: máquinas, química y certificación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máquinas: operación, calibración y mantenimiento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productos: siliconas, pastas, curado y efectos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Actualización continua con ingenieros de CLT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Apoyo existente: 2 técnicos TID, 1 técnico VSP, importación y logística CEB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e inversión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 comercial en cuatro fases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0–6 meses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Arranque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Acuerdo, contrataciones, capacitación, consumibles,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6–18 meses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Demostración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Sala demo, primeras 2–5 líneas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18–36 meses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Escala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Clústeres prioritarios, EE. UU. vía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Año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Latinoamérica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Centroamérica, Colombia, Perú, R. Dominicana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Inversión inicial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Ligero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en consignación o en taller ancla; consumibles primero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Recomendado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Pulpo + estación híbrida, inventario, sala demo, lanzamiento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Completo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Línea completa con DTG de 6 estaciones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Gasto operativo año 1: ~US$131k (vendedor, atención al cliente, técnico, capacitación, ferias)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Proyección: el ingreso recurrente crece cada año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Resultado anual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Supuestos: línea US$150k, margen 20% equipos / 35% consumibles, ~US$36k de consumo por línea al año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propuesta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Lo que pedimos y lo que nos comprometemos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Solicitamos a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Exclusividad en México; Latam según metas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Margen ~20% equipos / ~35% consumibles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en consignación o 30–50% desc.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Inventario inicial a consignación o 90 días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y certificación sin costo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Prospectos de México canalizados a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Nos comprometemos 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Importación e inventario local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Sala demo y servicio en español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Vendedor, atención al cliente y técnico textil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en máquinas y productos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Metas: 2 · 5 · 8 líneas en años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Reportes trimestrales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Riesgos y mitigación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Industria descapitalizada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Inversión por etapas y financiamiento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en tirajes cortos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Enfoque en volumen y efectos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Fracciones confirmadas;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Curva textil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Certificación CLT y personal del sector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(CLT-016B, CLT-012R, SM60-85, consumibles)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Reunión con los dueños de CLT para revisar términos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con agente aduanal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con 10–15 talleres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Carta de intención y plan de arranque de 6 meses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Distribución CLT</dc:title>
  <dc:subject>PptxGenJS Presentation</dc:subject>
  <dc:creator>TID México</dc:creator>
  <cp:lastModifiedBy>TID México</cp:lastModifiedBy>
  <cp:revision>1</cp:revision>
  <dcterms:created xsi:type="dcterms:W3CDTF">2026-10-08T04:48:54Z</dcterms:created>
  <dcterms:modified xsi:type="dcterms:W3CDTF">2026-10-08T04:48:54Z</dcterms:modified>
</cp:coreProperties>
</file>