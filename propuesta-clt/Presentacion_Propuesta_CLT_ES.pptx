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2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icio" id="{ccb7ea07-ab8c-18f5-45ce-b56dd90e2a3c}">
          <p14:sldIdLst>
            <p14:sldId id="256"/>
            <p14:sldId id="257"/>
          </p14:sldIdLst>
        </p14:section>
        <p14:section name="El fabricante" id="{85ae8c60-8aa8-bbfd-dd50-3028a6c32bbd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El mercado mexicano" id="{5687b24b-bdd7-2b72-acd0-ce2c7130c30e}">
          <p14:sldIdLst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</p14:sldIdLst>
        </p14:section>
        <p14:section name="Por qué TID · VSP · CEB" id="{5dd10df9-d35d-9fbc-1fbe-17d0ea411426}">
          <p14:sldIdLst>
            <p14:sldId id="276"/>
            <p14:sldId id="277"/>
            <p14:sldId id="278"/>
            <p14:sldId id="279"/>
          </p14:sldIdLst>
        </p14:section>
        <p14:section name="Plan e inversión" id="{5de4633e-8e5f-6fb5-4554-8a4bbd4ec612}">
          <p14:sldIdLst>
            <p14:sldId id="280"/>
            <p14:sldId id="281"/>
            <p14:sldId id="282"/>
            <p14:sldId id="283"/>
            <p14:sldId id="284"/>
          </p14:sldIdLst>
        </p14:section>
        <p14:section name="La propuesta" id="{071dae79-f8c4-bf0f-9e41-17089a51bbea}">
          <p14:sldIdLst>
            <p14:sldId id="285"/>
            <p14:sldId id="286"/>
            <p14:sldId id="287"/>
            <p14:sldId id="288"/>
            <p14:sldId id="28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Ingresos 2025 por línea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Ingresos 2025 por línea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2185B"/>
              </a:solidFill>
              <a:effectLst/>
            </c:spPr>
          </c:dPt>
          <c:dPt>
            <c:idx val="1"/>
            <c:bubble3D val="0"/>
            <c:spPr>
              <a:solidFill>
                <a:srgbClr val="0089C2"/>
              </a:solidFill>
              <a:effectLst/>
            </c:spPr>
          </c:dPt>
          <c:dPt>
            <c:idx val="2"/>
            <c:bubble3D val="0"/>
            <c:spPr>
              <a:solidFill>
                <a:srgbClr val="7A8299"/>
              </a:solidFill>
              <a:effectLst/>
            </c:spPr>
          </c:dPt>
          <c:dPt>
            <c:idx val="3"/>
            <c:bubble3D val="0"/>
            <c:spPr>
              <a:solidFill>
                <a:srgbClr val="F2B705"/>
              </a:solidFill>
              <a:effectLst/>
            </c:spPr>
          </c:dPt>
          <c:dPt>
            <c:idx val="4"/>
            <c:bubble3D val="0"/>
            <c:spPr>
              <a:solidFill>
                <a:srgbClr val="CFD6E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000" b="0" i="0" u="none" strike="noStrike">
                      <a:solidFill>
                        <a:srgbClr val="FFFFFF"/>
                      </a:solidFill>
                      <a:latin typeface="+mn-lt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Pastas base agua</c:v>
                </c:pt>
                <c:pt idx="1">
                  <c:v>Siliconas</c:v>
                </c:pt>
                <c:pt idx="2">
                  <c:v>Resinas</c:v>
                </c:pt>
                <c:pt idx="3">
                  <c:v>Equipos</c:v>
                </c:pt>
                <c:pt idx="4">
                  <c:v>Otros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53.6</c:v>
                </c:pt>
                <c:pt idx="1">
                  <c:v>20.7</c:v>
                </c:pt>
                <c:pt idx="2">
                  <c:v>8.1</c:v>
                </c:pt>
                <c:pt idx="3">
                  <c:v>6.5</c:v>
                </c:pt>
                <c:pt idx="4">
                  <c:v>11.1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0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B1F3B"/>
                </a:solidFill>
                <a:latin typeface="+mn-lt"/>
              </a:defRPr>
            </a:pPr>
            <a:r>
              <a:rPr sz="1300" b="0" i="0" u="none" strike="noStrike">
                <a:solidFill>
                  <a:srgbClr val="1B1F3B"/>
                </a:solidFill>
                <a:latin typeface="+mn-lt"/>
              </a:rPr>
              <a:t>Margen bruto (miles de US$)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Margen equipos</c:v>
                </c:pt>
              </c:strCache>
            </c:strRef>
          </c:tx>
          <c:spPr>
            <a:solidFill>
              <a:srgbClr val="0089C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150</c:v>
                </c:pt>
                <c:pt idx="2">
                  <c:v>240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Margen consumibles</c:v>
                </c:pt>
              </c:strCache>
            </c:strRef>
          </c:tx>
          <c:spPr>
            <a:solidFill>
              <a:srgbClr val="C2185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Año 1</c:v>
                  </c:pt>
                  <c:pt idx="1">
                    <c:v>Año 2</c:v>
                  </c:pt>
                  <c:pt idx="2">
                    <c:v>Año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34</c:v>
                </c:pt>
                <c:pt idx="1">
                  <c:v>99</c:v>
                </c:pt>
                <c:pt idx="2">
                  <c:v>209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A406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3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1B1F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/>
        </p:nvSpPr>
        <p:spPr>
          <a:xfrm>
            <a:off x="457200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A8299"/>
                </a:solidFill>
              </a:rPr>
              <a:t>Propuesta TID · VSP · CEB para CLT — Confidencial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image" Target="../media/image-7-3.jpg"/><Relationship Id="rId4" Type="http://schemas.openxmlformats.org/officeDocument/2006/relationships/image" Target="../media/image-7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Propuesta de Distribución CLT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3"/>
                </a:solidFill>
              </a:rPr>
              <a:t>Impresión híbrida textil (serigrafía + digital) en México y Latinoamérica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1148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D6E4"/>
                </a:solidFill>
              </a:rPr>
              <a:t>TID México · VSP Printing, Inc. · CEB  |  Octubre 2026</a:t>
            </a:r>
            <a:endParaRPr lang="en-US" sz="1300" dirty="0"/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oportunidad en una página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9436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89C2"/>
                </a:solidFill>
              </a:rPr>
              <a:t>0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distribuidores formales de híbridos chinos en México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6032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69748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2185B"/>
                </a:solidFill>
              </a:rPr>
              <a:t>~1,900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269748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clientes alcanzables (empresas medianas/grandes y talleres con pulpo)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0060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38600"/>
                </a:solidFill>
              </a:rPr>
              <a:t>30–90</a:t>
            </a:r>
            <a:endParaRPr lang="en-US" sz="3000" dirty="0"/>
          </a:p>
        </p:txBody>
      </p:sp>
      <p:sp>
        <p:nvSpPr>
          <p:cNvPr id="11" name="Text 9"/>
          <p:cNvSpPr txBox="1"/>
          <p:nvPr/>
        </p:nvSpPr>
        <p:spPr>
          <a:xfrm>
            <a:off x="480060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líneas híbridas potenciales en 5 años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766560" y="1143000"/>
            <a:ext cx="1920240" cy="2011680"/>
          </a:xfrm>
          <a:prstGeom prst="roundRect">
            <a:avLst>
              <a:gd name="adj" fmla="val 381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903720" y="1325880"/>
            <a:ext cx="1645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1F3B"/>
                </a:solidFill>
              </a:rPr>
              <a:t>Año 3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903720" y="2057400"/>
            <a:ext cx="1645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recuperación de la inversión (escenario base)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429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Proponemos a TID / VSP / CEB como distribuidor de CLT en México, con expansión a EE. UU. y Latinoamérica.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fabricante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CLT: una empresa química que vende máquinas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2009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fundación, Dongguan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¥568 M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2880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ingresos 2025 (~US$80 M)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301618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Bolsa de Shenzhen (ChiNext)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560320" y="26517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18%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32918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ventas de exportación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663440" y="1005840"/>
          <a:ext cx="402336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Text 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Fuente / Source: CLT 2025 annual report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La tecnología híbrida: lo mejor de dos procesos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6187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Base serigráfica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Blanco y efectos con pasta económica: relieve, foil, glitter, descarga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07238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29184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74720" y="1261872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7472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Color digital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Cabezales Ricoh o Brother: degradados fotográficos, colores ilimitados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907024" y="1874520"/>
            <a:ext cx="164592" cy="274320"/>
          </a:xfrm>
          <a:prstGeom prst="chevron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26480" y="1097280"/>
            <a:ext cx="2560320" cy="1828800"/>
          </a:xfrm>
          <a:prstGeom prst="roundRect">
            <a:avLst>
              <a:gd name="adj" fmla="val 4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309360" y="12618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812280" y="1261872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Efectos especiales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1783080"/>
            <a:ext cx="22402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Silicona tipo vidrio, bordado o 3D sobre la impresión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400–450</a:t>
            </a:r>
            <a:endParaRPr lang="en-US" sz="30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 por hora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29184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40–70%</a:t>
            </a:r>
            <a:endParaRPr lang="en-US" sz="3000" dirty="0"/>
          </a:p>
        </p:txBody>
      </p:sp>
      <p:sp>
        <p:nvSpPr>
          <p:cNvPr id="23" name="Text 21"/>
          <p:cNvSpPr txBox="1"/>
          <p:nvPr/>
        </p:nvSpPr>
        <p:spPr>
          <a:xfrm>
            <a:off x="329184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ahorro de tinta vs DTG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126480" y="3246120"/>
            <a:ext cx="2560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500–5,000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126480" y="38862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piezas: tiraje rentable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Cómo vende CLT hoy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23444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Ferias con demo en vivo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Prueba con la tela del cliente y cotización el mismo día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383280" y="123444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38328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379476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Paquete llave en mano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38328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Máquina, química, instalación, capacitación y logística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172200" y="1234440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172200" y="12344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0" y="120700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Inversión por etapas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172200" y="164592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Pulpo primero, estaciones digitales después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Venta por ROI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9436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Ahorro de tinta, operadores y espacio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24612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383280" y="24688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338328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379476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Consumibles vinculados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338328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Garantía con química y refacciones originales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035040" y="2331720"/>
            <a:ext cx="2606040" cy="1097280"/>
          </a:xfrm>
          <a:prstGeom prst="roundRect">
            <a:avLst>
              <a:gd name="adj" fmla="val 666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72200" y="2468880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17220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6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583680" y="2441448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Captación digital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172200" y="28803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Sitio multilingüe y WhatsApp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40080" y="365760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Lo que falta en México: servicio técnico local, inventario en el país, atención en español y sala de demostración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color digital ilimitado</a:t>
            </a:r>
            <a:endParaRPr lang="en-US" sz="2600" dirty="0"/>
          </a:p>
        </p:txBody>
      </p:sp>
      <p:pic>
        <p:nvPicPr>
          <p:cNvPr id="3" name="Image 0" descr="Acuarela digital sobre base blanca, prenda de color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Acuarela digital sobre base blanca, prenda de color</a:t>
            </a:r>
            <a:endParaRPr lang="en-US" sz="1100" dirty="0"/>
          </a:p>
        </p:txBody>
      </p:sp>
      <p:pic>
        <p:nvPicPr>
          <p:cNvPr id="5" name="Image 1" descr="Fotorrealismo sobre prenda oscura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Fotorrealismo sobre prenda oscura</a:t>
            </a:r>
            <a:endParaRPr lang="en-US" sz="1100" dirty="0"/>
          </a:p>
        </p:txBody>
      </p:sp>
      <p:pic>
        <p:nvPicPr>
          <p:cNvPr id="7" name="Image 2" descr="Collage fotográfico a todo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Collage fotográfico a todo color</a:t>
            </a:r>
            <a:endParaRPr lang="en-US" sz="1100" dirty="0"/>
          </a:p>
        </p:txBody>
      </p:sp>
      <p:pic>
        <p:nvPicPr>
          <p:cNvPr id="9" name="Image 3" descr="Impresión digital transpirable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Impresión digital transpirable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Muestras: efectos especiales y uniformes</a:t>
            </a:r>
            <a:endParaRPr lang="en-US" sz="2600" dirty="0"/>
          </a:p>
        </p:txBody>
      </p:sp>
      <p:pic>
        <p:nvPicPr>
          <p:cNvPr id="3" name="Image 0" descr="Alto relieve, espumante y foil en frío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51560"/>
            <a:ext cx="1920240" cy="26060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Alto relieve, espumante y foil en frío</a:t>
            </a:r>
            <a:endParaRPr lang="en-US" sz="1100" dirty="0"/>
          </a:p>
        </p:txBody>
      </p:sp>
      <p:pic>
        <p:nvPicPr>
          <p:cNvPr id="5" name="Image 1" descr="Escudo deportivo con relieve y brill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051560"/>
            <a:ext cx="1920240" cy="260604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256032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Escudo deportivo con relieve y brillo</a:t>
            </a:r>
            <a:endParaRPr lang="en-US" sz="1100" dirty="0"/>
          </a:p>
        </p:txBody>
      </p:sp>
      <p:pic>
        <p:nvPicPr>
          <p:cNvPr id="7" name="Image 2" descr="Serigrafía de tintas planas en prenda de color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051560"/>
            <a:ext cx="1920240" cy="2606040"/>
          </a:xfrm>
          <a:prstGeom prst="rect">
            <a:avLst/>
          </a:prstGeom>
        </p:spPr>
      </p:pic>
      <p:sp>
        <p:nvSpPr>
          <p:cNvPr id="8" name="Text 3"/>
          <p:cNvSpPr txBox="1"/>
          <p:nvPr/>
        </p:nvSpPr>
        <p:spPr>
          <a:xfrm>
            <a:off x="466344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Serigrafía de tintas planas en prenda de color</a:t>
            </a:r>
            <a:endParaRPr lang="en-US" sz="1100" dirty="0"/>
          </a:p>
        </p:txBody>
      </p:sp>
      <p:pic>
        <p:nvPicPr>
          <p:cNvPr id="9" name="Image 3" descr="Relieve, foil dorado y destellos metálicos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051560"/>
            <a:ext cx="1920240" cy="260604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6766560" y="374904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Relieve, foil dorado y destellos metálicos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CLT en PRINTING United 2026 (Las Vegas)</a:t>
            </a:r>
            <a:endParaRPr lang="en-US" sz="2600" dirty="0"/>
          </a:p>
        </p:txBody>
      </p:sp>
      <p:pic>
        <p:nvPicPr>
          <p:cNvPr id="3" name="Image 0" descr="CLT en PRINTING United 2026 (Las Vegas)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005840"/>
            <a:ext cx="51206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852160" y="105156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Stand C3397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5852160" y="169164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Línea híbrida en operación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852160" y="224028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Fotos: VSP Printing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2880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Reunión de VSP con CLT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42900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Pulpo automático con estación digital funcionando en vivo: así vende CLT, y así lo replicaremos en México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El mercado mexicano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Una industria que necesita diferenciarse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$91,165 M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PIB textil-confección (MXN, 2025)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102,492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unidades económicas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519 mil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puestos de trabajo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430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89%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78308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exportaciones a EE. UU.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329184" cy="32918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69748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importación de bajo costo presiona al fabricante nacional (PIB -8.4% en 2023)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3264408"/>
            <a:ext cx="329184" cy="32918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7200" y="3264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3264408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Aranceles 2026: hasta 35% a prendas de países sin tratado, incluida China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3831336"/>
            <a:ext cx="329184" cy="32918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7200" y="38313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14400" y="3831336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salida: personalización, tirajes cortos y efectos de alto valor, justo lo que hace el híbrido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INEGI 2023–2024 · CANAINTEX 2026 · DOF 2026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Tamaño del mercado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5120640" cy="914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09728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~102,500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Mercado total: todas las empresas textiles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005840" y="2148840"/>
            <a:ext cx="4023360" cy="914400"/>
          </a:xfrm>
          <a:prstGeom prst="roundRect">
            <a:avLst>
              <a:gd name="adj" fmla="val 8000"/>
            </a:avLst>
          </a:prstGeom>
          <a:solidFill>
            <a:srgbClr val="CFE6F2"/>
          </a:solidFill>
          <a:ln w="12700">
            <a:solidFill>
              <a:srgbClr val="CFE6F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97280" y="2148840"/>
            <a:ext cx="3840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1F3B"/>
                </a:solidFill>
              </a:rPr>
              <a:t>~1,400–1,900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Alcanzable: medianas/grandes y talleres con pulpo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1554480" y="3200400"/>
            <a:ext cx="2926080" cy="914400"/>
          </a:xfrm>
          <a:prstGeom prst="roundRect">
            <a:avLst>
              <a:gd name="adj" fmla="val 8000"/>
            </a:avLst>
          </a:prstGeom>
          <a:solidFill>
            <a:srgbClr val="F8D3E1"/>
          </a:solidFill>
          <a:ln w="12700">
            <a:solidFill>
              <a:srgbClr val="F8D3E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645920" y="320040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C2185B"/>
                </a:solidFill>
              </a:rPr>
              <a:t>30–90 líneas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3A4060"/>
                </a:solidFill>
              </a:rPr>
              <a:t>Capturable a 5 años (2–5% de adopción)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6035040" y="11887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US$3.6–22 M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6035040" y="18288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en equipos a 5 años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2560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US$0.9–3 M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al año en consumibles (50 líneas)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Zonas prioritarias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65276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94360" y="10652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43000" y="10058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Edomex y CDMX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4297680" y="1005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Estampadores, marcas, promocionales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1581912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4360" y="1641348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94360" y="16413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43000" y="1581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Jalisco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297680" y="1581912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Moda, deportivo, marcas nacionales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157984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94360" y="221742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94360" y="22174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215798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Baja California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2157984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Serigrafía de exportación; TID + VSP en la frontera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57200" y="2734056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94360" y="2793492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94360" y="27934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" y="27340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Puebla y Tlaxcala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4297680" y="2734056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Maquila de exportación, punto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3310128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4360" y="3369564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33695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1143000" y="331012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Guanajuato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4297680" y="3310128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Punto y mayoreo; a 1–2 h de TID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57200" y="38862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" y="3945636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94360" y="394563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1143000" y="3886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Laguna, Ags., N.L., Yucatán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4297680" y="38862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Mezclilla, IMMEX, uniformes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prospectos prioritarios (9 de 47)</a:t>
            </a:r>
            <a:endParaRPr lang="en-US" sz="26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 qué se dedica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ADN Serigrafía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serigrafía: 130,000+ piezas/semana, hasta 18 tintas, producción para EE. UU. y Canadá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Serigrafía Textil Automatizada (KW)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Serigrafía automatizada por volumen: campañas, deportivo y promocional; 30+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Manufacturas Textiles RF (Reitex)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Guadalupe,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Fábrica integrada de hilo a prenda; playeras de campaña y publicitarias de alto volumen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Diermi (Playeras Mindy)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Zapopan,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deportivas y publicitarias en nave automatizada de 5,000 m²; exporta a EE. UU.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GOCA'S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Playeras y sudaderas a gran escala con serigrafía, sublimación y bordado propios; 25+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SerigrafiarteSP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Ciudad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Maquila de serigrafía (plastisol, base agua, corrosión), DTF y sublimación para fábricas y marcas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Martex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Naucalpan, Edo. Méx.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textil de gran volumen; uniformes (el directorio menciona uniformes FIFA)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Uniformes Carmen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Guadalajara, Jal.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Uniformes con serigrafía, bordado y transfer; maquila de estampado por volumen; 30+ años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Charly (Grupo Charly)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León, Gto.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deportiva: jerseys y licencias de clubes de Liga MX (León, Pachuca, Atlas, Santos)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reciben el 80% del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80/20: OEM prioritarios (8 de 35)</a:t>
            </a:r>
            <a:endParaRPr lang="en-US" sz="26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371600"/>
                <a:gridCol w="475488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Empresa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Ciudad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Marcas y clientes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Vertical Knits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Baca, Yuc.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Nike, Fanatics, Tommy Hilfiger, Patagonia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Ink Throwers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Tijuana,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Disney, Levi's, Marvel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MD International Baja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Fanatics, Hurley, REI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Fortune Fashions Baja (Mad Engine)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Mad Engine Global,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SOIR Textiles (TJ Factory Clothing)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Factory 1 (Factory1 Group)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Ensenada, B.C.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Columbia,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Codipsa (San Fernando ScreenPrinting)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Puebla, Pue.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Puma, Gap, Hot Topic, Macy's, Disney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RMC de México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Linares, N.L.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Under Armour, Nordstrom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17 de 82 cuentas (20%) reciben el 80% del esfuerzo comercial del año 1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Competencia: el hueco está en el servicio local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01752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Tipo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Jugadores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</a:rPr>
                        <a:t>Lectura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DTG alta gama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Kornit (Sun Digital México)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Inversión alta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Pulpos automáticos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M&amp;R, ROQ, MHM, Anatol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Clientes para estaciones digitales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Híbridos chinos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Textalk, Hanglory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Sin estructura local visible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Tintas y siliconas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ScreenTec, Avient, Matsui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Precio vs. aprobaciones de marca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3B"/>
                          </a:solidFill>
                        </a:rPr>
                        <a:t>Sustitutos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DTF, sublimación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3B"/>
                          </a:solidFill>
                        </a:rPr>
                        <a:t>DTF crece en tirajes cortos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Competidores en tintas, pastas y siliconas</a:t>
            </a:r>
            <a:endParaRPr lang="en-US" sz="26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566160"/>
                <a:gridCol w="1645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Marca (origen)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Precio de referencia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Avient: Wilflex, Rutland, Union Ink, Printop (EE. UU.)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Alto: ~US$40–60/galón en colores de mezcla; especialidades US$90–310/galón (tiendas de EE. UU.)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OEM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ScreenTec: Seritex, Aquatex, Siltex (México)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Bajo: MXN 159–217/kg al menudeo (Seritex)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Alta en talleres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 (Japón)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Medio-alto; bases desde ~US$8–9/kg en Centroamérica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Media-alta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International Coatings (EE. UU.)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 (Alemania)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textil limitado (nylon, sintéticos)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RUCO / RUCOINX (Alemania)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tintas industriales para plástico, vidrio y metal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Tampoprint (Alemania)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Baja: solo etiquetas sin costura (tagless)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nacionales económicas: Dyssa, Celi Colors, Quitexa, De la Rana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galón de blanco plastisol ~MXN 790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 en talleres chicos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 (Alibaba)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Muy bajo: silicona ~€3.5–5.2/kg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Media: mismo origen que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Comex no fabrica tintas para serigrafía textil: es una marca de pinturas arquitectónicas. Precios públicos de octubre de 2026, solo como referencia; el precio de CLT para México está por confirmar.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 por competidor</a:t>
            </a:r>
            <a:endParaRPr lang="en-US" sz="26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822960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691640"/>
                <a:gridCol w="1691640"/>
                <a:gridCol w="1691640"/>
                <a:gridCol w="1691640"/>
              </a:tblGrid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Competidor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Fortalezas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Debilidades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Oportunidad para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</a:rPr>
                        <a:t>Amenaza para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1F3B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Avient (Wilflex, Rutland)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Marca global; tintas certificadas y aprobadas por marcas; gama completa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alto; importado; especialidades muy caras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Siliconas y efectos especiales a menor precio; base agua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marcas de exportación ya tienen tintas aprobadas: cambiar es lento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Grupo Sánchez / ScreenTec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Fabricante nacional; precio bajo; red de distribución; siliconas Siltex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vende máquinas ni línea híbrida; enfoque en mercado nacional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Paquete llave en mano: máquina + química + servicio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consumibles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Matsui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Referencia en base agua, descarga y especialidades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Importado; precio medio-alto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Las pastas base agua son el 54% de las ventas de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Ya está dentro de maquilas y talleres grandes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Marabu, RUCO, Tampoprint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alemana; fuertes en gráfica, tampografía e industria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Poca oferta para estampado de prenda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No compiten de frente en ropa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Nicho de etiquetas sin costura y sintéticos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Marcas económicas nacionales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muy bajo; disponibles en cualquier tienda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Calidad variable; sin certificaciones ni soporte técnico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Talleres que crecen y necesitan calidad constante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Guerra de precios en talleres chicos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7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B1F3B"/>
                          </a:solidFill>
                        </a:rPr>
                        <a:t>Proveedores chinos directos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Precio más bajo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Sin servicio, sin inventario local, sin garantía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Servicio local, inventario y técnicos en español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B1F3B"/>
                          </a:solidFill>
                        </a:rPr>
                        <a:t>Mismo origen: el cliente compara precio contra CLT</a:t>
                      </a:r>
                      <a:endParaRPr lang="en-US" sz="900" dirty="0"/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1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FODA: nuestra posición frente a la competencia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89C2"/>
                </a:solidFill>
              </a:rPr>
              <a:t>Fortalezas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Única oferta llave en mano: máquina híbrida + química + servicio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Química CLT de menor precio que las marcas premium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Servicio en México y EE. UU.; importación propia (CEB)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663440" y="100584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46320" y="10972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8299"/>
                </a:solidFill>
              </a:rPr>
              <a:t>Debilidades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846320" y="146304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Marca CLT poco conocida en México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Sin aprobaciones de marcas de exportación todavía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Equipo textil por formar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32"/>
                </a:solidFill>
              </a:rPr>
              <a:t>Oportunidades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2026 a China en prendas: más producción local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OEM de exportación buscan efectos de alto valor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Siliconas y efectos especiales con poca oferta local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274320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46320" y="2834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2185B"/>
                </a:solidFill>
              </a:rPr>
              <a:t>Amenazas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3200400"/>
            <a:ext cx="3657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Avient atado a las listas de tintas aprobadas de las marcas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Precio bajo de ScreenTec y de marcas económicas nacionales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DTF en tirajes cortos</a:t>
            </a:r>
            <a:endParaRPr lang="en-US" sz="11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100" dirty="0">
                <a:solidFill>
                  <a:srgbClr val="1B1F3B"/>
                </a:solidFill>
              </a:rPr>
              <a:t>Aranceles a insumos chinos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Importación y regulación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CEB importa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Empresa del grupo constituida en México; envío directo China → México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 2026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7830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5–50% a países sin tratado; confirmar fracciones 8443, 3215 y 3910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IVA 16%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Acreditable: afecta flujo, no costo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T-MEC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383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Maquiladoras exigen OEKO-TEX y respuesta rápida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03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Por qué TID · VSP · CEB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Un grupo con presencia en México y EE. UU.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TID México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Querétaro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 años en decorado industrial. Venta, instalación y servicio en México. 2 técnicos.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4612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429000" y="128016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42900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VSP Printing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Los Ángeles, CA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2900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20+ años en impresión industrial. Servicio en EE. UU. y respaldo técnico. 1 técnico.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35040" y="10972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128016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0" y="1874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CEB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217920" y="22860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México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217920" y="2697480"/>
            <a:ext cx="2286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Subsidiaria de VSP. Importación de equipos e insumos CLT.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Fortalezas y cómo cerramos las brechas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Lo que aportamos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Mismo modelo llave en mano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Negocio basado en consumibles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Servicio técnico en español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Cobertura México + EE. UU.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Importadora propia (CEB)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Brecha → acción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Experiencia textil → división textil dedicada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Química textil → certificación en CLT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3 técnicos → +2 técnicos textiles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Eventos textiles → FESPA México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Demostración → sala con línea híbrida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Equipo dedicado y capacitación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21792" y="13258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3258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1430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Vendedor textil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Prospección, demos, cotizaciones llave en mano y cierre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21792" y="24231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" y="2423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2402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Atención al cliente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188720" y="2606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Pedidos de consumibles, posventa, garantías y agenda de servicio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246120"/>
            <a:ext cx="4206240" cy="960120"/>
          </a:xfrm>
          <a:prstGeom prst="roundRect">
            <a:avLst>
              <a:gd name="adj" fmla="val 761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" y="3520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21792" y="3520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337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Técnico textil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70332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Instalación, mantenimiento y soporte; +1 técnico en año 2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937760" y="1051560"/>
            <a:ext cx="3749040" cy="3154680"/>
          </a:xfrm>
          <a:prstGeom prst="roundRect">
            <a:avLst>
              <a:gd name="adj" fmla="val 2319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166360" y="11887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2B705"/>
                </a:solidFill>
              </a:rPr>
              <a:t>Programa de capacitación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5166360" y="1691640"/>
            <a:ext cx="3337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Inicial en planta CLT: máquinas, química y certificación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Clientes – máquinas: operación, calibración y mantenimiento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Clientes – productos: siliconas, pastas, curado y efectos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</a:rPr>
              <a:t>Actualización continua con ingenieros de CLT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Apoyo existente: 2 técnicos TID, 1 técnico VSP, importación y logística CEB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04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Plan e inversión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 comercial en cuatro fases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731520" y="1691640"/>
            <a:ext cx="7680960" cy="0"/>
          </a:xfrm>
          <a:prstGeom prst="line">
            <a:avLst/>
          </a:prstGeom>
          <a:noFill/>
          <a:ln w="25400">
            <a:solidFill>
              <a:srgbClr val="7A829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1463040"/>
            <a:ext cx="457200" cy="45720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0–6 meses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Arranque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Acuerdo, contrataciones, capacitación, consumibles, FESPA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651760" y="1463040"/>
            <a:ext cx="457200" cy="45720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5176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6032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6–18 meses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256032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Demostración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Sala demo, primeras 2–5 líneas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754880" y="1463040"/>
            <a:ext cx="457200" cy="45720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75488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66344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18–36 meses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Escala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466344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Clústeres prioritarios, EE. UU. vía VSP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858000" y="1463040"/>
            <a:ext cx="457200" cy="45720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0" y="1463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766560" y="20574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Año 3+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766560" y="2377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Latinoamérica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6766560" y="2834640"/>
            <a:ext cx="1920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Centroamérica, Colombia, Perú, R. Dominicana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Plan de marketing: ser la n.º 1 en México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96012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705"/>
                </a:solidFill>
              </a:rPr>
              <a:t>«Serigrafía + digital. Un solo paso.» — con química y servicio en México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73936"/>
            <a:ext cx="365760" cy="36576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17739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6824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Cuentas 80/20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195681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Muestra con su diseño, demo y piloto en su tela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59152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487168"/>
            <a:ext cx="365760" cy="36576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94360" y="24871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39572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Sala demo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267004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Demos, talleres y Academia Híbrida CLT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72384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200400"/>
            <a:ext cx="365760" cy="36576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94360" y="32004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Contenido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3383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Reels de efectos, casos, LinkedIn y WhatsApp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785616"/>
            <a:ext cx="4846320" cy="621792"/>
          </a:xfrm>
          <a:prstGeom prst="roundRect">
            <a:avLst>
              <a:gd name="adj" fmla="val 11765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913632"/>
            <a:ext cx="365760" cy="36576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9136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1097280" y="38221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Eventos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1097280" y="40965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FESPA, Días Híbridos en 6 ciudades, PRINTING United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0" y="1645920"/>
            <a:ext cx="3200400" cy="2761488"/>
          </a:xfrm>
          <a:prstGeom prst="roundRect">
            <a:avLst>
              <a:gd name="adj" fmla="val 2649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0" y="17373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Metas año 1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14884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300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812280" y="214884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leads calificados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669280" y="26974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40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6812280" y="269748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demostraciones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324612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30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6812280" y="324612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talleres con consumibles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5669280" y="37947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1F3B"/>
                </a:solidFill>
              </a:rPr>
              <a:t>US$50k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6812280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presupuesto (US$65k · 80k años 2–3)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Latam: Centroamérica años 2–3; Perú y Colombia año 3. Plan completo en Excel.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Inversión inicial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Ligero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~US$53k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Demo en consignación o en taller ancla; consumibles primero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4612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29000" y="12344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705"/>
                </a:solidFill>
              </a:rPr>
              <a:t>Recomendado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342900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Base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2B705"/>
                </a:solidFill>
              </a:rPr>
              <a:t>~US$262k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DE3EE"/>
                </a:solidFill>
              </a:rPr>
              <a:t>Pulpo + estación híbrida, inventario, sala demo, lanzamiento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035040" y="1097280"/>
            <a:ext cx="2606040" cy="2834640"/>
          </a:xfrm>
          <a:prstGeom prst="roundRect">
            <a:avLst>
              <a:gd name="adj" fmla="val 2807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55448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1F3B"/>
                </a:solidFill>
              </a:rPr>
              <a:t>Completo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C2185B"/>
                </a:solidFill>
              </a:rPr>
              <a:t>~US$450k</a:t>
            </a:r>
            <a:endParaRPr lang="en-US" sz="3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743200"/>
            <a:ext cx="2240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A4060"/>
                </a:solidFill>
              </a:rPr>
              <a:t>Línea completa con DTG de 6 estaciones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457200" y="40690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Gasto operativo año 1: ~US$131k (vendedor, atención al cliente, técnico, capacitación, ferias)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Estimación — confirmar con cotización CLT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Proyección: el ingreso recurrente crece cada año</a:t>
            </a:r>
            <a:endParaRPr lang="en-US" sz="26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05840"/>
          <a:ext cx="512064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0515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Resultado anual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5943600" y="150876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080760" y="150876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040880" y="15087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2185B"/>
                </a:solidFill>
              </a:rPr>
              <a:t>-US$37k</a:t>
            </a:r>
            <a:endParaRPr lang="en-US" sz="2200" dirty="0"/>
          </a:p>
        </p:txBody>
      </p:sp>
      <p:sp>
        <p:nvSpPr>
          <p:cNvPr id="8" name="Shape 5"/>
          <p:cNvSpPr/>
          <p:nvPr/>
        </p:nvSpPr>
        <p:spPr>
          <a:xfrm>
            <a:off x="5943600" y="237744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080760" y="237744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704088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+US$89k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5943600" y="3246120"/>
            <a:ext cx="2743200" cy="731520"/>
          </a:xfrm>
          <a:prstGeom prst="roundRect">
            <a:avLst>
              <a:gd name="adj" fmla="val 10000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80760" y="3246120"/>
            <a:ext cx="1005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4060"/>
                </a:solidFill>
              </a:rPr>
              <a:t>Año 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040880" y="324612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7D32"/>
                </a:solidFill>
              </a:rPr>
              <a:t>+US$269k</a:t>
            </a:r>
            <a:endParaRPr lang="en-US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457200" y="4480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Supuestos: línea US$150k, margen 20% equipos / 35% consumibles, ~US$36k de consumo por línea al año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3"/>
                </a:solidFill>
              </a:rPr>
              <a:t>05</a:t>
            </a:r>
            <a:endParaRPr lang="en-US" sz="60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210312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 propuesta</a:t>
            </a:r>
            <a:endParaRPr lang="en-US" sz="3600" dirty="0"/>
          </a:p>
        </p:txBody>
      </p:sp>
      <p:sp>
        <p:nvSpPr>
          <p:cNvPr id="4" name="cmyk-dot"/>
          <p:cNvSpPr/>
          <p:nvPr/>
        </p:nvSpPr>
        <p:spPr>
          <a:xfrm>
            <a:off x="594360" y="3246120"/>
            <a:ext cx="164592" cy="164592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832104" y="3246120"/>
            <a:ext cx="164592" cy="164592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6" name="cmyk-dot"/>
          <p:cNvSpPr/>
          <p:nvPr/>
        </p:nvSpPr>
        <p:spPr>
          <a:xfrm>
            <a:off x="1069848" y="3246120"/>
            <a:ext cx="164592" cy="164592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7" name="cmyk-dot"/>
          <p:cNvSpPr/>
          <p:nvPr/>
        </p:nvSpPr>
        <p:spPr>
          <a:xfrm>
            <a:off x="1307592" y="3246120"/>
            <a:ext cx="164592" cy="16459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  <p:transition spd="med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Lo que pedimos y lo que nos comprometemos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2185B"/>
                </a:solidFill>
              </a:rPr>
              <a:t>Solicitamos a CLT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Exclusividad en México; Latam según metas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Margen ~20% equipos / ~35% consumibles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Demo en consignación o 30–50% desc.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Inventario inicial a consignación o 90 días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y certificación sin costo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Prospectos de México canalizados a TID / CEB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663440" y="1051560"/>
            <a:ext cx="4023360" cy="3337560"/>
          </a:xfrm>
          <a:prstGeom prst="roundRect">
            <a:avLst>
              <a:gd name="adj" fmla="val 2192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89C2"/>
                </a:solidFill>
              </a:rPr>
              <a:t>Nos comprometemos a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691640"/>
            <a:ext cx="36118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Importación e inventario local (CEB)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Sala demo y servicio en español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Vendedor, atención al cliente y técnico textil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Capacitación en máquinas y productos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Metas: 2 · 5 · 8 líneas en años 1–3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rgbClr val="1B1F3B"/>
                </a:solidFill>
              </a:rPr>
              <a:t>Reportes trimestrales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Riesgos y mitigación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0080" y="1280160"/>
            <a:ext cx="384048" cy="384048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Industria descapitalizada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Inversión por etapas y financiamiento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972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846320" y="1280160"/>
            <a:ext cx="384048" cy="384048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846320" y="1280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2801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DTF en tirajes cortos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828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Enfoque en volumen y efectos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8803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008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!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Aranceles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Fracciones confirmadas; PROSEC; CEB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663440" y="269748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EEF2F7"/>
          </a:solidFill>
          <a:ln w="12700">
            <a:solidFill>
              <a:srgbClr val="EEF2F7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846320" y="2880360"/>
            <a:ext cx="384048" cy="384048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4846320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!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5394960" y="288036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Curva textil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4846320" y="34290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Certificación CLT y personal del sector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Próximos pasos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05156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Cotización formal de CLT (CLT-016B, CLT-012R, SM60-85, consumibles)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1737360"/>
            <a:ext cx="411480" cy="411480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373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16916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Reunión con los dueños de CLT para revisar términos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457200" y="2377440"/>
            <a:ext cx="411480" cy="41148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37744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B1F3B"/>
                </a:solidFill>
              </a:rPr>
              <a:t>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233172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Confirmar aranceles con agente aduanal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11480" cy="411480"/>
          </a:xfrm>
          <a:prstGeom prst="ellipse">
            <a:avLst/>
          </a:prstGeom>
          <a:solidFill>
            <a:srgbClr val="1B1F3B"/>
          </a:solidFill>
          <a:ln w="12700">
            <a:solidFill>
              <a:srgbClr val="1B1F3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01752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4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97180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Validar consumos con 10–15 talleres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411480" cy="411480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5760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5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61188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Carta de intención y plan de arranque de 6 meses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80060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7A8299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  <p:transition spd="med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myk-dot"/>
          <p:cNvSpPr/>
          <p:nvPr/>
        </p:nvSpPr>
        <p:spPr>
          <a:xfrm>
            <a:off x="594360" y="1097280"/>
            <a:ext cx="237744" cy="237744"/>
          </a:xfrm>
          <a:prstGeom prst="ellipse">
            <a:avLst/>
          </a:prstGeom>
          <a:solidFill>
            <a:srgbClr val="0089C2"/>
          </a:solidFill>
          <a:ln w="12700">
            <a:solidFill>
              <a:srgbClr val="0089C2"/>
            </a:solidFill>
            <a:prstDash val="solid"/>
          </a:ln>
        </p:spPr>
      </p:sp>
      <p:sp>
        <p:nvSpPr>
          <p:cNvPr id="3" name="cmyk-dot"/>
          <p:cNvSpPr/>
          <p:nvPr/>
        </p:nvSpPr>
        <p:spPr>
          <a:xfrm>
            <a:off x="923544" y="1097280"/>
            <a:ext cx="237744" cy="237744"/>
          </a:xfrm>
          <a:prstGeom prst="ellipse">
            <a:avLst/>
          </a:prstGeom>
          <a:solidFill>
            <a:srgbClr val="C2185B"/>
          </a:solidFill>
          <a:ln w="12700">
            <a:solidFill>
              <a:srgbClr val="C2185B"/>
            </a:solidFill>
            <a:prstDash val="solid"/>
          </a:ln>
        </p:spPr>
      </p:sp>
      <p:sp>
        <p:nvSpPr>
          <p:cNvPr id="4" name="cmyk-dot"/>
          <p:cNvSpPr/>
          <p:nvPr/>
        </p:nvSpPr>
        <p:spPr>
          <a:xfrm>
            <a:off x="1252728" y="1097280"/>
            <a:ext cx="237744" cy="237744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cmyk-dot"/>
          <p:cNvSpPr/>
          <p:nvPr/>
        </p:nvSpPr>
        <p:spPr>
          <a:xfrm>
            <a:off x="1581912" y="1097280"/>
            <a:ext cx="237744" cy="23774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0"/>
          <p:cNvSpPr/>
          <p:nvPr>
            <p:ph idx="100" type="title" hasCustomPrompt="1"/>
          </p:nvPr>
        </p:nvSpPr>
        <p:spPr>
          <a:xfrm>
            <a:off x="548640" y="1463040"/>
            <a:ext cx="7680960" cy="109728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Gracias</a:t>
            </a:r>
            <a:endParaRPr lang="en-US" sz="4000" dirty="0"/>
          </a:p>
        </p:txBody>
      </p:sp>
      <p:sp>
        <p:nvSpPr>
          <p:cNvPr id="7" name="Text 0"/>
          <p:cNvSpPr/>
          <p:nvPr>
            <p:ph idx="101" type="body" hasCustomPrompt="1"/>
          </p:nvPr>
        </p:nvSpPr>
        <p:spPr>
          <a:xfrm>
            <a:off x="548640" y="2651760"/>
            <a:ext cx="768096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Carlos Moreno — TID México · carlos.moreno@tidmexico.com.mx · +52 446 479 4420</a:t>
            </a:r>
            <a:endParaRPr lang="en-US" sz="1800" dirty="0"/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CLT Propuesta">
  <a:themeElements>
    <a:clrScheme name="CLT Propuesta">
      <a:dk1>
        <a:srgbClr val="1B1F3B"/>
      </a:dk1>
      <a:lt1>
        <a:srgbClr val="FFFFFF"/>
      </a:lt1>
      <a:dk2>
        <a:srgbClr val="3A4060"/>
      </a:dk2>
      <a:lt2>
        <a:srgbClr val="EEF2F7"/>
      </a:lt2>
      <a:accent1>
        <a:srgbClr val="C2185B"/>
      </a:accent1>
      <a:accent2>
        <a:srgbClr val="0089C2"/>
      </a:accent2>
      <a:accent3>
        <a:srgbClr val="F2B705"/>
      </a:accent3>
      <a:accent4>
        <a:srgbClr val="1B1F3B"/>
      </a:accent4>
      <a:accent5>
        <a:srgbClr val="7A8299"/>
      </a:accent5>
      <a:accent6>
        <a:srgbClr val="2E7D32"/>
      </a:accent6>
      <a:hlink>
        <a:srgbClr val="0089C2"/>
      </a:hlink>
      <a:folHlink>
        <a:srgbClr val="6D2E46"/>
      </a:folHlink>
    </a:clrScheme>
    <a:fontScheme name="CLT Propuesta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Distribución CLT</dc:title>
  <dc:subject>PptxGenJS Presentation</dc:subject>
  <dc:creator>TID México</dc:creator>
  <cp:lastModifiedBy>TID México</cp:lastModifiedBy>
  <cp:revision>1</cp:revision>
  <dcterms:created xsi:type="dcterms:W3CDTF">2026-10-08T05:12:35Z</dcterms:created>
  <dcterms:modified xsi:type="dcterms:W3CDTF">2026-10-08T05:12:35Z</dcterms:modified>
</cp:coreProperties>
</file>