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3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79fd6cd5-4f38-e3ef-e33f-b3beed6fe7a2}">
          <p14:sldIdLst>
            <p14:sldId id="256"/>
            <p14:sldId id="257"/>
          </p14:sldIdLst>
        </p14:section>
        <p14:section name="El fabricante" id="{30057f3d-bb83-4e22-68f0-6d6a6eeae9f1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El mercado mexicano" id="{052a1626-b6b0-12fe-807a-0e1cf49b513f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Por qué TID · VSP · CEB" id="{781bc445-f5c2-6cfd-5702-ee7497317dda}">
          <p14:sldIdLst>
            <p14:sldId id="277"/>
            <p14:sldId id="278"/>
            <p14:sldId id="279"/>
            <p14:sldId id="280"/>
          </p14:sldIdLst>
        </p14:section>
        <p14:section name="Plan e inversión" id="{5af87831-9cf7-a2f5-00f3-3a22d1f596c6}">
          <p14:sldIdLst>
            <p14:sldId id="281"/>
            <p14:sldId id="282"/>
            <p14:sldId id="283"/>
            <p14:sldId id="284"/>
            <p14:sldId id="285"/>
          </p14:sldIdLst>
        </p14:section>
        <p14:section name="La propuesta" id="{456e92c9-d6e6-4a73-1045-e6a8283e4014}">
          <p14:sldIdLst>
            <p14:sldId id="286"/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+mn-lt"/>
              </a:rPr>
              <a:t>Ingresos 2025 por línea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Ingresos 2025 por línea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2185B"/>
              </a:solidFill>
              <a:effectLst/>
            </c:spPr>
          </c:dPt>
          <c:dPt>
            <c:idx val="1"/>
            <c:bubble3D val="0"/>
            <c:spPr>
              <a:solidFill>
                <a:srgbClr val="0089C2"/>
              </a:solidFill>
              <a:effectLst/>
            </c:spPr>
          </c:dPt>
          <c:dPt>
            <c:idx val="2"/>
            <c:bubble3D val="0"/>
            <c:spPr>
              <a:solidFill>
                <a:srgbClr val="7A8299"/>
              </a:solidFill>
              <a:effectLst/>
            </c:spPr>
          </c:dPt>
          <c:dPt>
            <c:idx val="3"/>
            <c:bubble3D val="0"/>
            <c:spPr>
              <a:solidFill>
                <a:srgbClr val="F2B705"/>
              </a:solidFill>
              <a:effectLst/>
            </c:spPr>
          </c:dPt>
          <c:dPt>
            <c:idx val="4"/>
            <c:bubble3D val="0"/>
            <c:spPr>
              <a:solidFill>
                <a:srgbClr val="CFD6E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Pastas base agua</c:v>
                </c:pt>
                <c:pt idx="1">
                  <c:v>Siliconas</c:v>
                </c:pt>
                <c:pt idx="2">
                  <c:v>Resinas</c:v>
                </c:pt>
                <c:pt idx="3">
                  <c:v>Equipos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53.6</c:v>
                </c:pt>
                <c:pt idx="1">
                  <c:v>20.7</c:v>
                </c:pt>
                <c:pt idx="2">
                  <c:v>8.1</c:v>
                </c:pt>
                <c:pt idx="3">
                  <c:v>6.5</c:v>
                </c:pt>
                <c:pt idx="4">
                  <c:v>11.1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Arial"/>
              </a:rPr>
              <a:t>Millones de US$ · +11.5% anual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US$ M</c:v>
                </c:pt>
              </c:strCache>
            </c:strRef>
          </c:tx>
          <c:spPr>
            <a:solidFill>
              <a:srgbClr val="0089C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89C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2030 (proy.)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116.5</c:v>
                </c:pt>
                <c:pt idx="1">
                  <c:v>217.6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0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+mn-lt"/>
              </a:rPr>
              <a:t>Margen bruto (miles de US$)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Margen equipos</c:v>
                </c:pt>
              </c:strCache>
            </c:strRef>
          </c:tx>
          <c:spPr>
            <a:solidFill>
              <a:srgbClr val="0089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150</c:v>
                </c:pt>
                <c:pt idx="2">
                  <c:v>240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Margen consumibles</c:v>
                </c:pt>
              </c:strCache>
            </c:strRef>
          </c:tx>
          <c:spPr>
            <a:solidFill>
              <a:srgbClr val="C218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34</c:v>
                </c:pt>
                <c:pt idx="1">
                  <c:v>99</c:v>
                </c:pt>
                <c:pt idx="2">
                  <c:v>209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0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0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76809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myk-dot"/>
          <p:cNvSpPr/>
          <p:nvPr/>
        </p:nvSpPr>
        <p:spPr>
          <a:xfrm>
            <a:off x="594360" y="1097280"/>
            <a:ext cx="237744" cy="237744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3" name="cmyk-dot"/>
          <p:cNvSpPr/>
          <p:nvPr/>
        </p:nvSpPr>
        <p:spPr>
          <a:xfrm>
            <a:off x="923544" y="1097280"/>
            <a:ext cx="237744" cy="23774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" name="cmyk-dot"/>
          <p:cNvSpPr/>
          <p:nvPr/>
        </p:nvSpPr>
        <p:spPr>
          <a:xfrm>
            <a:off x="1252728" y="1097280"/>
            <a:ext cx="237744" cy="23774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1581912" y="1097280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14630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Propuesta de Distribución CLT</a:t>
            </a:r>
            <a:endParaRPr lang="en-US" sz="40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548640" y="2651760"/>
            <a:ext cx="76809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Impresión híbrida textil (serigrafía + digital) en México y Latinoamérica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6E4"/>
                </a:solidFill>
              </a:rPr>
              <a:t>TID México · VSP Printing, Inc. · CEB  |  Octubre 2026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La oportunidad en una página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89C2"/>
                </a:solidFill>
              </a:rPr>
              <a:t>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574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distribuidores formales de híbridos chinos en México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14300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325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185B"/>
                </a:solidFill>
              </a:rPr>
              <a:t>~1,900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0574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clientes alcanzables (empresas medianas/grandes y talleres con pulpo)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325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38600"/>
                </a:solidFill>
              </a:rPr>
              <a:t>30–90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0574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líneas híbridas potenciales en 5 años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14300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325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</a:rPr>
              <a:t>Año 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0574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recuperación de la inversión (escenario base)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29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Proponemos a TID / VSP / CEB como distribuidor de CLT en México, con expansión a EE. UU. y Latinoamérica.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El fabricante</a:t>
            </a:r>
            <a:endParaRPr lang="en-US" sz="3600" dirty="0"/>
          </a:p>
        </p:txBody>
      </p:sp>
      <p:sp>
        <p:nvSpPr>
          <p:cNvPr id="4" name="cmyk-dot"/>
          <p:cNvSpPr/>
          <p:nvPr/>
        </p:nvSpPr>
        <p:spPr>
          <a:xfrm>
            <a:off x="594360" y="3246120"/>
            <a:ext cx="164592" cy="164592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832104" y="3246120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cmyk-dot"/>
          <p:cNvSpPr/>
          <p:nvPr/>
        </p:nvSpPr>
        <p:spPr>
          <a:xfrm>
            <a:off x="1069848" y="324612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cmyk-dot"/>
          <p:cNvSpPr/>
          <p:nvPr/>
        </p:nvSpPr>
        <p:spPr>
          <a:xfrm>
            <a:off x="1307592" y="32461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CLT: una empresa química que vende máquinas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2009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fundación, Dongguan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¥568 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ingresos 2025 (~US$80 M)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301618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91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Bolsa de Shenzhen (ChiNext)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18%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291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ventas de exportación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663440" y="1005840"/>
          <a:ext cx="4023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Fuente / Source: CLT 2025 annual report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La tecnología híbrida: lo mejor de dos procesos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61872"/>
            <a:ext cx="384048" cy="384048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618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Base serigráfica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Blanco y efectos con pasta económica: relieve, foil, glitter, descarga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72384" y="1874520"/>
            <a:ext cx="164592" cy="274320"/>
          </a:xfrm>
          <a:prstGeom prst="chevron">
            <a:avLst/>
          </a:prstGeom>
          <a:solidFill>
            <a:srgbClr val="7A8299"/>
          </a:solidFill>
          <a:ln w="12700">
            <a:solidFill>
              <a:srgbClr val="7A82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0972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261872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12618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Color digital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7830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Cabezales Ricoh o Brother: degradados fotográficos, colores ilimitados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07024" y="1874520"/>
            <a:ext cx="164592" cy="274320"/>
          </a:xfrm>
          <a:prstGeom prst="chevron">
            <a:avLst/>
          </a:prstGeom>
          <a:solidFill>
            <a:srgbClr val="7A8299"/>
          </a:solidFill>
          <a:ln w="12700">
            <a:solidFill>
              <a:srgbClr val="7A82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0972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261872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12618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Efectos especiales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17830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Silicona tipo vidrio, bordado o 3D sobre la impresión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400–450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piezas por hora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40–70%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ahorro de tinta vs DTG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500–5,000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12648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piezas: tiraje rentable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Cómo vende CLT hoy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34440"/>
            <a:ext cx="329184" cy="329184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2070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Ferias con demo en vivo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Prueba con la tela del cliente y cotización el mismo día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234440"/>
            <a:ext cx="329184" cy="32918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12070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Paquete llave en mano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Máquina, química, instalación, capacitación y logística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234440"/>
            <a:ext cx="329184" cy="32918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12070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Inversión por etapas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Pulpo primero, estaciones digitales después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33172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468880"/>
            <a:ext cx="329184" cy="329184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24414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Venta por ROI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Ahorro de tinta, operadores y espacio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233172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2468880"/>
            <a:ext cx="329184" cy="329184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8328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794760" y="24414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Consumibles vinculados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Garantía con química y refacciones originales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233172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2468880"/>
            <a:ext cx="329184" cy="32918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24414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Captación digital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Sitio multilingüe y WhatsApp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6576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3657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 que falta en México: servicio técnico local, inventario en el país, atención en español y sala de demostración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Muestras: color digital ilimitado</a:t>
            </a:r>
            <a:endParaRPr lang="en-US" sz="2600" dirty="0"/>
          </a:p>
        </p:txBody>
      </p:sp>
      <p:pic>
        <p:nvPicPr>
          <p:cNvPr id="3" name="Image 0" descr="Acuarela digital sobre base blanca, prenda de col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1920240" cy="2606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Acuarela digital sobre base blanca, prenda de color</a:t>
            </a:r>
            <a:endParaRPr lang="en-US" sz="1100" dirty="0"/>
          </a:p>
        </p:txBody>
      </p:sp>
      <p:pic>
        <p:nvPicPr>
          <p:cNvPr id="5" name="Image 1" descr="Fotorrealismo sobre prenda oscura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60320" y="1051560"/>
            <a:ext cx="1920240" cy="2606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56032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Fotorrealismo sobre prenda oscura</a:t>
            </a:r>
            <a:endParaRPr lang="en-US" sz="1100" dirty="0"/>
          </a:p>
        </p:txBody>
      </p:sp>
      <p:pic>
        <p:nvPicPr>
          <p:cNvPr id="7" name="Image 2" descr="Collage fotográfico a todo col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0" y="1051560"/>
            <a:ext cx="1920240" cy="26060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66344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Collage fotográfico a todo color</a:t>
            </a:r>
            <a:endParaRPr lang="en-US" sz="1100" dirty="0"/>
          </a:p>
        </p:txBody>
      </p:sp>
      <p:pic>
        <p:nvPicPr>
          <p:cNvPr id="9" name="Image 3" descr="Impresión digital transpirab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66560" y="1051560"/>
            <a:ext cx="1920240" cy="260604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76656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Impresión digital transpirable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Muestras: efectos especiales y uniformes</a:t>
            </a:r>
            <a:endParaRPr lang="en-US" sz="2600" dirty="0"/>
          </a:p>
        </p:txBody>
      </p:sp>
      <p:pic>
        <p:nvPicPr>
          <p:cNvPr id="3" name="Image 0" descr="Alto relieve, espumante y foil en frí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1920240" cy="2606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Alto relieve, espumante y foil en frío</a:t>
            </a:r>
            <a:endParaRPr lang="en-US" sz="1100" dirty="0"/>
          </a:p>
        </p:txBody>
      </p:sp>
      <p:pic>
        <p:nvPicPr>
          <p:cNvPr id="5" name="Image 1" descr="Escudo deportivo con relieve y brillo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60320" y="1051560"/>
            <a:ext cx="1920240" cy="2606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56032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Escudo deportivo con relieve y brillo</a:t>
            </a:r>
            <a:endParaRPr lang="en-US" sz="1100" dirty="0"/>
          </a:p>
        </p:txBody>
      </p:sp>
      <p:pic>
        <p:nvPicPr>
          <p:cNvPr id="7" name="Image 2" descr="Serigrafía de tintas planas en prenda de col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0" y="1051560"/>
            <a:ext cx="1920240" cy="26060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66344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Serigrafía de tintas planas en prenda de color</a:t>
            </a:r>
            <a:endParaRPr lang="en-US" sz="1100" dirty="0"/>
          </a:p>
        </p:txBody>
      </p:sp>
      <p:pic>
        <p:nvPicPr>
          <p:cNvPr id="9" name="Image 3" descr="Relieve, foil dorado y destellos metálicos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66560" y="1051560"/>
            <a:ext cx="1920240" cy="260604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76656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Relieve, foil dorado y destellos metálicos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CLT en PRINTING United 2026 (Las Vegas)</a:t>
            </a:r>
            <a:endParaRPr lang="en-US" sz="2600" dirty="0"/>
          </a:p>
        </p:txBody>
      </p:sp>
      <p:pic>
        <p:nvPicPr>
          <p:cNvPr id="3" name="Image 0" descr="CLT en PRINTING United 2026 (Las Vegas)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5120640" cy="3291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852160" y="10515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Stand C3397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852160" y="1691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Línea híbrida en operación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852160" y="2240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Fotos: VSP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2880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Reunión de VSP Printing con CLT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3429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Pulpo automático con estación digital funcionando en vivo: así vende CLT, y así lo replicaremos en México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El mercado mexicano</a:t>
            </a:r>
            <a:endParaRPr lang="en-US" sz="3600" dirty="0"/>
          </a:p>
        </p:txBody>
      </p:sp>
      <p:sp>
        <p:nvSpPr>
          <p:cNvPr id="4" name="cmyk-dot"/>
          <p:cNvSpPr/>
          <p:nvPr/>
        </p:nvSpPr>
        <p:spPr>
          <a:xfrm>
            <a:off x="594360" y="3246120"/>
            <a:ext cx="164592" cy="164592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832104" y="3246120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cmyk-dot"/>
          <p:cNvSpPr/>
          <p:nvPr/>
        </p:nvSpPr>
        <p:spPr>
          <a:xfrm>
            <a:off x="1069848" y="324612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cmyk-dot"/>
          <p:cNvSpPr/>
          <p:nvPr/>
        </p:nvSpPr>
        <p:spPr>
          <a:xfrm>
            <a:off x="1307592" y="32461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Una industria que necesita diferenciarse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$91,165 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PIB textil-confección (MXN, 2025)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102,492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unidades económicas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519 mil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puestos de trabajo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89%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exportaciones a EE. UU.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329184" cy="329184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6974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importación de bajo costo presiona al fabricante nacional (PIB -8.4% en 2023)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64408"/>
            <a:ext cx="329184" cy="32918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264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26440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Aranceles 2026: hasta 35% a prendas de países sin tratado, incluida China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831336"/>
            <a:ext cx="329184" cy="32918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31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83133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salida: personalización, tirajes cortos y efectos de alto valor, justo lo que hace el híbrido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INEGI 2023–2024 · CANAINTEX 2026 · DOF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Tamaño del mercado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F3B"/>
                </a:solidFill>
              </a:rPr>
              <a:t>~102,500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A4060"/>
                </a:solidFill>
              </a:rPr>
              <a:t>Mercado total: todas las empresas textiles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05840" y="21488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CFE6F2"/>
          </a:solidFill>
          <a:ln w="12700">
            <a:solidFill>
              <a:srgbClr val="CF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1488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F3B"/>
                </a:solidFill>
              </a:rPr>
              <a:t>~1,400–1,900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A4060"/>
                </a:solidFill>
              </a:rPr>
              <a:t>Alcanzable: medianas/grandes y talleres con pulpo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554480" y="32004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8D3E1"/>
          </a:solidFill>
          <a:ln w="12700">
            <a:solidFill>
              <a:srgbClr val="F8D3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45920" y="3200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185B"/>
                </a:solidFill>
              </a:rPr>
              <a:t>30–90 líneas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A4060"/>
                </a:solidFill>
              </a:rPr>
              <a:t>Capturable a 5 años (2–5% de adopción)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US$3.6–22 M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828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en equipos a 5 años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560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US$0.9–3 M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3200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al año en consumibles (50 líneas)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Estimación — confirmar con cotización CLT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Mercado en valor: impresión textil digital en México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6012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120640" y="10515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74%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12064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directo a tela (rollo) en 2024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21488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DTG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2788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directo a prenda: el segmento que más crece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3246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~60%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3886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Epson en digital, según Epson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Fuente: Grand View Research (2024–2030); Epson en FESPA 2026. Solo impresión digital: no incluye la serigrafía ni la química que también vende CLT.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Zonas prioritarias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65276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65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005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Edomex y CDMX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0058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Estampadores, marcas, promocionales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8191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641348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6413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1581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Jalisco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15819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Moda, deportivo, marcas nacionales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157984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217420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2174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15798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Baja California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21579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Serigrafía de exportación; TID + VSP en la frontera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734056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793492"/>
            <a:ext cx="384048" cy="384048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7934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7340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Puebla y Tlaxcala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27340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Maquila de exportación, punto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310128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369564"/>
            <a:ext cx="384048" cy="384048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33695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33101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Guanajuato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297680" y="33101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Punto y mayoreo; a 1–2 h de TID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8862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3945636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4360" y="3945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" y="3886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Laguna, Ags., N.L., Yucatán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297680" y="3886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Mezclilla, IMMEX, uniformes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80/20: prospectos prioritarios (9 de 47)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47548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Empresa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Ciudad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 qué se dedica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ADN Serigrafía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Naucalpan, Edo. Méx.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Maquila de serigrafía: 130,000+ piezas/semana, hasta 18 tintas, producción para EE. UU. y Canadá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Serigrafía Textil Automatizada (KW)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Puebla, Pue.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Serigrafía automatizada por volumen: campañas, deportivo y promocional; 30+ años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Manufacturas Textiles RF (Reitex)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Guadalupe, N.L.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Fábrica integrada de hilo a prenda; playeras de campaña y publicitarias de alto volumen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Diermi (Playeras Mindy)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Zapopan, Jal.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Playeras deportivas y publicitarias en nave automatizada de 5,000 m²; exporta a EE. UU.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GOCA'S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Ciudad de México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Playeras y sudaderas a gran escala con serigrafía, sublimación y bordado propios; 25+ años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SerigrafiarteSP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Ciudad de México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Maquila de serigrafía (plastisol, base agua, corrosión), DTF y sublimación para fábricas y marcas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Grupo Martex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Naucalpan, Edo. Méx.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Fabricante textil de gran volumen; uniformes (el directorio menciona uniformes FIFA)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Uniformes Carmen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Guadalajara, Jal.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Uniformes con serigrafía, bordado y transfer; maquila de estampado por volumen; 30+ años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Charly (Grupo Charly)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León, Gto.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Marca deportiva: jerseys y licencias de clubes de Liga MX (León, Pachuca, Atlas, Santos)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17 de 82 cuentas (20%) reciben el 80% del esfuerzo comercial del año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80/20: OEM prioritarios (8 de 35)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47548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Empresa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Ciudad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Marcas y clientes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Vertical Knits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Baca, Yuc.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Nike, Fanatics, Tommy Hilfiger, Patagonia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Ink Throwers de México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Tijuana, B.C.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Disney, Levi's, Marvel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MD International Baja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Ensenada, B.C.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Fanatics, Hurley, REI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Fortune Fashions Baja (Mad Engine)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Ensenada, B.C.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Mad Engine Global, Disney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SOIR Textiles (TJ Factory Clothing)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Ensenada, B.C.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Columbia, Disney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Factory 1 (Factory1 Group)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Ensenada, B.C.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Columbia, Disney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Codipsa (San Fernando ScreenPrinting)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Puebla, Pue.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Puma, Gap, Hot Topic, Macy's, Disney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Industrias Manufactureras MYR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Irapuato, Gto.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adidas, Puma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17 de 82 cuentas (20%) reciben el 80% del esfuerzo comercial del año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Competencia: el hueco está en el servicio local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Jugadores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Lectura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DTG alta gama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Kornit (Sun Digital México)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Inversión alta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Pulpos automáticos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M&amp;R, ROQ, MHM, Anatol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Clientes para estaciones digitales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Híbridos chinos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Textalk, Hanglory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Sin estructura local visible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Tintas y siliconas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ScreenTec, Avient, Matsui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Precio vs. aprobaciones de marca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Sustitutos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DTF, sublimación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DTF crece en tirajes cortos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Competidores en tintas, pastas y siliconas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566160"/>
                <a:gridCol w="1645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Marca (origen)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Precio de referencia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Amenaza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Avient: Wilflex, Rutland, Union Ink, Printop (EE. UU.)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Alto: ~US$40–60/galón en colores de mezcla; especialidades US$90–310/galón (tiendas de EE. UU.)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Alta en OEM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Grupo Sánchez / ScreenTec: Seritex, Aquatex, Siltex (México)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Bajo: MXN 159–217/kg al menudeo (Seritex)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Alta en talleres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Matsui (Japón)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Medio-alto; bases desde ~US$8–9/kg en Centroamérica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Media-alta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International Coatings (EE. UU.)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Medio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Media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Marabu (Alemania)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Alto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Baja: textil limitado (nylon, sintéticos)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RUCO / RUCOINX (Alemania)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Alto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Baja: tintas industriales para plástico, vidrio y metal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Tampoprint (Alemania)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Alto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Baja: solo etiquetas sin costura (tagless)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Marcas nacionales económicas: Dyssa, Celi Colors, Quitexa, De la Rana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Muy bajo: galón de blanco plastisol ~MXN 790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Media en talleres chicos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Proveedores chinos directos (Alibaba)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Muy bajo: silicona ~€3.5–5.2/kg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Media: mismo origen que CLT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Comex no fabrica tintas para serigrafía textil: es una marca de pinturas arquitectónicas. Precios públicos de octubre de 2026, solo como referencia; el precio de CLT para México está por confirmar.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FODA por competidor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91640"/>
                <a:gridCol w="1691640"/>
                <a:gridCol w="1691640"/>
                <a:gridCol w="16916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Competidor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Fortalezas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Debilidades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Oportunidad para CLT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Amenaza para CLT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Avient (Wilflex, Rutland)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Marca global; tintas certificadas y aprobadas por marcas; gama completa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Precio alto; importado; especialidades muy caras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Siliconas y efectos especiales a menor precio; base agua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Las marcas de exportación ya tienen tintas aprobadas: cambiar es lento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Grupo Sánchez / ScreenTec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Fabricante nacional; precio bajo; red de distribución; siliconas Siltex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No vende máquinas ni línea híbrida; enfoque en mercado nacional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Paquete llave en mano: máquina + química + servicio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Guerra de precios en consumibles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Matsui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Referencia en base agua, descarga y especialidades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Importado; precio medio-alto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Las pastas base agua son el 54% de las ventas de CLT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Ya está dentro de maquilas y talleres grandes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Marabu, RUCO, Tampoprint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Calidad alemana; fuertes en gráfica, tampografía e industria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Poca oferta para estampado de prenda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No compiten de frente en ropa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Nicho de etiquetas sin costura y sintéticos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Marcas económicas nacionales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Precio muy bajo; disponibles en cualquier tienda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Calidad variable; sin certificaciones ni soporte técnico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Talleres que crecen y necesitan calidad constante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Guerra de precios en talleres chicos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Proveedores chinos directos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Precio más bajo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Sin servicio, sin inventario local, sin garantía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Servicio local, inventario y técnicos en español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Mismo origen: el cliente compara precio contra CLT</a:t>
                      </a:r>
                      <a:endParaRPr lang="en-US" sz="9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FODA: nuestra posición frente a la competencia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9C2"/>
                </a:solidFill>
              </a:rPr>
              <a:t>Fortalezas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Única oferta llave en mano: máquina híbrida + química + servicio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Química CLT de menor precio que las marcas premium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Servicio en México y EE. UU.; importación propia (CEB)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8299"/>
                </a:solidFill>
              </a:rPr>
              <a:t>Debilidades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463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Marca CLT poco conocida en México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Sin aprobaciones de marcas de exportación todavía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Equipo textil por formar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Oportunidades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00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Aranceles 2026 a China en prendas: más producción local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OEM de exportación buscan efectos de alto valor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Siliconas y efectos especiales con poca oferta local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7432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85B"/>
                </a:solidFill>
              </a:rPr>
              <a:t>Amenazas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200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Avient atado a las listas de tintas aprobadas de las marcas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Precio bajo de ScreenTec y de marcas económicas nacionales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DTF en tirajes cortos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Aranceles a insumos chinos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Importación y regulación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80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CEB importa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Empresa del grupo constituida en México; envío directo China → México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280160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280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Aranceles 2026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83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5–50% a países sin tratado; confirmar fracciones 8443, 3215 y 3910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8036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880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IVA 16%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3832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Acreditable: afecta flujo, no costo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6974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880360"/>
            <a:ext cx="384048" cy="384048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2880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T-MEC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3832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Maquiladoras exigen OEKO-TEX y respuesta rápida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Por qué TID · VSP · CEB</a:t>
            </a:r>
            <a:endParaRPr lang="en-US" sz="3600" dirty="0"/>
          </a:p>
        </p:txBody>
      </p:sp>
      <p:sp>
        <p:nvSpPr>
          <p:cNvPr id="4" name="cmyk-dot"/>
          <p:cNvSpPr/>
          <p:nvPr/>
        </p:nvSpPr>
        <p:spPr>
          <a:xfrm>
            <a:off x="594360" y="3246120"/>
            <a:ext cx="164592" cy="164592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832104" y="3246120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cmyk-dot"/>
          <p:cNvSpPr/>
          <p:nvPr/>
        </p:nvSpPr>
        <p:spPr>
          <a:xfrm>
            <a:off x="1069848" y="324612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cmyk-dot"/>
          <p:cNvSpPr/>
          <p:nvPr/>
        </p:nvSpPr>
        <p:spPr>
          <a:xfrm>
            <a:off x="1307592" y="32461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Un grupo con presencia en México y EE. UU.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TID México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Querétaro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12 años en decorado industrial. Venta, instalación y servicio en México. 2 técnicos.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280160"/>
            <a:ext cx="457200" cy="4572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VSP Printing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Los Ángeles, CA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6974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20+ años en impresión industrial. Servicio en EE. UU. y respaldo técnico. 1 técnico.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280160"/>
            <a:ext cx="457200" cy="4572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CEB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México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6974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Subsidiaria de VSP. Importación de equipos e insumos CLT.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Fortalezas y cómo cerramos las brechas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9C2"/>
                </a:solidFill>
              </a:rPr>
              <a:t>Lo que aportamos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Mismo modelo llave en mano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Negocio basado en consumibles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Servicio técnico en español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Cobertura México + EE. UU.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Importadora propia (CEB)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515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185B"/>
                </a:solidFill>
              </a:rPr>
              <a:t>Brecha → acción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9164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Experiencia textil → división textil dedicada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Química textil → certificación en CLT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3 técnicos → +2 técnicos textiles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Eventos textiles → FESPA México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Demostración → sala con línea híbrida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Equipo dedicado y capacitación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25880"/>
            <a:ext cx="411480" cy="411480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430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Vendedor textil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08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Prospección, demos, cotizaciones llave en mano y cierre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2423160"/>
            <a:ext cx="411480" cy="41148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2402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Atención al cliente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606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Pedidos de consumibles, posventa, garantías y agenda de servicio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3520440"/>
            <a:ext cx="411480" cy="41148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3375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Técnico textil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7033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Instalación, mantenimiento y soporte; +1 técnico en año 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1051560"/>
            <a:ext cx="3749040" cy="3154680"/>
          </a:xfrm>
          <a:prstGeom prst="roundRect">
            <a:avLst>
              <a:gd name="adj" fmla="val 2319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66360" y="1188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705"/>
                </a:solidFill>
              </a:rPr>
              <a:t>Programa de capacitación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1691640"/>
            <a:ext cx="3337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Inicial en planta CLT: máquinas, química y certificación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Clientes – máquinas: operación, calibración y mantenimiento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Clientes – productos: siliconas, pastas, curado y efectos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Actualización continua con ingenieros de CLT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Apoyo existente: 2 técnicos TID, 1 técnico VSP, importación y logística CEB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04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Plan e inversión</a:t>
            </a:r>
            <a:endParaRPr lang="en-US" sz="3600" dirty="0"/>
          </a:p>
        </p:txBody>
      </p:sp>
      <p:sp>
        <p:nvSpPr>
          <p:cNvPr id="4" name="cmyk-dot"/>
          <p:cNvSpPr/>
          <p:nvPr/>
        </p:nvSpPr>
        <p:spPr>
          <a:xfrm>
            <a:off x="594360" y="3246120"/>
            <a:ext cx="164592" cy="164592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832104" y="3246120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cmyk-dot"/>
          <p:cNvSpPr/>
          <p:nvPr/>
        </p:nvSpPr>
        <p:spPr>
          <a:xfrm>
            <a:off x="1069848" y="324612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cmyk-dot"/>
          <p:cNvSpPr/>
          <p:nvPr/>
        </p:nvSpPr>
        <p:spPr>
          <a:xfrm>
            <a:off x="1307592" y="32461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Plan comercial en cuatro fases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7680960" cy="0"/>
          </a:xfrm>
          <a:prstGeom prst="line">
            <a:avLst/>
          </a:prstGeom>
          <a:noFill/>
          <a:ln w="25400">
            <a:solidFill>
              <a:srgbClr val="7A82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0–6 meses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77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Arranque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346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Acuerdo, contrataciones, capacitación, consumibles, FESPA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1463040"/>
            <a:ext cx="457200" cy="4572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6–18 meses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377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Demostración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28346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Sala demo, primeras 2–5 líneas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463040"/>
            <a:ext cx="457200" cy="4572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18–36 meses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377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Escala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8346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Clústeres prioritarios, EE. UU. vía VSP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0" y="1463040"/>
            <a:ext cx="457200" cy="45720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Año 3+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2377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Latinoamérica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28346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Centroamérica, Colombia, Perú, R. Dominicana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Plan de marketing: ser la n.º 1 en México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705"/>
                </a:solidFill>
              </a:rPr>
              <a:t>«Serigrafía + digital. Un solo paso.» — con química y servicio en México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846320" cy="621792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73936"/>
            <a:ext cx="365760" cy="365760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773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6824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Cuentas 80/20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56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Muestra con su diseño, demo y piloto en su tela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59152"/>
            <a:ext cx="4846320" cy="621792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487168"/>
            <a:ext cx="365760" cy="36576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957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Sala demo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670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Demos, talleres y Academia Híbrida CLT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72384"/>
            <a:ext cx="4846320" cy="621792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200400"/>
            <a:ext cx="365760" cy="3657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108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Contenido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383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Reels de efectos, casos, LinkedIn y WhatsApp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85616"/>
            <a:ext cx="4846320" cy="621792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913632"/>
            <a:ext cx="365760" cy="36576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38221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Eventos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096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FESPA, Días Híbridos en 6 ciudades, PRINTING United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0" y="1645920"/>
            <a:ext cx="3200400" cy="2761488"/>
          </a:xfrm>
          <a:prstGeom prst="roundRect">
            <a:avLst>
              <a:gd name="adj" fmla="val 264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0" y="1737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Metas año 1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21488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</a:rPr>
              <a:t>300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12280" y="2148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leads calificados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0" y="26974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</a:rPr>
              <a:t>40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812280" y="2697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demostraciones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32461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</a:rPr>
              <a:t>30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812280" y="3246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talleres con consumibles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0" y="37947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</a:rPr>
              <a:t>US$50k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812280" y="3794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presupuesto (US$65k · 80k años 2–3)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Latam: Centroamérica años 2–3; Perú y Colombia año 3. Plan completo en Excel.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Inversión inicial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</a:rPr>
              <a:t>Ligero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185B"/>
                </a:solidFill>
              </a:rPr>
              <a:t>~US$53k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060"/>
                </a:solidFill>
              </a:rPr>
              <a:t>Demo en consignación o en taller ancla; consumibles primero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234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705"/>
                </a:solidFill>
              </a:rPr>
              <a:t>Recomendado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554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Base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965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B705"/>
                </a:solidFill>
              </a:rPr>
              <a:t>~US$262k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7432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DE3EE"/>
                </a:solidFill>
              </a:rPr>
              <a:t>Pulpo + estación híbrida, inventario, sala demo, lanzamiento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554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</a:rPr>
              <a:t>Completo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965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185B"/>
                </a:solidFill>
              </a:rPr>
              <a:t>~US$450k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7432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060"/>
                </a:solidFill>
              </a:rPr>
              <a:t>Línea completa con DTG de 6 estaciones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Gasto operativo año 1: ~US$131k (vendedor, atención al cliente, técnico, capacitación, ferias)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Estimación — confirmar con cotización CLT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Proyección: el ingreso recurrente crece cada año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Resultado anual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943600" y="150876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80760" y="150876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060"/>
                </a:solidFill>
              </a:rPr>
              <a:t>Año 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15087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2185B"/>
                </a:solidFill>
              </a:rPr>
              <a:t>-US$37k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943600" y="237744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80760" y="23774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060"/>
                </a:solidFill>
              </a:rPr>
              <a:t>Año 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2377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E7D32"/>
                </a:solidFill>
              </a:rPr>
              <a:t>+US$89k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5943600" y="324612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80760" y="32461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060"/>
                </a:solidFill>
              </a:rPr>
              <a:t>Año 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0" y="32461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E7D32"/>
                </a:solidFill>
              </a:rPr>
              <a:t>+US$269k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Supuestos: línea US$150k, margen 20% equipos / 35% consumibles, ~US$36k de consumo por línea al año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05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La propuesta</a:t>
            </a:r>
            <a:endParaRPr lang="en-US" sz="3600" dirty="0"/>
          </a:p>
        </p:txBody>
      </p:sp>
      <p:sp>
        <p:nvSpPr>
          <p:cNvPr id="4" name="cmyk-dot"/>
          <p:cNvSpPr/>
          <p:nvPr/>
        </p:nvSpPr>
        <p:spPr>
          <a:xfrm>
            <a:off x="594360" y="3246120"/>
            <a:ext cx="164592" cy="164592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832104" y="3246120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cmyk-dot"/>
          <p:cNvSpPr/>
          <p:nvPr/>
        </p:nvSpPr>
        <p:spPr>
          <a:xfrm>
            <a:off x="1069848" y="324612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cmyk-dot"/>
          <p:cNvSpPr/>
          <p:nvPr/>
        </p:nvSpPr>
        <p:spPr>
          <a:xfrm>
            <a:off x="1307592" y="32461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Lo que pedimos y lo que nos comprometemos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185B"/>
                </a:solidFill>
              </a:rPr>
              <a:t>Solicitamos a CLT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3611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Exclusividad en México; Latam según metas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Margen ~20% equipos / ~35% consumibles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Demo en consignación o 30–50% desc.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Inventario inicial a consignación o 90 días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Capacitación y certificación sin costo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Prospectos de México canalizados a TID / CEB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515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9C2"/>
                </a:solidFill>
              </a:rPr>
              <a:t>Nos comprometemos 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91640"/>
            <a:ext cx="3611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Importación e inventario local (CEB)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Sala demo y servicio en español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Vendedor, atención al cliente y técnico textil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Capacitación en máquinas y productos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Metas: 2 · 5 · 8 líneas en años 1–3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</a:rPr>
              <a:t>Reportes trimestrales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Riesgos y mitigación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80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Industria descapitalizada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Inversión por etapas y financiamiento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280160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280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DTF en tirajes cortos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828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Enfoque en volumen y efectos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8036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!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880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Aranceles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29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Fracciones confirmadas; PROSEC; CEB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6974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880360"/>
            <a:ext cx="384048" cy="384048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2880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Curva textil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429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Certificación CLT y personal del sector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Próximos pasos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" cy="411480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515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Cotización formal de CLT (CLT-016B, CLT-012R, SM60-85, consumibles)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11480" cy="41148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6916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Reunión con los dueños de CLT para revisar términos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411480" cy="41148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317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Confirmar aranceles con agente aduanal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11480" cy="41148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9718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Validar consumos con 10–15 talleres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411480" cy="411480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6118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Carta de intención y plan de arranque de 6 meses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myk-dot"/>
          <p:cNvSpPr/>
          <p:nvPr/>
        </p:nvSpPr>
        <p:spPr>
          <a:xfrm>
            <a:off x="594360" y="1097280"/>
            <a:ext cx="237744" cy="237744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3" name="cmyk-dot"/>
          <p:cNvSpPr/>
          <p:nvPr/>
        </p:nvSpPr>
        <p:spPr>
          <a:xfrm>
            <a:off x="923544" y="1097280"/>
            <a:ext cx="237744" cy="23774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" name="cmyk-dot"/>
          <p:cNvSpPr/>
          <p:nvPr/>
        </p:nvSpPr>
        <p:spPr>
          <a:xfrm>
            <a:off x="1252728" y="1097280"/>
            <a:ext cx="237744" cy="23774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1581912" y="1097280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14630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Gracias</a:t>
            </a:r>
            <a:endParaRPr lang="en-US" sz="40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548640" y="2651760"/>
            <a:ext cx="76809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Carlos Moreno — TID México · carlos.moreno@tidmexico.com.mx · +52 446 479 4420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CLT Propuesta">
  <a:themeElements>
    <a:clrScheme name="CLT Propuesta">
      <a:dk1>
        <a:srgbClr val="1B1F3B"/>
      </a:dk1>
      <a:lt1>
        <a:srgbClr val="FFFFFF"/>
      </a:lt1>
      <a:dk2>
        <a:srgbClr val="3A4060"/>
      </a:dk2>
      <a:lt2>
        <a:srgbClr val="EEF2F7"/>
      </a:lt2>
      <a:accent1>
        <a:srgbClr val="C2185B"/>
      </a:accent1>
      <a:accent2>
        <a:srgbClr val="0089C2"/>
      </a:accent2>
      <a:accent3>
        <a:srgbClr val="F2B705"/>
      </a:accent3>
      <a:accent4>
        <a:srgbClr val="1B1F3B"/>
      </a:accent4>
      <a:accent5>
        <a:srgbClr val="7A8299"/>
      </a:accent5>
      <a:accent6>
        <a:srgbClr val="2E7D32"/>
      </a:accent6>
      <a:hlink>
        <a:srgbClr val="0089C2"/>
      </a:hlink>
      <a:folHlink>
        <a:srgbClr val="6D2E46"/>
      </a:folHlink>
    </a:clrScheme>
    <a:fontScheme name="CLT Propuest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 Distribución CLT</dc:title>
  <dc:subject>PptxGenJS Presentation</dc:subject>
  <dc:creator>TID México</dc:creator>
  <cp:lastModifiedBy>TID México</cp:lastModifiedBy>
  <cp:revision>1</cp:revision>
  <dcterms:created xsi:type="dcterms:W3CDTF">2026-10-12T20:20:34Z</dcterms:created>
  <dcterms:modified xsi:type="dcterms:W3CDTF">2026-10-12T20:20:34Z</dcterms:modified>
</cp:coreProperties>
</file>