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charts/chart2.xml" ContentType="application/vnd.openxmlformats-officedocument.drawingml.chart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icio" id="{3022fc75-2f35-290d-3996-19ed409674c9}">
          <p14:sldIdLst>
            <p14:sldId id="256"/>
            <p14:sldId id="257"/>
          </p14:sldIdLst>
        </p14:section>
        <p14:section name="El fabricante" id="{ba88142f-a30f-6d68-0c32-8a60fc794573}">
          <p14:sldIdLst>
            <p14:sldId id="258"/>
            <p14:sldId id="259"/>
            <p14:sldId id="260"/>
            <p14:sldId id="261"/>
          </p14:sldIdLst>
        </p14:section>
        <p14:section name="El mercado mexicano" id="{24ccee74-cbdf-fdc2-6573-a6c454f890b3}">
          <p14:sldIdLst>
            <p14:sldId id="262"/>
            <p14:sldId id="263"/>
            <p14:sldId id="264"/>
            <p14:sldId id="265"/>
            <p14:sldId id="266"/>
            <p14:sldId id="267"/>
          </p14:sldIdLst>
        </p14:section>
        <p14:section name="Por qué TID · VSP · CEB" id="{6916b23f-b88c-ff30-1633-77fe8736aed4}">
          <p14:sldIdLst>
            <p14:sldId id="268"/>
            <p14:sldId id="269"/>
            <p14:sldId id="270"/>
          </p14:sldIdLst>
        </p14:section>
        <p14:section name="Plan e inversión" id="{533f5592-d72a-cedd-b266-05fdad2e0ea8}">
          <p14:sldIdLst>
            <p14:sldId id="271"/>
            <p14:sldId id="272"/>
            <p14:sldId id="273"/>
            <p14:sldId id="274"/>
          </p14:sldIdLst>
        </p14:section>
        <p14:section name="La propuesta" id="{d465368e-ce0d-2232-782e-e0be9341dcc1}">
          <p14:sldIdLst>
            <p14:sldId id="275"/>
            <p14:sldId id="276"/>
            <p14:sldId id="277"/>
            <p14:sldId id="278"/>
            <p14:sldId id="27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1F3B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B1F3B"/>
                </a:solidFill>
                <a:latin typeface="+mn-lt"/>
              </a:rPr>
              <a:t>Ingresos 2025 por línea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Ingresos 2025 por línea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C2185B"/>
              </a:solidFill>
              <a:effectLst/>
            </c:spPr>
          </c:dPt>
          <c:dPt>
            <c:idx val="1"/>
            <c:bubble3D val="0"/>
            <c:spPr>
              <a:solidFill>
                <a:srgbClr val="0089C2"/>
              </a:solidFill>
              <a:effectLst/>
            </c:spPr>
          </c:dPt>
          <c:dPt>
            <c:idx val="2"/>
            <c:bubble3D val="0"/>
            <c:spPr>
              <a:solidFill>
                <a:srgbClr val="7A8299"/>
              </a:solidFill>
              <a:effectLst/>
            </c:spPr>
          </c:dPt>
          <c:dPt>
            <c:idx val="3"/>
            <c:bubble3D val="0"/>
            <c:spPr>
              <a:solidFill>
                <a:srgbClr val="F2B705"/>
              </a:solidFill>
              <a:effectLst/>
            </c:spPr>
          </c:dPt>
          <c:dPt>
            <c:idx val="4"/>
            <c:bubble3D val="0"/>
            <c:spPr>
              <a:solidFill>
                <a:srgbClr val="CFD6E4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Sheet1!$A$2:$A$6</c:f>
              <c:strCache>
                <c:ptCount val="5"/>
                <c:pt idx="0">
                  <c:v>Pastas base agua</c:v>
                </c:pt>
                <c:pt idx="1">
                  <c:v>Siliconas</c:v>
                </c:pt>
                <c:pt idx="2">
                  <c:v>Resinas</c:v>
                </c:pt>
                <c:pt idx="3">
                  <c:v>Equipos</c:v>
                </c:pt>
                <c:pt idx="4">
                  <c:v>Otros</c:v>
                </c:pt>
              </c:strCache>
            </c:strRef>
          </c:cat>
          <c:val>
            <c:numRef>
              <c:f>Sheet1!$B$2:$B$6</c:f>
              <c:numCache>
                <c:ptCount val="5"/>
                <c:pt idx="0">
                  <c:v>53.6</c:v>
                </c:pt>
                <c:pt idx="1">
                  <c:v>20.7</c:v>
                </c:pt>
                <c:pt idx="2">
                  <c:v>8.1</c:v>
                </c:pt>
                <c:pt idx="3">
                  <c:v>6.5</c:v>
                </c:pt>
                <c:pt idx="4">
                  <c:v>11.1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10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1F3B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B1F3B"/>
                </a:solidFill>
                <a:latin typeface="+mn-lt"/>
              </a:rPr>
              <a:t>Margen bruto (miles de US$)</a:t>
            </a:r>
          </a:p>
        </c:rich>
      </c:tx>
      <c:layout/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Margen equipos</c:v>
                </c:pt>
              </c:strCache>
            </c:strRef>
          </c:tx>
          <c:spPr>
            <a:solidFill>
              <a:srgbClr val="0089C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Año 1</c:v>
                  </c:pt>
                  <c:pt idx="1">
                    <c:v>Año 2</c:v>
                  </c:pt>
                  <c:pt idx="2">
                    <c:v>Año 3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60</c:v>
                </c:pt>
                <c:pt idx="1">
                  <c:v>150</c:v>
                </c:pt>
                <c:pt idx="2">
                  <c:v>240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Margen consumibles</c:v>
                </c:pt>
              </c:strCache>
            </c:strRef>
          </c:tx>
          <c:spPr>
            <a:solidFill>
              <a:srgbClr val="C2185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Año 1</c:v>
                  </c:pt>
                  <c:pt idx="1">
                    <c:v>Año 2</c:v>
                  </c:pt>
                  <c:pt idx="2">
                    <c:v>Año 3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34</c:v>
                </c:pt>
                <c:pt idx="1">
                  <c:v>99</c:v>
                </c:pt>
                <c:pt idx="2">
                  <c:v>209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FFFFFF"/>
                  </a:solidFill>
                  <a:latin typeface="+mn-lt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A406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3E7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A406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rgbClr val="1B1F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463040"/>
            <a:ext cx="768096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651760"/>
            <a:ext cx="768096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accent3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_DARK">
    <p:bg>
      <p:bgPr>
        <a:solidFill>
          <a:srgbClr val="1B1F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10312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600" b="1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endParaRPr lang="en-US" sz="2600" dirty="0"/>
          </a:p>
        </p:txBody>
      </p:sp>
      <p:sp>
        <p:nvSpPr>
          <p:cNvPr id="3" name="Text 0"/>
          <p:cNvSpPr/>
          <p:nvPr/>
        </p:nvSpPr>
        <p:spPr>
          <a:xfrm>
            <a:off x="457200" y="4800600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8299"/>
                </a:solidFill>
              </a:rPr>
              <a:t>Propuesta TID · VSP · CEB para CLT — Confidencial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myk-dot"/>
          <p:cNvSpPr/>
          <p:nvPr/>
        </p:nvSpPr>
        <p:spPr>
          <a:xfrm>
            <a:off x="594360" y="1097280"/>
            <a:ext cx="237744" cy="237744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3" name="cmyk-dot"/>
          <p:cNvSpPr/>
          <p:nvPr/>
        </p:nvSpPr>
        <p:spPr>
          <a:xfrm>
            <a:off x="923544" y="1097280"/>
            <a:ext cx="237744" cy="237744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4" name="cmyk-dot"/>
          <p:cNvSpPr/>
          <p:nvPr/>
        </p:nvSpPr>
        <p:spPr>
          <a:xfrm>
            <a:off x="1252728" y="1097280"/>
            <a:ext cx="237744" cy="237744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5" name="cmyk-dot"/>
          <p:cNvSpPr/>
          <p:nvPr/>
        </p:nvSpPr>
        <p:spPr>
          <a:xfrm>
            <a:off x="1581912" y="109728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0"/>
          <p:cNvSpPr/>
          <p:nvPr>
            <p:ph idx="100" type="title" hasCustomPrompt="1"/>
          </p:nvPr>
        </p:nvSpPr>
        <p:spPr>
          <a:xfrm>
            <a:off x="548640" y="1463040"/>
            <a:ext cx="7680960" cy="10972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Propuesta de Distribución CLT</a:t>
            </a:r>
            <a:endParaRPr lang="en-US" sz="4000" dirty="0"/>
          </a:p>
        </p:txBody>
      </p:sp>
      <p:sp>
        <p:nvSpPr>
          <p:cNvPr id="7" name="Text 0"/>
          <p:cNvSpPr/>
          <p:nvPr>
            <p:ph idx="101" type="body" hasCustomPrompt="1"/>
          </p:nvPr>
        </p:nvSpPr>
        <p:spPr>
          <a:xfrm>
            <a:off x="548640" y="2651760"/>
            <a:ext cx="7680960" cy="7315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3"/>
                </a:solidFill>
              </a:rPr>
              <a:t>Impresión híbrida textil (serigrafía + digital) en México y Latinoamérica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411480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FD6E4"/>
                </a:solidFill>
              </a:rPr>
              <a:t>TID México · VSP Printing, Inc. · CEB  |  Octubre 2026</a:t>
            </a:r>
            <a:endParaRPr lang="en-US" sz="1300" dirty="0"/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La oportunidad en una página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143000"/>
            <a:ext cx="1920240" cy="2011680"/>
          </a:xfrm>
          <a:prstGeom prst="roundRect">
            <a:avLst>
              <a:gd name="adj" fmla="val 381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94360" y="132588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89C2"/>
                </a:solidFill>
              </a:rPr>
              <a:t>0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2057400"/>
            <a:ext cx="1645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distribuidores formales de híbridos chinos en México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560320" y="1143000"/>
            <a:ext cx="1920240" cy="2011680"/>
          </a:xfrm>
          <a:prstGeom prst="roundRect">
            <a:avLst>
              <a:gd name="adj" fmla="val 381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697480" y="132588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2185B"/>
                </a:solidFill>
              </a:rPr>
              <a:t>~1,900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2697480" y="2057400"/>
            <a:ext cx="1645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clientes alcanzables (empresas medianas/grandes y talleres con pulpo)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663440" y="1143000"/>
            <a:ext cx="1920240" cy="2011680"/>
          </a:xfrm>
          <a:prstGeom prst="roundRect">
            <a:avLst>
              <a:gd name="adj" fmla="val 381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800600" y="132588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38600"/>
                </a:solidFill>
              </a:rPr>
              <a:t>30–90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4800600" y="2057400"/>
            <a:ext cx="1645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líneas híbridas potenciales en 5 años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766560" y="1143000"/>
            <a:ext cx="1920240" cy="2011680"/>
          </a:xfrm>
          <a:prstGeom prst="roundRect">
            <a:avLst>
              <a:gd name="adj" fmla="val 381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903720" y="132588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F3B"/>
                </a:solidFill>
              </a:rPr>
              <a:t>Año 3</a:t>
            </a:r>
            <a:endParaRPr lang="en-US" sz="3000" dirty="0"/>
          </a:p>
        </p:txBody>
      </p:sp>
      <p:sp>
        <p:nvSpPr>
          <p:cNvPr id="14" name="Text 12"/>
          <p:cNvSpPr txBox="1"/>
          <p:nvPr/>
        </p:nvSpPr>
        <p:spPr>
          <a:xfrm>
            <a:off x="6903720" y="2057400"/>
            <a:ext cx="1645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recuperación de la inversión (escenario base)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342900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Proponemos a TID / VSP / CEB como distribuidor de CLT en México, con expansión a EE. UU. y Latinoamérica.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09728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3"/>
                </a:solidFill>
              </a:rPr>
              <a:t>01</a:t>
            </a:r>
            <a:endParaRPr lang="en-US" sz="6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10312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El fabricante</a:t>
            </a:r>
            <a:endParaRPr lang="en-US" sz="3600" dirty="0"/>
          </a:p>
        </p:txBody>
      </p:sp>
      <p:sp>
        <p:nvSpPr>
          <p:cNvPr id="4" name="cmyk-dot"/>
          <p:cNvSpPr/>
          <p:nvPr/>
        </p:nvSpPr>
        <p:spPr>
          <a:xfrm>
            <a:off x="594360" y="3246120"/>
            <a:ext cx="164592" cy="164592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cmyk-dot"/>
          <p:cNvSpPr/>
          <p:nvPr/>
        </p:nvSpPr>
        <p:spPr>
          <a:xfrm>
            <a:off x="832104" y="3246120"/>
            <a:ext cx="164592" cy="164592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6" name="cmyk-dot"/>
          <p:cNvSpPr/>
          <p:nvPr/>
        </p:nvSpPr>
        <p:spPr>
          <a:xfrm>
            <a:off x="1069848" y="3246120"/>
            <a:ext cx="164592" cy="164592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7" name="cmyk-dot"/>
          <p:cNvSpPr/>
          <p:nvPr/>
        </p:nvSpPr>
        <p:spPr>
          <a:xfrm>
            <a:off x="1307592" y="32461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CLT: una empresa química que vende máquinas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18872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2009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82880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fundación, Dongguan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2560320" y="118872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¥568 M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2560320" y="182880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ingresos 2025 (~US$80 M)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265176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301618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32918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Bolsa de Shenzhen (ChiNext)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2560320" y="265176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18%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2560320" y="32918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ventas de exportación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4663440" y="1005840"/>
          <a:ext cx="402336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Text 9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Fuente / Source: CLT 2025 annual report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La tecnología híbrida: lo mejor de dos procesos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560320" cy="1828800"/>
          </a:xfrm>
          <a:prstGeom prst="roundRect">
            <a:avLst>
              <a:gd name="adj" fmla="val 400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61872"/>
            <a:ext cx="384048" cy="384048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2618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43000" y="1261872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Base serigráfica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7830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Blanco y efectos con pasta económica: relieve, foil, glitter, descarga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072384" y="1874520"/>
            <a:ext cx="164592" cy="274320"/>
          </a:xfrm>
          <a:prstGeom prst="chevron">
            <a:avLst/>
          </a:prstGeom>
          <a:solidFill>
            <a:srgbClr val="7A8299"/>
          </a:solidFill>
          <a:ln w="12700">
            <a:solidFill>
              <a:srgbClr val="7A829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91840" y="1097280"/>
            <a:ext cx="2560320" cy="1828800"/>
          </a:xfrm>
          <a:prstGeom prst="roundRect">
            <a:avLst>
              <a:gd name="adj" fmla="val 400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474720" y="1261872"/>
            <a:ext cx="384048" cy="384048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474720" y="12618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3977640" y="1261872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Color digital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3474720" y="17830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Cabezales Ricoh o Brother: degradados fotográficos, colores ilimitados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907024" y="1874520"/>
            <a:ext cx="164592" cy="274320"/>
          </a:xfrm>
          <a:prstGeom prst="chevron">
            <a:avLst/>
          </a:prstGeom>
          <a:solidFill>
            <a:srgbClr val="7A8299"/>
          </a:solidFill>
          <a:ln w="12700">
            <a:solidFill>
              <a:srgbClr val="7A829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126480" y="1097280"/>
            <a:ext cx="2560320" cy="1828800"/>
          </a:xfrm>
          <a:prstGeom prst="roundRect">
            <a:avLst>
              <a:gd name="adj" fmla="val 400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309360" y="1261872"/>
            <a:ext cx="384048" cy="384048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309360" y="12618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3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812280" y="1261872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Efectos especiales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6309360" y="17830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Silicona tipo vidrio, bordado o 3D sobre la impresión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324612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400–450</a:t>
            </a:r>
            <a:endParaRPr lang="en-US" sz="300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388620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piezas por hora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3291840" y="324612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40–70%</a:t>
            </a:r>
            <a:endParaRPr lang="en-US" sz="3000" dirty="0"/>
          </a:p>
        </p:txBody>
      </p:sp>
      <p:sp>
        <p:nvSpPr>
          <p:cNvPr id="23" name="Text 21"/>
          <p:cNvSpPr txBox="1"/>
          <p:nvPr/>
        </p:nvSpPr>
        <p:spPr>
          <a:xfrm>
            <a:off x="3291840" y="388620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ahorro de tinta vs DTG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6126480" y="324612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500–5,000</a:t>
            </a:r>
            <a:endParaRPr lang="en-US" sz="3000" dirty="0"/>
          </a:p>
        </p:txBody>
      </p:sp>
      <p:sp>
        <p:nvSpPr>
          <p:cNvPr id="25" name="Text 23"/>
          <p:cNvSpPr txBox="1"/>
          <p:nvPr/>
        </p:nvSpPr>
        <p:spPr>
          <a:xfrm>
            <a:off x="6126480" y="388620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piezas: tiraje rentable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Cómo vende CLT hoy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606040" cy="1097280"/>
          </a:xfrm>
          <a:prstGeom prst="roundRect">
            <a:avLst>
              <a:gd name="adj" fmla="val 6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94360" y="1234440"/>
            <a:ext cx="329184" cy="329184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2344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1207008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Ferias con demo en vivo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16459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Prueba con la tela del cliente y cotización el mismo día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246120" y="1097280"/>
            <a:ext cx="2606040" cy="1097280"/>
          </a:xfrm>
          <a:prstGeom prst="roundRect">
            <a:avLst>
              <a:gd name="adj" fmla="val 6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383280" y="1234440"/>
            <a:ext cx="329184" cy="329184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383280" y="12344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3794760" y="1207008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Paquete llave en mano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3383280" y="16459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Máquina, química, instalación, capacitación y logística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035040" y="1097280"/>
            <a:ext cx="2606040" cy="1097280"/>
          </a:xfrm>
          <a:prstGeom prst="roundRect">
            <a:avLst>
              <a:gd name="adj" fmla="val 6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172200" y="1234440"/>
            <a:ext cx="329184" cy="329184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172200" y="12344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3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6583680" y="1207008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Inversión por etapas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172200" y="16459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Pulpo primero, estaciones digitales después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2331720"/>
            <a:ext cx="2606040" cy="1097280"/>
          </a:xfrm>
          <a:prstGeom prst="roundRect">
            <a:avLst>
              <a:gd name="adj" fmla="val 6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94360" y="2468880"/>
            <a:ext cx="329184" cy="329184"/>
          </a:xfrm>
          <a:prstGeom prst="ellipse">
            <a:avLst/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94360" y="24688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005840" y="2441448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Venta por ROI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594360" y="28803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Ahorro de tinta, operadores y espacio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246120" y="2331720"/>
            <a:ext cx="2606040" cy="1097280"/>
          </a:xfrm>
          <a:prstGeom prst="roundRect">
            <a:avLst>
              <a:gd name="adj" fmla="val 6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383280" y="2468880"/>
            <a:ext cx="329184" cy="329184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3383280" y="24688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5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3794760" y="2441448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Consumibles vinculados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3383280" y="28803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Garantía con química y refacciones originales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035040" y="2331720"/>
            <a:ext cx="2606040" cy="1097280"/>
          </a:xfrm>
          <a:prstGeom prst="roundRect">
            <a:avLst>
              <a:gd name="adj" fmla="val 6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172200" y="2468880"/>
            <a:ext cx="329184" cy="329184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172200" y="24688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6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6583680" y="2441448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Captación digital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6172200" y="28803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Sitio multilingüe y WhatsApp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457200" y="3657600"/>
            <a:ext cx="8229600" cy="731520"/>
          </a:xfrm>
          <a:prstGeom prst="roundRect">
            <a:avLst>
              <a:gd name="adj" fmla="val 10000"/>
            </a:avLst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40080" y="365760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Lo que falta en México: servicio técnico local, inventario en el país, atención en español y sala de demostración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09728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3"/>
                </a:solidFill>
              </a:rPr>
              <a:t>02</a:t>
            </a:r>
            <a:endParaRPr lang="en-US" sz="6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10312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El mercado mexicano</a:t>
            </a:r>
            <a:endParaRPr lang="en-US" sz="3600" dirty="0"/>
          </a:p>
        </p:txBody>
      </p:sp>
      <p:sp>
        <p:nvSpPr>
          <p:cNvPr id="4" name="cmyk-dot"/>
          <p:cNvSpPr/>
          <p:nvPr/>
        </p:nvSpPr>
        <p:spPr>
          <a:xfrm>
            <a:off x="594360" y="3246120"/>
            <a:ext cx="164592" cy="164592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cmyk-dot"/>
          <p:cNvSpPr/>
          <p:nvPr/>
        </p:nvSpPr>
        <p:spPr>
          <a:xfrm>
            <a:off x="832104" y="3246120"/>
            <a:ext cx="164592" cy="164592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6" name="cmyk-dot"/>
          <p:cNvSpPr/>
          <p:nvPr/>
        </p:nvSpPr>
        <p:spPr>
          <a:xfrm>
            <a:off x="1069848" y="3246120"/>
            <a:ext cx="164592" cy="164592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7" name="cmyk-dot"/>
          <p:cNvSpPr/>
          <p:nvPr/>
        </p:nvSpPr>
        <p:spPr>
          <a:xfrm>
            <a:off x="1307592" y="32461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Una industria que necesita diferenciarse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14300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$91,165 M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78308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PIB textil-confección (MXN, 2025)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2560320" y="114300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102,492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2560320" y="178308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unidades económicas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4663440" y="114300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519 mil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4663440" y="178308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puestos de trabajo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6766560" y="114300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89%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6766560" y="178308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exportaciones a EE. UU.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2697480"/>
            <a:ext cx="329184" cy="329184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7200" y="26974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914400" y="2697480"/>
            <a:ext cx="7772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La importación de bajo costo presiona al fabricante nacional (PIB -8.4% en 2023)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57200" y="3264408"/>
            <a:ext cx="329184" cy="329184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57200" y="32644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914400" y="3264408"/>
            <a:ext cx="7772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Aranceles 2026: hasta 35% a prendas de países sin tratado, incluida China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57200" y="3831336"/>
            <a:ext cx="329184" cy="329184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57200" y="383133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3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914400" y="3831336"/>
            <a:ext cx="7772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La salida: personalización, tirajes cortos y efectos de alto valor, justo lo que hace el híbrido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INEGI 2023–2024 · CANAINTEX 2026 · DOF 2026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Tamaño del mercado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5120640" cy="914400"/>
          </a:xfrm>
          <a:prstGeom prst="roundRect">
            <a:avLst>
              <a:gd name="adj" fmla="val 800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09728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B1F3B"/>
                </a:solidFill>
              </a:rPr>
              <a:t>~102,500</a:t>
            </a:r>
            <a:endParaRPr lang="en-US" sz="20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3A4060"/>
                </a:solidFill>
              </a:rPr>
              <a:t>Mercado total: todas las empresas textiles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1005840" y="2148840"/>
            <a:ext cx="4023360" cy="914400"/>
          </a:xfrm>
          <a:prstGeom prst="roundRect">
            <a:avLst>
              <a:gd name="adj" fmla="val 8000"/>
            </a:avLst>
          </a:prstGeom>
          <a:solidFill>
            <a:srgbClr val="CFE6F2"/>
          </a:solidFill>
          <a:ln w="12700">
            <a:solidFill>
              <a:srgbClr val="CFE6F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97280" y="214884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B1F3B"/>
                </a:solidFill>
              </a:rPr>
              <a:t>~1,400–1,900</a:t>
            </a:r>
            <a:endParaRPr lang="en-US" sz="20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3A4060"/>
                </a:solidFill>
              </a:rPr>
              <a:t>Alcanzable: medianas/grandes y talleres con pulpo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1554480" y="3200400"/>
            <a:ext cx="2926080" cy="914400"/>
          </a:xfrm>
          <a:prstGeom prst="roundRect">
            <a:avLst>
              <a:gd name="adj" fmla="val 8000"/>
            </a:avLst>
          </a:prstGeom>
          <a:solidFill>
            <a:srgbClr val="F8D3E1"/>
          </a:solidFill>
          <a:ln w="12700">
            <a:solidFill>
              <a:srgbClr val="F8D3E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645920" y="320040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2185B"/>
                </a:solidFill>
              </a:rPr>
              <a:t>30–90 líneas</a:t>
            </a:r>
            <a:endParaRPr lang="en-US" sz="20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3A4060"/>
                </a:solidFill>
              </a:rPr>
              <a:t>Capturable a 5 años (2–5% de adopción)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6035040" y="11887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US$3.6–22 M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6035040" y="18288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en equipos a 5 años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035040" y="2560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US$0.9–3 M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6035040" y="32004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al año en consumibles (50 líneas)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Estimación — confirmar con cotización CLT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Zonas prioritarias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8229600" cy="566928"/>
          </a:xfrm>
          <a:prstGeom prst="roundRect">
            <a:avLst>
              <a:gd name="adj" fmla="val 12903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94360" y="1143000"/>
            <a:ext cx="384048" cy="384048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143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43000" y="105156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Edomex y CDMX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4297680" y="1051560"/>
            <a:ext cx="4206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Estampadores, marcas, promocionales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1709928"/>
            <a:ext cx="8229600" cy="566928"/>
          </a:xfrm>
          <a:prstGeom prst="roundRect">
            <a:avLst>
              <a:gd name="adj" fmla="val 12903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94360" y="1801368"/>
            <a:ext cx="384048" cy="384048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94360" y="18013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143000" y="1709928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Jalisco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297680" y="1709928"/>
            <a:ext cx="4206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Moda, deportivo, marcas nacionales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2368296"/>
            <a:ext cx="8229600" cy="566928"/>
          </a:xfrm>
          <a:prstGeom prst="roundRect">
            <a:avLst>
              <a:gd name="adj" fmla="val 12903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94360" y="2459736"/>
            <a:ext cx="384048" cy="384048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94360" y="24597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143000" y="2368296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Puebla y Tlaxcala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4297680" y="2368296"/>
            <a:ext cx="4206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Maquila de exportación, punto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57200" y="3026664"/>
            <a:ext cx="8229600" cy="566928"/>
          </a:xfrm>
          <a:prstGeom prst="roundRect">
            <a:avLst>
              <a:gd name="adj" fmla="val 12903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94360" y="3118104"/>
            <a:ext cx="384048" cy="384048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94360" y="31181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143000" y="3026664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Guanajuato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4297680" y="3026664"/>
            <a:ext cx="4206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Punto y mayoreo; a 1–2 h de TID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457200" y="3685032"/>
            <a:ext cx="8229600" cy="566928"/>
          </a:xfrm>
          <a:prstGeom prst="roundRect">
            <a:avLst>
              <a:gd name="adj" fmla="val 12903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" y="3776472"/>
            <a:ext cx="384048" cy="384048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94360" y="3776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3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1143000" y="3685032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Laguna, Ags., N.L., Yucatán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4297680" y="3685032"/>
            <a:ext cx="4206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Mezclilla, IMMEX, uniformes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Competencia: el hueco está en el servicio local</a:t>
            </a:r>
            <a:endParaRPr lang="en-US" sz="26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3017520"/>
                <a:gridCol w="301752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Tipo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Jugadores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Lectura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1F3B"/>
                          </a:solidFill>
                        </a:rPr>
                        <a:t>DTG alta gama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Kornit (Sun Digital México)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Inversión alta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1F3B"/>
                          </a:solidFill>
                        </a:rPr>
                        <a:t>Pulpos automáticos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M&amp;R, ROQ, MHM, Anatol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Clientes para estaciones digitales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1F3B"/>
                          </a:solidFill>
                        </a:rPr>
                        <a:t>Híbridos chinos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Textalk, Hanglory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Sin estructura local visible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1F3B"/>
                          </a:solidFill>
                        </a:rPr>
                        <a:t>Siliconas y pastas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ScreenTec (Siltex)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Competencia en consumibles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1F3B"/>
                          </a:solidFill>
                        </a:rPr>
                        <a:t>Sustitutos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DTF, sublimación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DTF crece en tirajes cortos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Importación y regulación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4023360" cy="1417320"/>
          </a:xfrm>
          <a:prstGeom prst="roundRect">
            <a:avLst>
              <a:gd name="adj" fmla="val 516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80160"/>
            <a:ext cx="384048" cy="384048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280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28016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CEB importa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78308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Empresa del grupo constituida en México; envío directo China → México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663440" y="1097280"/>
            <a:ext cx="4023360" cy="1417320"/>
          </a:xfrm>
          <a:prstGeom prst="roundRect">
            <a:avLst>
              <a:gd name="adj" fmla="val 516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846320" y="1280160"/>
            <a:ext cx="384048" cy="384048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846320" y="1280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5394960" y="128016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Aranceles 2026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4846320" y="178308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5–50% a países sin tratado; confirmar fracciones 8443, 3215 y 3910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2697480"/>
            <a:ext cx="4023360" cy="1417320"/>
          </a:xfrm>
          <a:prstGeom prst="roundRect">
            <a:avLst>
              <a:gd name="adj" fmla="val 516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2880360"/>
            <a:ext cx="384048" cy="384048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0080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3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188720" y="288036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IVA 16%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338328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Acreditable: afecta flujo, no costo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663440" y="2697480"/>
            <a:ext cx="4023360" cy="1417320"/>
          </a:xfrm>
          <a:prstGeom prst="roundRect">
            <a:avLst>
              <a:gd name="adj" fmla="val 516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846320" y="2880360"/>
            <a:ext cx="384048" cy="384048"/>
          </a:xfrm>
          <a:prstGeom prst="ellipse">
            <a:avLst/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846320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394960" y="288036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T-MEC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4846320" y="338328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Maquiladoras exigen OEKO-TEX y respuesta rápida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09728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3"/>
                </a:solidFill>
              </a:rPr>
              <a:t>03</a:t>
            </a:r>
            <a:endParaRPr lang="en-US" sz="6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10312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Por qué TID · VSP · CEB</a:t>
            </a:r>
            <a:endParaRPr lang="en-US" sz="3600" dirty="0"/>
          </a:p>
        </p:txBody>
      </p:sp>
      <p:sp>
        <p:nvSpPr>
          <p:cNvPr id="4" name="cmyk-dot"/>
          <p:cNvSpPr/>
          <p:nvPr/>
        </p:nvSpPr>
        <p:spPr>
          <a:xfrm>
            <a:off x="594360" y="3246120"/>
            <a:ext cx="164592" cy="164592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cmyk-dot"/>
          <p:cNvSpPr/>
          <p:nvPr/>
        </p:nvSpPr>
        <p:spPr>
          <a:xfrm>
            <a:off x="832104" y="3246120"/>
            <a:ext cx="164592" cy="164592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6" name="cmyk-dot"/>
          <p:cNvSpPr/>
          <p:nvPr/>
        </p:nvSpPr>
        <p:spPr>
          <a:xfrm>
            <a:off x="1069848" y="3246120"/>
            <a:ext cx="164592" cy="164592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7" name="cmyk-dot"/>
          <p:cNvSpPr/>
          <p:nvPr/>
        </p:nvSpPr>
        <p:spPr>
          <a:xfrm>
            <a:off x="1307592" y="32461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Un grupo con presencia en México y EE. UU.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606040" cy="2743200"/>
          </a:xfrm>
          <a:prstGeom prst="roundRect">
            <a:avLst>
              <a:gd name="adj" fmla="val 280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80160"/>
            <a:ext cx="457200" cy="457200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8745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TID México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2860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Querétaro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697480"/>
            <a:ext cx="2286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12 años en decorado industrial. Venta, instalación y servicio en México. 2 técnicos.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246120" y="1097280"/>
            <a:ext cx="2606040" cy="2743200"/>
          </a:xfrm>
          <a:prstGeom prst="roundRect">
            <a:avLst>
              <a:gd name="adj" fmla="val 280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429000" y="1280160"/>
            <a:ext cx="457200" cy="457200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429000" y="18745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VSP Printing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3429000" y="22860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Los Ángeles, CA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3429000" y="2697480"/>
            <a:ext cx="2286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20+ años en impresión industrial. Servicio en EE. UU. y respaldo técnico. 1 técnico.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035040" y="1097280"/>
            <a:ext cx="2606040" cy="2743200"/>
          </a:xfrm>
          <a:prstGeom prst="roundRect">
            <a:avLst>
              <a:gd name="adj" fmla="val 280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17920" y="1280160"/>
            <a:ext cx="457200" cy="457200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217920" y="18745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CEB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6217920" y="22860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México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217920" y="2697480"/>
            <a:ext cx="2286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Subsidiaria de VSP. Importación de equipos e insumos CLT.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Fortalezas y cómo cerramos las brechas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4023360" cy="3337560"/>
          </a:xfrm>
          <a:prstGeom prst="roundRect">
            <a:avLst>
              <a:gd name="adj" fmla="val 2192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118872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89C2"/>
                </a:solidFill>
              </a:rPr>
              <a:t>Lo que aportamos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691640"/>
            <a:ext cx="361188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Mismo modelo llave en mano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Negocio basado en consumibles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Servicio técnico en español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Cobertura México + EE. UU.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Importadora propia (CEB)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663440" y="1051560"/>
            <a:ext cx="4023360" cy="3337560"/>
          </a:xfrm>
          <a:prstGeom prst="roundRect">
            <a:avLst>
              <a:gd name="adj" fmla="val 2192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92040" y="118872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2185B"/>
                </a:solidFill>
              </a:rPr>
              <a:t>Brecha → acción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4892040" y="1691640"/>
            <a:ext cx="361188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Experiencia textil → división textil dedicada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Química textil → certificación en CLT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3 técnicos → +2 técnicos textiles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Eventos textiles → FESPA México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Demostración → sala con línea híbrida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09728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3"/>
                </a:solidFill>
              </a:rPr>
              <a:t>04</a:t>
            </a:r>
            <a:endParaRPr lang="en-US" sz="6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10312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Plan e inversión</a:t>
            </a:r>
            <a:endParaRPr lang="en-US" sz="3600" dirty="0"/>
          </a:p>
        </p:txBody>
      </p:sp>
      <p:sp>
        <p:nvSpPr>
          <p:cNvPr id="4" name="cmyk-dot"/>
          <p:cNvSpPr/>
          <p:nvPr/>
        </p:nvSpPr>
        <p:spPr>
          <a:xfrm>
            <a:off x="594360" y="3246120"/>
            <a:ext cx="164592" cy="164592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cmyk-dot"/>
          <p:cNvSpPr/>
          <p:nvPr/>
        </p:nvSpPr>
        <p:spPr>
          <a:xfrm>
            <a:off x="832104" y="3246120"/>
            <a:ext cx="164592" cy="164592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6" name="cmyk-dot"/>
          <p:cNvSpPr/>
          <p:nvPr/>
        </p:nvSpPr>
        <p:spPr>
          <a:xfrm>
            <a:off x="1069848" y="3246120"/>
            <a:ext cx="164592" cy="164592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7" name="cmyk-dot"/>
          <p:cNvSpPr/>
          <p:nvPr/>
        </p:nvSpPr>
        <p:spPr>
          <a:xfrm>
            <a:off x="1307592" y="32461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Plan comercial en cuatro fases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731520" y="1691640"/>
            <a:ext cx="7680960" cy="0"/>
          </a:xfrm>
          <a:prstGeom prst="line">
            <a:avLst/>
          </a:prstGeom>
          <a:noFill/>
          <a:ln w="25400">
            <a:solidFill>
              <a:srgbClr val="7A829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463040"/>
            <a:ext cx="457200" cy="457200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463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0574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0–6 meses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237744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Arranque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834640"/>
            <a:ext cx="1920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Acuerdo, capacitación, consumibles, FESPA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651760" y="1463040"/>
            <a:ext cx="457200" cy="457200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651760" y="1463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2560320" y="20574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6–18 meses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2560320" y="237744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Demostración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2560320" y="2834640"/>
            <a:ext cx="1920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Sala demo, primeras 2–5 líneas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754880" y="1463040"/>
            <a:ext cx="457200" cy="457200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754880" y="1463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3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4663440" y="20574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18–36 meses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4663440" y="237744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Escala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4663440" y="2834640"/>
            <a:ext cx="1920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Clústeres prioritarios, EE. UU. vía VSP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858000" y="1463040"/>
            <a:ext cx="457200" cy="457200"/>
          </a:xfrm>
          <a:prstGeom prst="ellipse">
            <a:avLst/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858000" y="1463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6766560" y="20574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Año 3+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6766560" y="237744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Latinoamérica</a:t>
            </a:r>
            <a:endParaRPr lang="en-US" sz="1700" dirty="0"/>
          </a:p>
        </p:txBody>
      </p:sp>
      <p:sp>
        <p:nvSpPr>
          <p:cNvPr id="23" name="Text 21"/>
          <p:cNvSpPr txBox="1"/>
          <p:nvPr/>
        </p:nvSpPr>
        <p:spPr>
          <a:xfrm>
            <a:off x="6766560" y="2834640"/>
            <a:ext cx="1920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Centroamérica, Colombia, Perú, R. Dominicana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Inversión inicial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606040" cy="2834640"/>
          </a:xfrm>
          <a:prstGeom prst="roundRect">
            <a:avLst>
              <a:gd name="adj" fmla="val 280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F3B"/>
                </a:solidFill>
              </a:rPr>
              <a:t>Ligero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96596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C2185B"/>
                </a:solidFill>
              </a:rPr>
              <a:t>~US$53k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74320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A4060"/>
                </a:solidFill>
              </a:rPr>
              <a:t>Demo en consignación o en taller ancla; consumibles primero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246120" y="1097280"/>
            <a:ext cx="2606040" cy="2834640"/>
          </a:xfrm>
          <a:prstGeom prst="roundRect">
            <a:avLst>
              <a:gd name="adj" fmla="val 2807"/>
            </a:avLst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429000" y="123444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2B705"/>
                </a:solidFill>
              </a:rPr>
              <a:t>Recomendado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3429000" y="155448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Base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3429000" y="196596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2B705"/>
                </a:solidFill>
              </a:rPr>
              <a:t>~US$262k</a:t>
            </a:r>
            <a:endParaRPr lang="en-US" sz="3200" dirty="0"/>
          </a:p>
        </p:txBody>
      </p:sp>
      <p:sp>
        <p:nvSpPr>
          <p:cNvPr id="11" name="Text 9"/>
          <p:cNvSpPr txBox="1"/>
          <p:nvPr/>
        </p:nvSpPr>
        <p:spPr>
          <a:xfrm>
            <a:off x="3429000" y="274320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DE3EE"/>
                </a:solidFill>
              </a:rPr>
              <a:t>Pulpo + estación híbrida, inventario, sala demo, lanzamiento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035040" y="1097280"/>
            <a:ext cx="2606040" cy="2834640"/>
          </a:xfrm>
          <a:prstGeom prst="roundRect">
            <a:avLst>
              <a:gd name="adj" fmla="val 280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17920" y="155448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F3B"/>
                </a:solidFill>
              </a:rPr>
              <a:t>Completo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6217920" y="196596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C2185B"/>
                </a:solidFill>
              </a:rPr>
              <a:t>~US$450k</a:t>
            </a:r>
            <a:endParaRPr lang="en-US" sz="3200" dirty="0"/>
          </a:p>
        </p:txBody>
      </p:sp>
      <p:sp>
        <p:nvSpPr>
          <p:cNvPr id="15" name="Text 13"/>
          <p:cNvSpPr txBox="1"/>
          <p:nvPr/>
        </p:nvSpPr>
        <p:spPr>
          <a:xfrm>
            <a:off x="6217920" y="274320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A4060"/>
                </a:solidFill>
              </a:rPr>
              <a:t>Línea completa con DTG de 6 estaciones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40690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Gasto operativo año 1: ~US$120k (gerente textil, técnico, ferias, espacio)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Estimación — confirmar con cotización CLT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Proyección: el ingreso recurrente crece cada año</a:t>
            </a:r>
            <a:endParaRPr lang="en-US" sz="26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457200" y="1005840"/>
          <a:ext cx="5120640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943600" y="10515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Resultado anual</a:t>
            </a:r>
            <a:endParaRPr lang="en-US" sz="1500" dirty="0"/>
          </a:p>
        </p:txBody>
      </p:sp>
      <p:sp>
        <p:nvSpPr>
          <p:cNvPr id="5" name="Shape 2"/>
          <p:cNvSpPr/>
          <p:nvPr/>
        </p:nvSpPr>
        <p:spPr>
          <a:xfrm>
            <a:off x="5943600" y="1508760"/>
            <a:ext cx="2743200" cy="731520"/>
          </a:xfrm>
          <a:prstGeom prst="roundRect">
            <a:avLst>
              <a:gd name="adj" fmla="val 1000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080760" y="1508760"/>
            <a:ext cx="1005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A4060"/>
                </a:solidFill>
              </a:rPr>
              <a:t>Año 1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7040880" y="150876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C2185B"/>
                </a:solidFill>
              </a:rPr>
              <a:t>-US$28k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5943600" y="2377440"/>
            <a:ext cx="2743200" cy="731520"/>
          </a:xfrm>
          <a:prstGeom prst="roundRect">
            <a:avLst>
              <a:gd name="adj" fmla="val 1000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080760" y="2377440"/>
            <a:ext cx="1005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A4060"/>
                </a:solidFill>
              </a:rPr>
              <a:t>Año 2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7040880" y="237744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2E7D32"/>
                </a:solidFill>
              </a:rPr>
              <a:t>+US$109k</a:t>
            </a:r>
            <a:endParaRPr lang="en-US" sz="2200" dirty="0"/>
          </a:p>
        </p:txBody>
      </p:sp>
      <p:sp>
        <p:nvSpPr>
          <p:cNvPr id="11" name="Shape 8"/>
          <p:cNvSpPr/>
          <p:nvPr/>
        </p:nvSpPr>
        <p:spPr>
          <a:xfrm>
            <a:off x="5943600" y="3246120"/>
            <a:ext cx="2743200" cy="731520"/>
          </a:xfrm>
          <a:prstGeom prst="roundRect">
            <a:avLst>
              <a:gd name="adj" fmla="val 1000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080760" y="3246120"/>
            <a:ext cx="1005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A4060"/>
                </a:solidFill>
              </a:rPr>
              <a:t>Año 3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7040880" y="324612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2E7D32"/>
                </a:solidFill>
              </a:rPr>
              <a:t>+US$289k</a:t>
            </a:r>
            <a:endParaRPr lang="en-US" sz="2200" dirty="0"/>
          </a:p>
        </p:txBody>
      </p:sp>
      <p:sp>
        <p:nvSpPr>
          <p:cNvPr id="14" name="Text 11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Supuestos: línea US$150k, margen 20% equipos / 35% consumibles, ~US$36k de consumo por línea al año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09728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3"/>
                </a:solidFill>
              </a:rPr>
              <a:t>05</a:t>
            </a:r>
            <a:endParaRPr lang="en-US" sz="6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10312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La propuesta</a:t>
            </a:r>
            <a:endParaRPr lang="en-US" sz="3600" dirty="0"/>
          </a:p>
        </p:txBody>
      </p:sp>
      <p:sp>
        <p:nvSpPr>
          <p:cNvPr id="4" name="cmyk-dot"/>
          <p:cNvSpPr/>
          <p:nvPr/>
        </p:nvSpPr>
        <p:spPr>
          <a:xfrm>
            <a:off x="594360" y="3246120"/>
            <a:ext cx="164592" cy="164592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cmyk-dot"/>
          <p:cNvSpPr/>
          <p:nvPr/>
        </p:nvSpPr>
        <p:spPr>
          <a:xfrm>
            <a:off x="832104" y="3246120"/>
            <a:ext cx="164592" cy="164592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6" name="cmyk-dot"/>
          <p:cNvSpPr/>
          <p:nvPr/>
        </p:nvSpPr>
        <p:spPr>
          <a:xfrm>
            <a:off x="1069848" y="3246120"/>
            <a:ext cx="164592" cy="164592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7" name="cmyk-dot"/>
          <p:cNvSpPr/>
          <p:nvPr/>
        </p:nvSpPr>
        <p:spPr>
          <a:xfrm>
            <a:off x="1307592" y="32461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Lo que pedimos y lo que nos comprometemos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4023360" cy="3337560"/>
          </a:xfrm>
          <a:prstGeom prst="roundRect">
            <a:avLst>
              <a:gd name="adj" fmla="val 2192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118872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2185B"/>
                </a:solidFill>
              </a:rPr>
              <a:t>Solicitamos a CLT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691640"/>
            <a:ext cx="361188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Exclusividad en México; Latam según metas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Margen ~20% equipos / ~35% consumibles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Demo en consignación o 30–50% desc.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Inventario inicial a consignación o 90 días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Capacitación y certificación sin costo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Prospectos de México canalizados a TID / CEB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663440" y="1051560"/>
            <a:ext cx="4023360" cy="3337560"/>
          </a:xfrm>
          <a:prstGeom prst="roundRect">
            <a:avLst>
              <a:gd name="adj" fmla="val 2192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92040" y="118872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89C2"/>
                </a:solidFill>
              </a:rPr>
              <a:t>Nos comprometemos a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4892040" y="1691640"/>
            <a:ext cx="361188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Importación e inventario local (CEB)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Sala demo y servicio en español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División textil dedicada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Metas: 2 · 5 · 8 líneas en años 1–3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Reportes trimestrales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Riesgos y mitigación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4023360" cy="1417320"/>
          </a:xfrm>
          <a:prstGeom prst="roundRect">
            <a:avLst>
              <a:gd name="adj" fmla="val 516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80160"/>
            <a:ext cx="384048" cy="384048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280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!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28016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Industria descapitalizada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82880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Inversión por etapas y financiamiento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663440" y="1097280"/>
            <a:ext cx="4023360" cy="1417320"/>
          </a:xfrm>
          <a:prstGeom prst="roundRect">
            <a:avLst>
              <a:gd name="adj" fmla="val 516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846320" y="1280160"/>
            <a:ext cx="384048" cy="384048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846320" y="1280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!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5394960" y="128016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DTF en tirajes cortos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4846320" y="182880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Enfoque en volumen y efectos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2697480"/>
            <a:ext cx="4023360" cy="1417320"/>
          </a:xfrm>
          <a:prstGeom prst="roundRect">
            <a:avLst>
              <a:gd name="adj" fmla="val 516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2880360"/>
            <a:ext cx="384048" cy="384048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0080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!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188720" y="288036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Aranceles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342900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Fracciones confirmadas; PROSEC; CEB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663440" y="2697480"/>
            <a:ext cx="4023360" cy="1417320"/>
          </a:xfrm>
          <a:prstGeom prst="roundRect">
            <a:avLst>
              <a:gd name="adj" fmla="val 516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846320" y="2880360"/>
            <a:ext cx="384048" cy="384048"/>
          </a:xfrm>
          <a:prstGeom prst="ellipse">
            <a:avLst/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846320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!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394960" y="288036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Curva textil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4846320" y="342900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Certificación CLT y personal del sector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Próximos pasos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411480" cy="411480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0972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051560" y="105156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Cotización formal de CLT (CLT-016B, CLT-012R, SM60-85, consumibles)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" y="1737360"/>
            <a:ext cx="411480" cy="411480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17373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169164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Reunión con los dueños de CLT para revisar términos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57200" y="2377440"/>
            <a:ext cx="411480" cy="411480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23774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3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051560" y="233172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Confirmar aranceles con agente aduanal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57200" y="3017520"/>
            <a:ext cx="411480" cy="411480"/>
          </a:xfrm>
          <a:prstGeom prst="ellipse">
            <a:avLst/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30175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051560" y="297180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Validar consumos con 10–15 talleres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457200" y="3657600"/>
            <a:ext cx="411480" cy="411480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57200" y="36576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5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051560" y="361188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Carta de intención y plan de arranque de 6 meses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myk-dot"/>
          <p:cNvSpPr/>
          <p:nvPr/>
        </p:nvSpPr>
        <p:spPr>
          <a:xfrm>
            <a:off x="594360" y="1097280"/>
            <a:ext cx="237744" cy="237744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3" name="cmyk-dot"/>
          <p:cNvSpPr/>
          <p:nvPr/>
        </p:nvSpPr>
        <p:spPr>
          <a:xfrm>
            <a:off x="923544" y="1097280"/>
            <a:ext cx="237744" cy="237744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4" name="cmyk-dot"/>
          <p:cNvSpPr/>
          <p:nvPr/>
        </p:nvSpPr>
        <p:spPr>
          <a:xfrm>
            <a:off x="1252728" y="1097280"/>
            <a:ext cx="237744" cy="237744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5" name="cmyk-dot"/>
          <p:cNvSpPr/>
          <p:nvPr/>
        </p:nvSpPr>
        <p:spPr>
          <a:xfrm>
            <a:off x="1581912" y="109728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0"/>
          <p:cNvSpPr/>
          <p:nvPr>
            <p:ph idx="100" type="title" hasCustomPrompt="1"/>
          </p:nvPr>
        </p:nvSpPr>
        <p:spPr>
          <a:xfrm>
            <a:off x="548640" y="1463040"/>
            <a:ext cx="7680960" cy="10972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Gracias</a:t>
            </a:r>
            <a:endParaRPr lang="en-US" sz="4000" dirty="0"/>
          </a:p>
        </p:txBody>
      </p:sp>
      <p:sp>
        <p:nvSpPr>
          <p:cNvPr id="7" name="Text 0"/>
          <p:cNvSpPr/>
          <p:nvPr>
            <p:ph idx="101" type="body" hasCustomPrompt="1"/>
          </p:nvPr>
        </p:nvSpPr>
        <p:spPr>
          <a:xfrm>
            <a:off x="548640" y="2651760"/>
            <a:ext cx="7680960" cy="7315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Carlos Moreno — TID México · carlos.moreno@tidmexico.com.mx · +52 446 479 4420</a:t>
            </a:r>
            <a:endParaRPr lang="en-US" sz="1800" dirty="0"/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CLT Propuesta">
  <a:themeElements>
    <a:clrScheme name="CLT Propuesta">
      <a:dk1>
        <a:srgbClr val="1B1F3B"/>
      </a:dk1>
      <a:lt1>
        <a:srgbClr val="FFFFFF"/>
      </a:lt1>
      <a:dk2>
        <a:srgbClr val="3A4060"/>
      </a:dk2>
      <a:lt2>
        <a:srgbClr val="EEF2F7"/>
      </a:lt2>
      <a:accent1>
        <a:srgbClr val="C2185B"/>
      </a:accent1>
      <a:accent2>
        <a:srgbClr val="0089C2"/>
      </a:accent2>
      <a:accent3>
        <a:srgbClr val="F2B705"/>
      </a:accent3>
      <a:accent4>
        <a:srgbClr val="1B1F3B"/>
      </a:accent4>
      <a:accent5>
        <a:srgbClr val="7A8299"/>
      </a:accent5>
      <a:accent6>
        <a:srgbClr val="2E7D32"/>
      </a:accent6>
      <a:hlink>
        <a:srgbClr val="0089C2"/>
      </a:hlink>
      <a:folHlink>
        <a:srgbClr val="6D2E46"/>
      </a:folHlink>
    </a:clrScheme>
    <a:fontScheme name="CLT Propuesta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Propuesta de Distribución CLT</dc:title>
  <dc:subject>PptxGenJS Presentation</dc:subject>
  <dc:creator>TID México</dc:creator>
  <cp:lastModifiedBy>TID México</cp:lastModifiedBy>
  <cp:revision>1</cp:revision>
  <dcterms:created xsi:type="dcterms:W3CDTF">2026-10-08T02:34:53Z</dcterms:created>
  <dcterms:modified xsi:type="dcterms:W3CDTF">2026-10-08T02:34:53Z</dcterms:modified>
</cp:coreProperties>
</file>